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4" r:id="rId3"/>
    <p:sldId id="258" r:id="rId4"/>
    <p:sldId id="257" r:id="rId5"/>
    <p:sldId id="259" r:id="rId6"/>
    <p:sldId id="260" r:id="rId7"/>
    <p:sldId id="262" r:id="rId8"/>
    <p:sldId id="278" r:id="rId9"/>
    <p:sldId id="275" r:id="rId10"/>
    <p:sldId id="279" r:id="rId11"/>
    <p:sldId id="281" r:id="rId12"/>
    <p:sldId id="276" r:id="rId13"/>
    <p:sldId id="277" r:id="rId14"/>
    <p:sldId id="282" r:id="rId15"/>
    <p:sldId id="266" r:id="rId16"/>
    <p:sldId id="264" r:id="rId17"/>
    <p:sldId id="267" r:id="rId18"/>
    <p:sldId id="269" r:id="rId19"/>
    <p:sldId id="268" r:id="rId20"/>
    <p:sldId id="270" r:id="rId21"/>
    <p:sldId id="273" r:id="rId22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2" d="100"/>
          <a:sy n="132" d="100"/>
        </p:scale>
        <p:origin x="1008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E68A9-2060-0946-83FF-E3072154C697}" type="datetimeFigureOut">
              <a:rPr kumimoji="1" lang="zh-CN" altLang="en-US" smtClean="0"/>
              <a:t>2023/9/5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A53A0-4EB6-7747-BF0F-BA2762E89D7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光学</a:t>
            </a:r>
            <a:br>
              <a:rPr kumimoji="1" lang="en-US" altLang="zh-CN" dirty="0"/>
            </a:br>
            <a:r>
              <a:rPr kumimoji="1" lang="en-US" altLang="zh-CN" dirty="0"/>
              <a:t>optics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仝号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BCB69F80-EE16-4362-8BC1-7B0B10EE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仝号简介</a:t>
            </a:r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F190FAA9-0825-463E-BBE8-D1853A737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9938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2001-2005</a:t>
            </a:r>
            <a:r>
              <a:rPr lang="zh-CN" altLang="en-US" dirty="0"/>
              <a:t>：本科，中国科学技术大学</a:t>
            </a:r>
            <a:endParaRPr lang="en-US" altLang="zh-CN" dirty="0"/>
          </a:p>
          <a:p>
            <a:r>
              <a:rPr lang="en-US" altLang="zh-CN" dirty="0"/>
              <a:t>2005-2010</a:t>
            </a:r>
            <a:r>
              <a:rPr lang="zh-CN" altLang="en-US" dirty="0"/>
              <a:t>：博士，南京大学</a:t>
            </a:r>
            <a:endParaRPr lang="en-US" altLang="zh-CN" dirty="0"/>
          </a:p>
          <a:p>
            <a:r>
              <a:rPr lang="en-US" altLang="zh-CN" dirty="0"/>
              <a:t>2010-2012</a:t>
            </a:r>
            <a:r>
              <a:rPr lang="zh-CN" altLang="en-US" dirty="0"/>
              <a:t>：博士后，中科院高能所</a:t>
            </a:r>
            <a:endParaRPr lang="en-US" altLang="zh-CN" dirty="0"/>
          </a:p>
          <a:p>
            <a:r>
              <a:rPr lang="en-US" altLang="zh-CN" dirty="0"/>
              <a:t>2012-2017</a:t>
            </a:r>
            <a:r>
              <a:rPr lang="zh-CN" altLang="en-US" dirty="0"/>
              <a:t>：副研究员，中科院新疆天文台</a:t>
            </a:r>
            <a:endParaRPr lang="en-US" altLang="zh-CN" dirty="0"/>
          </a:p>
          <a:p>
            <a:r>
              <a:rPr lang="en-US" altLang="zh-CN" dirty="0"/>
              <a:t>2017- </a:t>
            </a:r>
            <a:r>
              <a:rPr lang="zh-CN" altLang="en-US" dirty="0"/>
              <a:t>现在：副教授，教授，广州大学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主讲本科生的</a:t>
            </a:r>
            <a:r>
              <a:rPr lang="en-US" altLang="zh-CN" dirty="0"/>
              <a:t>《</a:t>
            </a:r>
            <a:r>
              <a:rPr lang="zh-CN" altLang="en-US" dirty="0"/>
              <a:t>光学</a:t>
            </a:r>
            <a:r>
              <a:rPr lang="en-US" altLang="zh-CN" dirty="0"/>
              <a:t>》《</a:t>
            </a:r>
            <a:r>
              <a:rPr lang="zh-CN" altLang="en-US" dirty="0"/>
              <a:t>电动力学</a:t>
            </a:r>
            <a:r>
              <a:rPr lang="en-US" altLang="zh-CN" dirty="0"/>
              <a:t>》</a:t>
            </a:r>
            <a:r>
              <a:rPr lang="zh-CN" altLang="en-US" dirty="0"/>
              <a:t>，研究生的</a:t>
            </a:r>
            <a:r>
              <a:rPr lang="en-US" altLang="zh-CN" dirty="0"/>
              <a:t>《</a:t>
            </a:r>
            <a:r>
              <a:rPr lang="zh-CN" altLang="en-US" dirty="0"/>
              <a:t>辐射机制</a:t>
            </a:r>
            <a:r>
              <a:rPr lang="en-US" altLang="zh-CN" dirty="0"/>
              <a:t>》《</a:t>
            </a:r>
            <a:r>
              <a:rPr lang="zh-CN" altLang="en-US" dirty="0"/>
              <a:t>高能天体物理</a:t>
            </a:r>
            <a:r>
              <a:rPr lang="en-US" altLang="zh-CN" dirty="0"/>
              <a:t>》</a:t>
            </a:r>
            <a:r>
              <a:rPr lang="zh-CN" altLang="en-US" dirty="0"/>
              <a:t>等课程。主要从事脉冲星、磁星方向的理论研究，以第一作者或通讯作者发表</a:t>
            </a:r>
            <a:r>
              <a:rPr lang="en-US" altLang="zh-CN" dirty="0"/>
              <a:t>SCI</a:t>
            </a:r>
            <a:r>
              <a:rPr lang="zh-CN" altLang="en-US" dirty="0"/>
              <a:t>科研论文</a:t>
            </a:r>
            <a:r>
              <a:rPr lang="en-US" altLang="zh-CN" dirty="0"/>
              <a:t>20</a:t>
            </a:r>
            <a:r>
              <a:rPr lang="zh-CN" altLang="en-US" dirty="0"/>
              <a:t>余篇，总引用</a:t>
            </a:r>
            <a:r>
              <a:rPr lang="en-US" altLang="zh-CN" dirty="0"/>
              <a:t>400</a:t>
            </a:r>
            <a:r>
              <a:rPr lang="zh-CN" altLang="en-US" dirty="0"/>
              <a:t>多次。主持了国家自然科学基金的面上项目、青年基金和若干省部级项目。</a:t>
            </a:r>
            <a:endParaRPr lang="en-US" altLang="zh-CN" dirty="0"/>
          </a:p>
          <a:p>
            <a:r>
              <a:rPr lang="en-US" altLang="zh-CN" dirty="0">
                <a:solidFill>
                  <a:srgbClr val="2E2D29"/>
                </a:solidFill>
                <a:latin typeface="Times New Roman" panose="02020603050405020304" pitchFamily="18" charset="0"/>
              </a:rPr>
              <a:t>Email: tonghao@gzhu.edu.cn</a:t>
            </a:r>
          </a:p>
          <a:p>
            <a:r>
              <a:rPr lang="zh-CN" altLang="en-US" dirty="0"/>
              <a:t>办公室：行政西前</a:t>
            </a:r>
            <a:r>
              <a:rPr lang="en-US" altLang="zh-CN" dirty="0"/>
              <a:t>546</a:t>
            </a:r>
            <a:endParaRPr lang="zh-CN" altLang="en-US" sz="15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917280D-BDF7-41BC-85BC-9C199932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87" y="297862"/>
            <a:ext cx="1260043" cy="179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89000"/>
            <a:ext cx="8572500" cy="508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8390" y="317532"/>
            <a:ext cx="218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电磁波谱</a:t>
            </a:r>
            <a:r>
              <a:rPr kumimoji="1" lang="en-US" altLang="zh-CN" dirty="0"/>
              <a:t> (from wiki)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光学教材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CN" dirty="0"/>
              <a:t>Born &amp; Wolf: Principle of optics (</a:t>
            </a:r>
            <a:r>
              <a:rPr kumimoji="1" lang="zh-CN" altLang="en-US" dirty="0"/>
              <a:t>光学原理</a:t>
            </a:r>
            <a:r>
              <a:rPr kumimoji="1" lang="en-US" altLang="zh-CN" dirty="0"/>
              <a:t>)(</a:t>
            </a:r>
            <a:r>
              <a:rPr kumimoji="1" lang="zh-CN" altLang="en-US" dirty="0"/>
              <a:t>经典光学的高峰</a:t>
            </a:r>
            <a:r>
              <a:rPr kumimoji="1" lang="en-US" altLang="zh-C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CN" dirty="0">
                <a:solidFill>
                  <a:srgbClr val="0000FF"/>
                </a:solidFill>
              </a:rPr>
              <a:t>Hecht: Optics </a:t>
            </a:r>
            <a:r>
              <a:rPr kumimoji="1" lang="en-US" altLang="zh-CN" dirty="0"/>
              <a:t>(</a:t>
            </a:r>
            <a:r>
              <a:rPr kumimoji="1" lang="zh-CN" altLang="en-US" dirty="0"/>
              <a:t>每一章的广度和深度超过其他任何教材</a:t>
            </a:r>
            <a:r>
              <a:rPr kumimoji="1" lang="en-US" altLang="zh-C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dirty="0"/>
              <a:t>赵凯华、钟锡华：光学（上下）（北大）</a:t>
            </a:r>
            <a:endParaRPr kumimoji="1" lang="en-US" altLang="zh-CN" dirty="0"/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dirty="0"/>
              <a:t>催宏滨、李永平：光学（中科大）</a:t>
            </a:r>
            <a:endParaRPr kumimoji="1" lang="en-US" altLang="zh-CN" dirty="0"/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dirty="0"/>
              <a:t>吴强：光学（中科大）</a:t>
            </a:r>
            <a:endParaRPr kumimoji="1" lang="en-US" altLang="zh-CN" dirty="0"/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dirty="0">
                <a:solidFill>
                  <a:srgbClr val="0000FF"/>
                </a:solidFill>
              </a:rPr>
              <a:t>程守洙、江之永：普通物理学（下册）</a:t>
            </a:r>
            <a:endParaRPr kumimoji="1" lang="en-US" altLang="zh-CN" dirty="0">
              <a:solidFill>
                <a:srgbClr val="0000FF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姚启钧</a:t>
            </a:r>
            <a:r>
              <a:rPr lang="zh-CN" altLang="en-US" dirty="0"/>
              <a:t>：</a:t>
            </a:r>
            <a:r>
              <a:rPr lang="zh-CN" altLang="zh-CN" dirty="0"/>
              <a:t>光学教程（第</a:t>
            </a:r>
            <a:r>
              <a:rPr lang="zh-CN" altLang="en-US" dirty="0"/>
              <a:t>六</a:t>
            </a:r>
            <a:r>
              <a:rPr lang="zh-CN" altLang="zh-CN" dirty="0"/>
              <a:t>版）</a:t>
            </a:r>
            <a:r>
              <a:rPr lang="en-US" altLang="zh-CN" dirty="0">
                <a:sym typeface="Wingdings" panose="05000000000000000000" pitchFamily="2" charset="2"/>
              </a:rPr>
              <a:t></a:t>
            </a:r>
            <a:r>
              <a:rPr lang="zh-CN" altLang="en-US" dirty="0">
                <a:sym typeface="Wingdings" panose="05000000000000000000" pitchFamily="2" charset="2"/>
              </a:rPr>
              <a:t>教材</a:t>
            </a:r>
            <a:endParaRPr lang="zh-CN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zh-CN" dirty="0"/>
              <a:t>0. </a:t>
            </a:r>
            <a:r>
              <a:rPr kumimoji="1" lang="zh-CN" altLang="en-US" dirty="0"/>
              <a:t>光是什么</a:t>
            </a:r>
            <a:endParaRPr kumimoji="1"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b="1" dirty="0">
                <a:solidFill>
                  <a:srgbClr val="FF0000"/>
                </a:solidFill>
              </a:rPr>
              <a:t>干涉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b="1" dirty="0">
                <a:solidFill>
                  <a:srgbClr val="FF0000"/>
                </a:solidFill>
              </a:rPr>
              <a:t>衍射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</a:rPr>
              <a:t>几何光学</a:t>
            </a:r>
            <a:endParaRPr kumimoji="1" lang="en-US" altLang="zh-CN" b="1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</a:rPr>
              <a:t>光学仪器</a:t>
            </a:r>
            <a:endParaRPr kumimoji="1" lang="en-US" altLang="zh-CN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kumimoji="1" lang="en-US" altLang="zh-CN" b="1" dirty="0">
                <a:solidFill>
                  <a:srgbClr val="FF0000"/>
                </a:solidFill>
              </a:rPr>
              <a:t>5/6. </a:t>
            </a:r>
            <a:r>
              <a:rPr kumimoji="1" lang="zh-CN" altLang="en-US" b="1" dirty="0">
                <a:solidFill>
                  <a:srgbClr val="FF0000"/>
                </a:solidFill>
              </a:rPr>
              <a:t>光的电磁性：偏振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rgbClr val="00B0F0"/>
                </a:solidFill>
              </a:rPr>
              <a:t>7/8. </a:t>
            </a:r>
            <a:r>
              <a:rPr kumimoji="1" lang="zh-CN" altLang="en-US" dirty="0">
                <a:solidFill>
                  <a:srgbClr val="00B0F0"/>
                </a:solidFill>
              </a:rPr>
              <a:t>光的量子性</a:t>
            </a:r>
            <a:endParaRPr kumimoji="1" lang="en-US" altLang="zh-CN" dirty="0">
              <a:solidFill>
                <a:srgbClr val="00B0F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干涉、衍射、偏振是光学基本内容</a:t>
            </a:r>
            <a:r>
              <a:rPr kumimoji="1" lang="zh-CN" altLang="en-US" dirty="0"/>
              <a:t>，</a:t>
            </a:r>
            <a:r>
              <a:rPr kumimoji="1" lang="zh-CN" altLang="en-US" dirty="0">
                <a:solidFill>
                  <a:srgbClr val="00B0F0"/>
                </a:solidFill>
              </a:rPr>
              <a:t>量子性是选讲内容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讲课方式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部分章节板书为主</a:t>
            </a:r>
            <a:endParaRPr kumimoji="1" lang="en-US" altLang="zh-CN" dirty="0"/>
          </a:p>
          <a:p>
            <a:r>
              <a:rPr kumimoji="1" lang="zh-CN" altLang="en-US" dirty="0"/>
              <a:t>部分章节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展示为主</a:t>
            </a:r>
            <a:endParaRPr kumimoji="1" lang="en-US" altLang="zh-CN" dirty="0"/>
          </a:p>
          <a:p>
            <a:r>
              <a:rPr kumimoji="1" lang="en-US" altLang="zh-CN" dirty="0" err="1"/>
              <a:t>mathematica</a:t>
            </a:r>
            <a:r>
              <a:rPr kumimoji="1" lang="zh-CN" altLang="en-US" dirty="0"/>
              <a:t>软件演示</a:t>
            </a:r>
            <a:endParaRPr kumimoji="1" lang="en-US" altLang="zh-CN" dirty="0"/>
          </a:p>
          <a:p>
            <a:r>
              <a:rPr kumimoji="1" lang="zh-CN" altLang="en-US" dirty="0"/>
              <a:t>干涉、衍射、偏振部分各有一次习题课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0. </a:t>
            </a:r>
            <a:r>
              <a:rPr kumimoji="1" lang="zh-CN" altLang="en-US"/>
              <a:t>光是</a:t>
            </a:r>
            <a:r>
              <a:rPr kumimoji="1" lang="zh-CN" altLang="en-US" dirty="0"/>
              <a:t>什么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latin typeface="+mn-ea"/>
              </a:rPr>
              <a:t>一句话：光是电磁波</a:t>
            </a:r>
            <a:endParaRPr kumimoji="1" lang="en-US" altLang="zh-CN" sz="2800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latin typeface="+mn-ea"/>
              </a:rPr>
              <a:t>经典层次：光是电磁波；量子层次：光是量子化的电磁波，即光子。</a:t>
            </a:r>
            <a:endParaRPr kumimoji="1" lang="en-US" altLang="zh-CN" sz="2800" dirty="0">
              <a:latin typeface="+mn-ea"/>
            </a:endParaRPr>
          </a:p>
          <a:p>
            <a:r>
              <a:rPr kumimoji="1" lang="zh-CN" altLang="en-US" sz="2800" dirty="0">
                <a:latin typeface="+mn-ea"/>
              </a:rPr>
              <a:t>墨子（</a:t>
            </a:r>
            <a:r>
              <a:rPr kumimoji="1" lang="en-US" altLang="zh-CN" sz="2800" dirty="0">
                <a:latin typeface="+mn-ea"/>
              </a:rPr>
              <a:t>2400</a:t>
            </a:r>
            <a:r>
              <a:rPr kumimoji="1" lang="zh-CN" altLang="en-US" sz="2800" dirty="0">
                <a:latin typeface="+mn-ea"/>
              </a:rPr>
              <a:t>年前）：小孔成像</a:t>
            </a:r>
            <a:endParaRPr kumimoji="1" lang="en-US" altLang="zh-CN" sz="2800" dirty="0">
              <a:latin typeface="+mn-ea"/>
            </a:endParaRPr>
          </a:p>
          <a:p>
            <a:r>
              <a:rPr kumimoji="1" lang="zh-CN" altLang="en-US" sz="2800" dirty="0">
                <a:latin typeface="+mn-ea"/>
              </a:rPr>
              <a:t>牛顿（</a:t>
            </a:r>
            <a:r>
              <a:rPr kumimoji="1" lang="en-US" altLang="zh-CN" sz="2800" dirty="0">
                <a:latin typeface="+mn-ea"/>
              </a:rPr>
              <a:t>1643-1727</a:t>
            </a:r>
            <a:r>
              <a:rPr kumimoji="1" lang="zh-CN" altLang="en-US" sz="2800" dirty="0">
                <a:latin typeface="+mn-ea"/>
              </a:rPr>
              <a:t>）：光的微粒说</a:t>
            </a:r>
            <a:r>
              <a:rPr kumimoji="1" lang="zh-CN" altLang="en-US" sz="2800" dirty="0">
                <a:latin typeface="+mn-ea"/>
                <a:sym typeface="Wingdings" panose="05000000000000000000"/>
              </a:rPr>
              <a:t>清朝初年</a:t>
            </a:r>
            <a:endParaRPr kumimoji="1" lang="en-US" altLang="zh-CN" sz="2800" dirty="0">
              <a:latin typeface="+mn-ea"/>
            </a:endParaRPr>
          </a:p>
          <a:p>
            <a:r>
              <a:rPr kumimoji="1" lang="zh-CN" altLang="en-US" sz="2800" dirty="0">
                <a:latin typeface="+mn-ea"/>
              </a:rPr>
              <a:t>惠更斯、杨</a:t>
            </a:r>
            <a:r>
              <a:rPr kumimoji="1" lang="en-US" altLang="zh-CN" sz="2800" dirty="0">
                <a:latin typeface="+mn-ea"/>
              </a:rPr>
              <a:t>、</a:t>
            </a:r>
            <a:r>
              <a:rPr kumimoji="1" lang="zh-CN" altLang="en-US" sz="2800" dirty="0">
                <a:latin typeface="+mn-ea"/>
              </a:rPr>
              <a:t>菲涅尔：光的波动说</a:t>
            </a:r>
            <a:endParaRPr kumimoji="1" lang="en-US" altLang="en-US" sz="2800" dirty="0">
              <a:latin typeface="+mn-ea"/>
            </a:endParaRPr>
          </a:p>
          <a:p>
            <a:r>
              <a:rPr kumimoji="1" lang="zh-CN" altLang="en-US" sz="2800" dirty="0">
                <a:latin typeface="+mn-ea"/>
              </a:rPr>
              <a:t>麦克斯韦（</a:t>
            </a:r>
            <a:r>
              <a:rPr kumimoji="1" lang="en-US" altLang="zh-CN" sz="2800" dirty="0">
                <a:latin typeface="+mn-ea"/>
              </a:rPr>
              <a:t>1831-1879</a:t>
            </a:r>
            <a:r>
              <a:rPr kumimoji="1" lang="zh-CN" altLang="en-US" sz="2800" dirty="0">
                <a:latin typeface="+mn-ea"/>
              </a:rPr>
              <a:t>）</a:t>
            </a:r>
            <a:r>
              <a:rPr kumimoji="1" lang="en-US" altLang="en-US" sz="2800" dirty="0">
                <a:latin typeface="+mn-ea"/>
              </a:rPr>
              <a:t>：</a:t>
            </a:r>
            <a:r>
              <a:rPr kumimoji="1" lang="zh-CN" altLang="en-US" sz="2800" dirty="0">
                <a:latin typeface="+mn-ea"/>
              </a:rPr>
              <a:t>光是电磁波</a:t>
            </a:r>
            <a:r>
              <a:rPr kumimoji="1" lang="en-US" altLang="en-US" sz="2800" dirty="0">
                <a:latin typeface="+mn-ea"/>
                <a:sym typeface="Wingdings" panose="05000000000000000000"/>
              </a:rPr>
              <a:t></a:t>
            </a:r>
            <a:r>
              <a:rPr kumimoji="1" lang="zh-CN" altLang="en-US" sz="2800" dirty="0">
                <a:latin typeface="+mn-ea"/>
                <a:sym typeface="Wingdings" panose="05000000000000000000"/>
              </a:rPr>
              <a:t>晚清</a:t>
            </a:r>
            <a:endParaRPr kumimoji="1" lang="en-US" altLang="en-US" sz="2800" dirty="0">
              <a:latin typeface="+mn-ea"/>
            </a:endParaRPr>
          </a:p>
          <a:p>
            <a:r>
              <a:rPr kumimoji="1" lang="zh-CN" altLang="en-US" sz="2800" dirty="0">
                <a:latin typeface="+mn-ea"/>
              </a:rPr>
              <a:t>普朗克、爱因斯坦、康普顿</a:t>
            </a:r>
            <a:r>
              <a:rPr kumimoji="1" lang="en-US" altLang="en-US" sz="2800" dirty="0">
                <a:latin typeface="+mn-ea"/>
              </a:rPr>
              <a:t>：</a:t>
            </a:r>
            <a:r>
              <a:rPr kumimoji="1" lang="zh-CN" altLang="en-US" sz="2800" dirty="0">
                <a:latin typeface="+mn-ea"/>
              </a:rPr>
              <a:t>光子</a:t>
            </a:r>
            <a:r>
              <a:rPr kumimoji="1" lang="en-US" altLang="en-US" sz="2800" dirty="0">
                <a:latin typeface="+mn-ea"/>
                <a:sym typeface="Wingdings" panose="05000000000000000000"/>
              </a:rPr>
              <a:t></a:t>
            </a:r>
            <a:r>
              <a:rPr kumimoji="1" lang="en-US" altLang="zh-CN" sz="2800" dirty="0">
                <a:latin typeface="+mn-ea"/>
                <a:sym typeface="Wingdings" panose="05000000000000000000"/>
              </a:rPr>
              <a:t>20</a:t>
            </a:r>
            <a:r>
              <a:rPr kumimoji="1" lang="zh-CN" altLang="en-US" sz="2800" dirty="0">
                <a:latin typeface="+mn-ea"/>
                <a:sym typeface="Wingdings" panose="05000000000000000000"/>
              </a:rPr>
              <a:t>世纪清末民初</a:t>
            </a:r>
            <a:endParaRPr kumimoji="1" lang="en-US" altLang="en-US" sz="2800" dirty="0">
              <a:latin typeface="+mn-ea"/>
            </a:endParaRPr>
          </a:p>
          <a:p>
            <a:r>
              <a:rPr kumimoji="1" lang="en-US" altLang="zh-CN" sz="2800" dirty="0">
                <a:latin typeface="+mn-ea"/>
              </a:rPr>
              <a:t>20</a:t>
            </a:r>
            <a:r>
              <a:rPr kumimoji="1" lang="zh-CN" altLang="en-US" sz="2800" dirty="0">
                <a:latin typeface="+mn-ea"/>
              </a:rPr>
              <a:t>世纪</a:t>
            </a:r>
            <a:r>
              <a:rPr kumimoji="1" lang="zh-CN" altLang="zh-CN" sz="2800" dirty="0">
                <a:latin typeface="+mn-ea"/>
              </a:rPr>
              <a:t>4</a:t>
            </a:r>
            <a:r>
              <a:rPr kumimoji="1" lang="en-US" altLang="zh-CN" sz="2800" dirty="0">
                <a:latin typeface="+mn-ea"/>
              </a:rPr>
              <a:t>0-50</a:t>
            </a:r>
            <a:r>
              <a:rPr kumimoji="1" lang="zh-CN" altLang="en-US" sz="2800" dirty="0">
                <a:latin typeface="+mn-ea"/>
              </a:rPr>
              <a:t>年代：量子电动力学建立</a:t>
            </a:r>
            <a:endParaRPr kumimoji="1" lang="en-US" altLang="zh-CN" sz="2800" dirty="0">
              <a:latin typeface="+mn-ea"/>
            </a:endParaRPr>
          </a:p>
          <a:p>
            <a:r>
              <a:rPr kumimoji="1" lang="zh-CN" altLang="zh-CN" sz="2800" dirty="0">
                <a:latin typeface="+mn-ea"/>
              </a:rPr>
              <a:t>2</a:t>
            </a:r>
            <a:r>
              <a:rPr kumimoji="1" lang="en-US" altLang="zh-CN" sz="2800" dirty="0">
                <a:latin typeface="+mn-ea"/>
              </a:rPr>
              <a:t>016</a:t>
            </a:r>
            <a:r>
              <a:rPr kumimoji="1" lang="zh-CN" altLang="en-US" sz="2800" dirty="0">
                <a:latin typeface="+mn-ea"/>
              </a:rPr>
              <a:t>年：墨子号发射</a:t>
            </a:r>
            <a:endParaRPr kumimoji="1" lang="en-US" altLang="zh-CN" sz="2800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0F364B1-3885-E397-8B43-26B6EDFCC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0567"/>
            <a:ext cx="6096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856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766AC-9780-7B0E-1606-D281BE97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D237A2-7AC6-832E-4FDC-D75AA69E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dirty="0"/>
              <a:t>1935: </a:t>
            </a:r>
            <a:r>
              <a:rPr lang="zh-CN" altLang="en-US" dirty="0"/>
              <a:t>薛定谔把量子纠缠引入到物理学中</a:t>
            </a:r>
            <a:endParaRPr lang="en-US" altLang="zh-CN" dirty="0"/>
          </a:p>
          <a:p>
            <a:r>
              <a:rPr lang="en-US" altLang="zh-CN" dirty="0"/>
              <a:t>1935: </a:t>
            </a:r>
            <a:r>
              <a:rPr lang="zh-CN" altLang="en-US" dirty="0"/>
              <a:t>爱因斯坦</a:t>
            </a:r>
            <a:r>
              <a:rPr lang="en-US" altLang="zh-CN" dirty="0"/>
              <a:t>+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波利斯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·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波多尔斯基（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Boris </a:t>
            </a:r>
            <a:r>
              <a:rPr lang="en-US" altLang="zh-CN" b="0" i="0" dirty="0" err="1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Podolsky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）和内森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·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罗森（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Nathan Rosen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EPR</a:t>
            </a:r>
            <a:r>
              <a:rPr lang="zh-CN" altLang="en-US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质疑</a:t>
            </a:r>
            <a: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zh-CN" altLang="en-US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或</a:t>
            </a:r>
            <a: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EPR</a:t>
            </a:r>
            <a:r>
              <a:rPr lang="zh-CN" altLang="en-US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佯谬</a:t>
            </a:r>
            <a: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)</a:t>
            </a:r>
            <a:b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b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zh-CN" altLang="en-US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注</a:t>
            </a:r>
            <a: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爱因斯坦捍卫的是“局域性”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——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任何两个不在一个地方的事物要想用信号彼此联系，最快的信息传递也不能超过光速。</a:t>
            </a:r>
            <a:endParaRPr lang="en-US" altLang="zh-CN" b="0" i="0" dirty="0">
              <a:solidFill>
                <a:srgbClr val="1B1B1B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1964:</a:t>
            </a:r>
            <a:r>
              <a:rPr lang="zh-CN" altLang="en-US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贝尔基于</a:t>
            </a:r>
            <a: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EPR</a:t>
            </a:r>
            <a:r>
              <a:rPr lang="zh-CN" altLang="en-US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局域性原理</a:t>
            </a:r>
            <a: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zh-CN" altLang="en-US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提出贝尔不等式</a:t>
            </a:r>
            <a:b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br>
              <a:rPr lang="en-US" altLang="zh-CN" dirty="0">
                <a:solidFill>
                  <a:srgbClr val="1B1B1B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“贝尔不等式”相当于给出了一个评判标准，如果任何实验能证实这个不等式成立，就说明爱因斯坦所坚持的“局域性”是成立的。</a:t>
            </a:r>
            <a:endParaRPr lang="en-US" altLang="zh-CN" b="0" i="0" dirty="0">
              <a:solidFill>
                <a:srgbClr val="1B1B1B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自贝尔之后，很多物理学家利用各种实验试图证实贝尔不等式，但所有至今完成的实验结果，都违背贝尔不等式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——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因此都证明爱因斯坦一再强调的“局域性”是不存在的，这些实验推动量子纠缠态的研究取得巨大成功。</a:t>
            </a:r>
            <a:endParaRPr lang="en-US" altLang="zh-CN" dirty="0">
              <a:solidFill>
                <a:srgbClr val="1B1B1B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4487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BF47A-237C-160F-6075-67C4EBE0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补充说明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B4D5D8-0A8B-AD2E-421A-BF96B409F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允许两个或更多粒子存在于一个共享的状态，无论它们相距多远。这就是所谓的“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system-ui"/>
              </a:rPr>
              <a:t>纠缠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”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(entanglement)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。</a:t>
            </a:r>
            <a:endParaRPr lang="en-US" altLang="zh-CN" b="0" i="0" dirty="0">
              <a:solidFill>
                <a:srgbClr val="000000"/>
              </a:solidFill>
              <a:effectLst/>
              <a:latin typeface="system-ui"/>
            </a:endParaRPr>
          </a:p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自从量子力学建立以来，它一直是争论最多的主题之一，阿尔伯特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爱因斯坦称其为“幽灵般的超距作用”，埃尔温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ystem-ui"/>
              </a:rPr>
              <a:t>·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system-ui"/>
              </a:rPr>
              <a:t>薛定谔认为这是量子力学最重要的特征。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018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图片">
            <a:extLst>
              <a:ext uri="{FF2B5EF4-FFF2-40B4-BE49-F238E27FC236}">
                <a16:creationId xmlns:a16="http://schemas.microsoft.com/office/drawing/2014/main" id="{057A7934-CE77-E70C-FD53-D9EDFFBD3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06" y="334536"/>
            <a:ext cx="7794221" cy="587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0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749BB-6A42-53E0-D8BD-6FA391112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9286"/>
            <a:ext cx="8229600" cy="570687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1974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年，产生这个想法的阿斯佩年仅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27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岁，正在巴黎大学读研究生。他决定以这个实验为基础撰写他的博士学位论文。</a:t>
            </a:r>
            <a:b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</a:br>
            <a:endParaRPr lang="zh-CN" altLang="en-US" b="0" i="0" dirty="0">
              <a:solidFill>
                <a:srgbClr val="1B1B1B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为了实现这个梦想，他亲自跑到日内瓦找到了贝尔。贝尔问他：“你现在有没有固定的工作职位？”当贝尔得知，这个年轻小伙子连学位也没有拿到时，不由替他担心起来。这个实验不仅难度极高，要求的灵敏度也极大，实验的设计思想更不能有任何瑕疵。贝尔当时对阿斯佩说：“你一定是一个相当有勇气的年轻人！”说完这句话，贝尔把后面要说的话咽了回去，他本想警告阿斯佩，这件事肯定会毁了他的前程。</a:t>
            </a:r>
            <a:endParaRPr lang="en-US" altLang="zh-CN" b="0" i="0" dirty="0">
              <a:solidFill>
                <a:srgbClr val="1B1B1B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zh-CN" altLang="en-US" b="0" i="0" dirty="0">
              <a:solidFill>
                <a:srgbClr val="1B1B1B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阿斯佩设计的实验的确非常漂亮，然而实现起来难度确实极高，又独具风险。为了有足够长的实验通道，他和同伙选择在巴黎大学的地下室进行。从实验设计、清理实验场到准备器材，所花的时间也比预期要长得多。他们选择激光器、计算机、偏振器和光信号灵敏开关后，一次次地反复调试，直到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1982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年初才开始进行正式的实验，最后终于在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1982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年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月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22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日这一天获得了成功。</a:t>
            </a:r>
            <a:b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</a:br>
            <a:endParaRPr lang="zh-CN" altLang="en-US" b="0" i="0" dirty="0">
              <a:solidFill>
                <a:srgbClr val="1B1B1B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1983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年，在阿斯佩的博士论文答辩会上，贝尔亲自到场，考察阿斯佩的实验，对他的这一成果赞叹不止，称之为“具备诺贝尔物理学奖水平的最优秀论文”。</a:t>
            </a:r>
          </a:p>
        </p:txBody>
      </p:sp>
    </p:spTree>
    <p:extLst>
      <p:ext uri="{BB962C8B-B14F-4D97-AF65-F5344CB8AC3E}">
        <p14:creationId xmlns:p14="http://schemas.microsoft.com/office/powerpoint/2010/main" val="201940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B4C10-F5D1-C763-A2D4-22B090CC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F7FB75-9FC9-8B96-6781-FD54DC4E2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2016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年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月，由安东</a:t>
            </a:r>
            <a:r>
              <a:rPr lang="en-US" altLang="zh-CN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·</a:t>
            </a:r>
            <a:r>
              <a:rPr lang="zh-CN" altLang="en-US" b="0" i="0" dirty="0">
                <a:solidFill>
                  <a:srgbClr val="1B1B1B"/>
                </a:solidFill>
                <a:effectLst/>
                <a:latin typeface="Arial" panose="020B0604020202020204" pitchFamily="34" charset="0"/>
              </a:rPr>
              <a:t>塞林格的学生、中国科学家潘建伟领衔研发的全球首颗量子科学实验卫星“墨子号”发射，通过数十千米光纤发送的光子之间，以及卫星和地面站的光子之间，都能建立纠缠态。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466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图片">
            <a:extLst>
              <a:ext uri="{FF2B5EF4-FFF2-40B4-BE49-F238E27FC236}">
                <a16:creationId xmlns:a16="http://schemas.microsoft.com/office/drawing/2014/main" id="{DFE6A10B-C24E-3CD9-0F35-5EF7824D6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89" y="2407456"/>
            <a:ext cx="82296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76D53FB-FACD-0432-DDA1-9B3D002E17FB}"/>
              </a:ext>
            </a:extLst>
          </p:cNvPr>
          <p:cNvSpPr txBox="1"/>
          <p:nvPr/>
        </p:nvSpPr>
        <p:spPr>
          <a:xfrm>
            <a:off x="706987" y="4133850"/>
            <a:ext cx="76252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system-ui"/>
              </a:rPr>
              <a:t>约翰</a:t>
            </a:r>
            <a:r>
              <a:rPr lang="en-US" altLang="zh-CN" b="0" i="0" dirty="0">
                <a:effectLst/>
                <a:latin typeface="system-ui"/>
              </a:rPr>
              <a:t>·</a:t>
            </a:r>
            <a:r>
              <a:rPr lang="zh-CN" altLang="en-US" b="0" i="0" dirty="0">
                <a:effectLst/>
                <a:latin typeface="system-ui"/>
              </a:rPr>
              <a:t>克劳泽使用的是钙原子，被一种特殊的光照射后，它可以发出纠缠光子。他在两边各设置了一个滤光片，用来测量光子偏振。经过一系列测量，他发现它们违反了贝尔不等式。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045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预修课程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力学：特别是振动和波动部分</a:t>
            </a:r>
            <a:endParaRPr kumimoji="1" lang="en-US" altLang="zh-CN" dirty="0"/>
          </a:p>
          <a:p>
            <a:r>
              <a:rPr kumimoji="1" lang="zh-CN" altLang="en-US" dirty="0"/>
              <a:t>电磁学：特别是电介质、磁介质、电磁波部分（放到偏振部分讲）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什么是简谐振动？</a:t>
            </a:r>
            <a:endParaRPr kumimoji="1" lang="en-US" altLang="zh-CN" dirty="0"/>
          </a:p>
          <a:p>
            <a:r>
              <a:rPr kumimoji="1" lang="zh-CN" altLang="en-US" dirty="0"/>
              <a:t>什么是阻尼振动？受迫振动？共振？</a:t>
            </a:r>
            <a:endParaRPr kumimoji="1" lang="en-US" altLang="zh-CN" dirty="0"/>
          </a:p>
          <a:p>
            <a:r>
              <a:rPr kumimoji="1" lang="zh-CN" altLang="en-US" dirty="0"/>
              <a:t>拍？二维振动的合成？</a:t>
            </a:r>
            <a:endParaRPr kumimoji="1" lang="en-US" altLang="zh-CN" dirty="0"/>
          </a:p>
          <a:p>
            <a:r>
              <a:rPr kumimoji="1" lang="zh-CN" altLang="en-US" dirty="0"/>
              <a:t>横波？纵波？</a:t>
            </a:r>
            <a:endParaRPr kumimoji="1" lang="en-US" altLang="zh-CN" dirty="0"/>
          </a:p>
          <a:p>
            <a:r>
              <a:rPr kumimoji="1" lang="zh-CN" altLang="en-US" dirty="0"/>
              <a:t>驻波？</a:t>
            </a:r>
            <a:endParaRPr kumimoji="1" lang="en-US" altLang="zh-CN" dirty="0"/>
          </a:p>
          <a:p>
            <a:r>
              <a:rPr kumimoji="1" lang="zh-CN" altLang="en-US" dirty="0"/>
              <a:t>能量均分定理？</a:t>
            </a:r>
            <a:endParaRPr kumimoji="1" lang="en-US" altLang="zh-CN" dirty="0"/>
          </a:p>
          <a:p>
            <a:r>
              <a:rPr kumimoji="1" lang="zh-CN" altLang="en-US" dirty="0"/>
              <a:t>电磁波是横波还是纵波？</a:t>
            </a:r>
            <a:endParaRPr kumimoji="1" lang="en-US" altLang="zh-CN" dirty="0"/>
          </a:p>
          <a:p>
            <a:r>
              <a:rPr kumimoji="1" lang="zh-CN" altLang="en-US" dirty="0"/>
              <a:t>光速是多少？</a:t>
            </a:r>
            <a:endParaRPr kumimoji="1" lang="en-US" altLang="zh-CN" dirty="0"/>
          </a:p>
          <a:p>
            <a:r>
              <a:rPr kumimoji="1" lang="en-US" altLang="zh-CN" dirty="0"/>
              <a:t>Maxwell </a:t>
            </a:r>
            <a:r>
              <a:rPr kumimoji="1" lang="zh-CN" altLang="en-US" dirty="0"/>
              <a:t>方程组？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望庐山瀑布</a:t>
            </a:r>
            <a:r>
              <a:rPr lang="en-US" altLang="zh-CN"/>
              <a:t> </a:t>
            </a:r>
            <a:r>
              <a:rPr lang="zh-CN" altLang="en-US"/>
              <a:t>（李白）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日照香炉生紫烟，</a:t>
            </a:r>
          </a:p>
          <a:p>
            <a:pPr marL="0" indent="0">
              <a:buNone/>
            </a:pPr>
            <a:r>
              <a:rPr lang="zh-CN" altLang="en-US"/>
              <a:t>遥看瀑布挂前川。</a:t>
            </a:r>
          </a:p>
          <a:p>
            <a:pPr marL="0" indent="0">
              <a:buNone/>
            </a:pPr>
            <a:r>
              <a:rPr lang="zh-CN" altLang="en-US"/>
              <a:t>飞流直下三千尺，</a:t>
            </a:r>
          </a:p>
          <a:p>
            <a:pPr marL="0" indent="0">
              <a:buNone/>
            </a:pPr>
            <a:r>
              <a:rPr lang="zh-CN" altLang="en-US"/>
              <a:t>疑是银河落九天。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你能看到电磁波吗？你能看到光子吗？</a:t>
            </a:r>
          </a:p>
          <a:p>
            <a:r>
              <a:rPr lang="zh-CN" altLang="en-US"/>
              <a:t>光学的两层含义：</a:t>
            </a:r>
          </a:p>
          <a:p>
            <a:pPr marL="514350" indent="-514350">
              <a:buAutoNum type="arabicPeriod"/>
            </a:pPr>
            <a:r>
              <a:rPr lang="zh-CN" altLang="en-US"/>
              <a:t>作为信使（或媒介）（</a:t>
            </a:r>
            <a:r>
              <a:rPr lang="en-US" altLang="zh-CN"/>
              <a:t>messenger</a:t>
            </a:r>
            <a:r>
              <a:rPr lang="zh-CN" altLang="en-US"/>
              <a:t>）</a:t>
            </a:r>
            <a:r>
              <a:rPr lang="en-US" altLang="zh-CN"/>
              <a:t>----</a:t>
            </a:r>
            <a:br>
              <a:rPr lang="en-US" altLang="zh-CN"/>
            </a:br>
            <a:r>
              <a:rPr lang="zh-CN" altLang="en-US"/>
              <a:t>现在是多信使的时代</a:t>
            </a:r>
          </a:p>
          <a:p>
            <a:pPr marL="514350" indent="-514350">
              <a:buAutoNum type="arabicPeriod"/>
            </a:pPr>
            <a:r>
              <a:rPr lang="zh-CN" altLang="en-US"/>
              <a:t>作为基本物理：电磁相互作用的传播子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多信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97155"/>
            <a:ext cx="8702675" cy="65271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26640" y="5882005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图片来源：熊少林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粒子物理标准模型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90955" y="286385"/>
            <a:ext cx="6435090" cy="6163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27215" y="627253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图片来源：百度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6149340" y="584835"/>
            <a:ext cx="1229360" cy="237045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378700" y="35433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光子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更多的未知在等待探索</a:t>
            </a:r>
          </a:p>
        </p:txBody>
      </p:sp>
      <p:pic>
        <p:nvPicPr>
          <p:cNvPr id="2" name="图片 1" descr="宇宙组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955"/>
            <a:ext cx="6858000" cy="5143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21070" y="6106795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图片来源：百度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振动复习（自己在下面复习）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130,&quot;width&quot;:6400}"/>
</p:tagLst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1195</Words>
  <Application>Microsoft Office PowerPoint</Application>
  <PresentationFormat>全屏显示(4:3)</PresentationFormat>
  <Paragraphs>87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system-ui</vt:lpstr>
      <vt:lpstr>宋体</vt:lpstr>
      <vt:lpstr>Arial</vt:lpstr>
      <vt:lpstr>Calibri</vt:lpstr>
      <vt:lpstr>Times New Roman</vt:lpstr>
      <vt:lpstr>Office 主题</vt:lpstr>
      <vt:lpstr>光学 optics</vt:lpstr>
      <vt:lpstr>仝号简介</vt:lpstr>
      <vt:lpstr>PowerPoint 演示文稿</vt:lpstr>
      <vt:lpstr>光学教材</vt:lpstr>
      <vt:lpstr>内容</vt:lpstr>
      <vt:lpstr>讲课方式</vt:lpstr>
      <vt:lpstr>0. 光是什么</vt:lpstr>
      <vt:lpstr>PowerPoint 演示文稿</vt:lpstr>
      <vt:lpstr>PowerPoint 演示文稿</vt:lpstr>
      <vt:lpstr>补充说明:</vt:lpstr>
      <vt:lpstr>PowerPoint 演示文稿</vt:lpstr>
      <vt:lpstr>PowerPoint 演示文稿</vt:lpstr>
      <vt:lpstr>PowerPoint 演示文稿</vt:lpstr>
      <vt:lpstr>PowerPoint 演示文稿</vt:lpstr>
      <vt:lpstr>预修课程</vt:lpstr>
      <vt:lpstr>问题</vt:lpstr>
      <vt:lpstr>望庐山瀑布 （李白）</vt:lpstr>
      <vt:lpstr>PowerPoint 演示文稿</vt:lpstr>
      <vt:lpstr>PowerPoint 演示文稿</vt:lpstr>
      <vt:lpstr>更多的未知在等待探索</vt:lpstr>
      <vt:lpstr>振动复习（自己在下面复习）</vt:lpstr>
    </vt:vector>
  </TitlesOfParts>
  <Company>xao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辐射机制 </dc:title>
  <dc:creator>tong h</dc:creator>
  <cp:lastModifiedBy>tong hao</cp:lastModifiedBy>
  <cp:revision>214</cp:revision>
  <dcterms:created xsi:type="dcterms:W3CDTF">2018-02-28T06:12:00Z</dcterms:created>
  <dcterms:modified xsi:type="dcterms:W3CDTF">2023-09-05T07:27:02Z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4ADD1B9FA1DB4CEDBC973D37453A6302</vt:lpwstr>
  </property>
</Properties>
</file>