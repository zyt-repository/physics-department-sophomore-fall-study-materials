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defaultText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7" d="100"/>
          <a:sy n="107" d="100"/>
        </p:scale>
        <p:origin x="1728" y="4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kumimoji="1"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p>
            <a:fld id="{21FE68A9-2060-0946-83FF-E3072154C697}" type="datetimeFigureOut">
              <a:rPr kumimoji="1" lang="zh-CN" altLang="en-US" smtClean="0"/>
              <a:t>2022/9/2</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CAAA53A0-4EB6-7747-BF0F-BA2762E89D7C}" type="slidenum">
              <a:rPr kumimoji="1" lang="zh-CN" altLang="en-US" smtClean="0"/>
              <a:t>‹#›</a:t>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21FE68A9-2060-0946-83FF-E3072154C697}" type="datetimeFigureOut">
              <a:rPr kumimoji="1" lang="zh-CN" altLang="en-US" smtClean="0"/>
              <a:t>2022/9/2</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CAAA53A0-4EB6-7747-BF0F-BA2762E89D7C}" type="slidenum">
              <a:rPr kumimoji="1" lang="zh-CN" altLang="en-US" smtClean="0"/>
              <a:t>‹#›</a:t>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kumimoji="1"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zh-CN" altLang="en-US"/>
              <a:t>单击此处编辑母版文本样式</a:t>
            </a:r>
          </a:p>
        </p:txBody>
      </p:sp>
      <p:sp>
        <p:nvSpPr>
          <p:cNvPr id="4" name="日期占位符 3"/>
          <p:cNvSpPr>
            <a:spLocks noGrp="1"/>
          </p:cNvSpPr>
          <p:nvPr>
            <p:ph type="dt" sz="half" idx="10"/>
          </p:nvPr>
        </p:nvSpPr>
        <p:spPr/>
        <p:txBody>
          <a:bodyPr/>
          <a:lstStyle/>
          <a:p>
            <a:fld id="{21FE68A9-2060-0946-83FF-E3072154C697}" type="datetimeFigureOut">
              <a:rPr kumimoji="1" lang="zh-CN" altLang="en-US" smtClean="0"/>
              <a:t>2022/9/2</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CAAA53A0-4EB6-7747-BF0F-BA2762E89D7C}" type="slidenum">
              <a:rPr kumimoji="1" lang="zh-CN" altLang="en-US" smtClean="0"/>
              <a:t>‹#›</a:t>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p:cNvSpPr>
            <a:spLocks noGrp="1"/>
          </p:cNvSpPr>
          <p:nvPr>
            <p:ph type="dt" sz="half" idx="10"/>
          </p:nvPr>
        </p:nvSpPr>
        <p:spPr/>
        <p:txBody>
          <a:bodyPr/>
          <a:lstStyle/>
          <a:p>
            <a:fld id="{21FE68A9-2060-0946-83FF-E3072154C697}" type="datetimeFigureOut">
              <a:rPr kumimoji="1" lang="zh-CN" altLang="en-US" smtClean="0"/>
              <a:t>2022/9/2</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CAAA53A0-4EB6-7747-BF0F-BA2762E89D7C}" type="slidenum">
              <a:rPr kumimoji="1" lang="zh-CN" altLang="en-US" smtClean="0"/>
              <a:t>‹#›</a:t>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kumimoji="1"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p:cNvSpPr>
            <a:spLocks noGrp="1"/>
          </p:cNvSpPr>
          <p:nvPr>
            <p:ph type="dt" sz="half" idx="10"/>
          </p:nvPr>
        </p:nvSpPr>
        <p:spPr/>
        <p:txBody>
          <a:bodyPr/>
          <a:lstStyle/>
          <a:p>
            <a:fld id="{21FE68A9-2060-0946-83FF-E3072154C697}" type="datetimeFigureOut">
              <a:rPr kumimoji="1" lang="zh-CN" altLang="en-US" smtClean="0"/>
              <a:t>2022/9/2</a:t>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幻灯片编号占位符 8"/>
          <p:cNvSpPr>
            <a:spLocks noGrp="1"/>
          </p:cNvSpPr>
          <p:nvPr>
            <p:ph type="sldNum" sz="quarter" idx="12"/>
          </p:nvPr>
        </p:nvSpPr>
        <p:spPr/>
        <p:txBody>
          <a:bodyPr/>
          <a:lstStyle/>
          <a:p>
            <a:fld id="{CAAA53A0-4EB6-7747-BF0F-BA2762E89D7C}" type="slidenum">
              <a:rPr kumimoji="1" lang="zh-CN" altLang="en-US" smtClean="0"/>
              <a:t>‹#›</a:t>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fld id="{21FE68A9-2060-0946-83FF-E3072154C697}" type="datetimeFigureOut">
              <a:rPr kumimoji="1" lang="zh-CN" altLang="en-US" smtClean="0"/>
              <a:t>2022/9/2</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幻灯片编号占位符 4"/>
          <p:cNvSpPr>
            <a:spLocks noGrp="1"/>
          </p:cNvSpPr>
          <p:nvPr>
            <p:ph type="sldNum" sz="quarter" idx="12"/>
          </p:nvPr>
        </p:nvSpPr>
        <p:spPr/>
        <p:txBody>
          <a:bodyPr/>
          <a:lstStyle/>
          <a:p>
            <a:fld id="{CAAA53A0-4EB6-7747-BF0F-BA2762E89D7C}" type="slidenum">
              <a:rPr kumimoji="1" lang="zh-CN" altLang="en-US" smtClean="0"/>
              <a:t>‹#›</a:t>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1FE68A9-2060-0946-83FF-E3072154C697}" type="datetimeFigureOut">
              <a:rPr kumimoji="1" lang="zh-CN" altLang="en-US" smtClean="0"/>
              <a:t>2022/9/2</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幻灯片编号占位符 3"/>
          <p:cNvSpPr>
            <a:spLocks noGrp="1"/>
          </p:cNvSpPr>
          <p:nvPr>
            <p:ph type="sldNum" sz="quarter" idx="12"/>
          </p:nvPr>
        </p:nvSpPr>
        <p:spPr/>
        <p:txBody>
          <a:bodyPr/>
          <a:lstStyle/>
          <a:p>
            <a:fld id="{CAAA53A0-4EB6-7747-BF0F-BA2762E89D7C}" type="slidenum">
              <a:rPr kumimoji="1" lang="zh-CN" altLang="en-US" smtClean="0"/>
              <a:t>‹#›</a:t>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kumimoji="1"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21FE68A9-2060-0946-83FF-E3072154C697}" type="datetimeFigureOut">
              <a:rPr kumimoji="1" lang="zh-CN" altLang="en-US" smtClean="0"/>
              <a:t>2022/9/2</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CAAA53A0-4EB6-7747-BF0F-BA2762E89D7C}" type="slidenum">
              <a:rPr kumimoji="1" lang="zh-CN" altLang="en-US" smtClean="0"/>
              <a:t>‹#›</a:t>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kumimoji="1"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21FE68A9-2060-0946-83FF-E3072154C697}" type="datetimeFigureOut">
              <a:rPr kumimoji="1" lang="zh-CN" altLang="en-US" smtClean="0"/>
              <a:t>2022/9/2</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CAAA53A0-4EB6-7747-BF0F-BA2762E89D7C}" type="slidenum">
              <a:rPr kumimoji="1" lang="zh-CN" altLang="en-US" smtClean="0"/>
              <a:t>‹#›</a:t>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本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21FE68A9-2060-0946-83FF-E3072154C697}" type="datetimeFigureOut">
              <a:rPr kumimoji="1" lang="zh-CN" altLang="en-US" smtClean="0"/>
              <a:t>2022/9/2</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CAAA53A0-4EB6-7747-BF0F-BA2762E89D7C}" type="slidenum">
              <a:rPr kumimoji="1" lang="zh-CN" altLang="en-US" smtClean="0"/>
              <a:t>‹#›</a:t>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kumimoji="1" lang="zh-CN" altLang="en-US"/>
              <a:t>单击此处编辑母版标题样式</a:t>
            </a:r>
          </a:p>
        </p:txBody>
      </p:sp>
      <p:sp>
        <p:nvSpPr>
          <p:cNvPr id="3" name="竖排文本占位符 2"/>
          <p:cNvSpPr>
            <a:spLocks noGrp="1"/>
          </p:cNvSpPr>
          <p:nvPr>
            <p:ph type="body" orient="vert" idx="1"/>
          </p:nvPr>
        </p:nvSpPr>
        <p:spPr>
          <a:xfrm>
            <a:off x="457200" y="274638"/>
            <a:ext cx="6019800" cy="5851525"/>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21FE68A9-2060-0946-83FF-E3072154C697}" type="datetimeFigureOut">
              <a:rPr kumimoji="1" lang="zh-CN" altLang="en-US" smtClean="0"/>
              <a:t>2022/9/2</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CAAA53A0-4EB6-7747-BF0F-BA2762E89D7C}" type="slidenum">
              <a:rPr kumimoji="1" lang="zh-CN" altLang="en-US" smtClean="0"/>
              <a:t>‹#›</a:t>
            </a:fld>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FE68A9-2060-0946-83FF-E3072154C697}" type="datetimeFigureOut">
              <a:rPr kumimoji="1" lang="zh-CN" altLang="en-US" smtClean="0"/>
              <a:t>2022/9/2</a:t>
            </a:fld>
            <a:endParaRPr kumimoji="1"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AA53A0-4EB6-7747-BF0F-BA2762E89D7C}"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kumimoji="1" lang="en-US" altLang="zh-CN" dirty="0"/>
              <a:t>Ch0.1</a:t>
            </a:r>
            <a:br>
              <a:rPr kumimoji="1" lang="en-US" altLang="zh-CN" dirty="0"/>
            </a:br>
            <a:r>
              <a:rPr kumimoji="1" lang="en-US" altLang="zh-CN" dirty="0"/>
              <a:t>What is light?</a:t>
            </a:r>
            <a:endParaRPr kumimoji="1" lang="zh-CN" altLang="en-US" dirty="0"/>
          </a:p>
        </p:txBody>
      </p:sp>
      <p:sp>
        <p:nvSpPr>
          <p:cNvPr id="3" name="副标题 2"/>
          <p:cNvSpPr>
            <a:spLocks noGrp="1"/>
          </p:cNvSpPr>
          <p:nvPr>
            <p:ph type="subTitle" idx="1"/>
          </p:nvPr>
        </p:nvSpPr>
        <p:spPr/>
        <p:txBody>
          <a:bodyPr/>
          <a:lstStyle/>
          <a:p>
            <a:r>
              <a:rPr kumimoji="1" lang="en-US" altLang="zh-CN" dirty="0" err="1"/>
              <a:t>Ghatak</a:t>
            </a:r>
            <a:r>
              <a:rPr kumimoji="1" lang="en-US" altLang="zh-CN" dirty="0"/>
              <a:t>, Optics, Ch2</a:t>
            </a:r>
          </a:p>
          <a:p>
            <a:endParaRPr kumimoji="1"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lnSpcReduction="10000"/>
          </a:bodyPr>
          <a:lstStyle/>
          <a:p>
            <a:r>
              <a:rPr lang="en-US" altLang="zh-CN" dirty="0"/>
              <a:t>For the rest of my life, I will reflect on what light is. ----Einstein 1917</a:t>
            </a:r>
          </a:p>
          <a:p>
            <a:r>
              <a:rPr lang="en-US" altLang="zh-CN" dirty="0"/>
              <a:t>All the fifty years of conscious brooding have brought me no closer to the answer to the question, ‘What are light quanta?’ Of course today every rascal thinks he knows the answer, but he is deluding himself. ----Einstein 1951</a:t>
            </a:r>
            <a:br>
              <a:rPr lang="en-US" altLang="zh-CN" dirty="0"/>
            </a:br>
            <a:br>
              <a:rPr lang="en-US" altLang="zh-CN" dirty="0"/>
            </a:b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 Conclusion</a:t>
            </a:r>
            <a:endParaRPr lang="zh-CN" altLang="en-US" dirty="0"/>
          </a:p>
        </p:txBody>
      </p:sp>
      <p:sp>
        <p:nvSpPr>
          <p:cNvPr id="3" name="内容占位符 2"/>
          <p:cNvSpPr>
            <a:spLocks noGrp="1"/>
          </p:cNvSpPr>
          <p:nvPr>
            <p:ph idx="1"/>
          </p:nvPr>
        </p:nvSpPr>
        <p:spPr>
          <a:xfrm>
            <a:off x="457200" y="1417638"/>
            <a:ext cx="8229600" cy="4973223"/>
          </a:xfrm>
        </p:spPr>
        <p:txBody>
          <a:bodyPr>
            <a:normAutofit fontScale="92500" lnSpcReduction="10000"/>
          </a:bodyPr>
          <a:lstStyle/>
          <a:p>
            <a:r>
              <a:rPr lang="en-US" altLang="zh-CN" sz="2800" dirty="0"/>
              <a:t>Newton thought that light was made up of particles, but then it was discovered that it behaves like a wave. Later, however (in the beginning of the twentieth century), it was found that light did indeed sometimes behave like a particle. Historically, the electron, for example, was thought to behave like a particle, and then in many respects it behaved like a wave. So it really behaves like neither. Now we have given up. We say: ‘it is like neither.’ There is one lucky break, however—electrons behave just like light. The quantum </a:t>
            </a:r>
            <a:r>
              <a:rPr lang="en-US" altLang="zh-CN" sz="2800" dirty="0" err="1"/>
              <a:t>behaviour</a:t>
            </a:r>
            <a:r>
              <a:rPr lang="en-US" altLang="zh-CN" sz="2800" dirty="0"/>
              <a:t> of atomic objects (electrons, protons, neutrons, photons, and so on) is the same for all, they are all ‘particle–waves,’ or whatever you want to call them. ----Feynman</a:t>
            </a:r>
            <a:endParaRPr lang="zh-CN" alt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 The corpuscular model</a:t>
            </a:r>
            <a:endParaRPr lang="zh-CN" altLang="en-US" dirty="0"/>
          </a:p>
        </p:txBody>
      </p:sp>
      <p:sp>
        <p:nvSpPr>
          <p:cNvPr id="3" name="内容占位符 2"/>
          <p:cNvSpPr>
            <a:spLocks noGrp="1"/>
          </p:cNvSpPr>
          <p:nvPr>
            <p:ph idx="1"/>
          </p:nvPr>
        </p:nvSpPr>
        <p:spPr>
          <a:xfrm>
            <a:off x="457200" y="1600200"/>
            <a:ext cx="8229600" cy="4731026"/>
          </a:xfrm>
        </p:spPr>
        <p:txBody>
          <a:bodyPr>
            <a:normAutofit fontScale="92500" lnSpcReduction="20000"/>
          </a:bodyPr>
          <a:lstStyle/>
          <a:p>
            <a:r>
              <a:rPr lang="en-US" altLang="zh-CN" dirty="0"/>
              <a:t>“Are not the ray of light very small bodies emitted from shining substance?” ----Newton, </a:t>
            </a:r>
            <a:r>
              <a:rPr lang="en-US" altLang="zh-CN" dirty="0" err="1"/>
              <a:t>Opticks</a:t>
            </a:r>
            <a:r>
              <a:rPr lang="en-US" altLang="zh-CN" dirty="0"/>
              <a:t>, 1704</a:t>
            </a:r>
          </a:p>
          <a:p>
            <a:r>
              <a:rPr lang="en-US" altLang="zh-CN" dirty="0"/>
              <a:t>The law of reflection and refraction</a:t>
            </a:r>
          </a:p>
          <a:p>
            <a:r>
              <a:rPr lang="en-US" altLang="zh-CN" dirty="0"/>
              <a:t>Finally, according to Newton, corpuscles of different sizes give rise to the sensation of different colors at the retina of the eye. He explained the prismatic spectrum by assuming</a:t>
            </a:r>
            <a:br>
              <a:rPr lang="en-US" altLang="zh-CN" dirty="0"/>
            </a:br>
            <a:r>
              <a:rPr lang="en-US" altLang="zh-CN" dirty="0"/>
              <a:t>that particles of different sizes refract at different angles </a:t>
            </a:r>
            <a:br>
              <a:rPr lang="en-US" altLang="zh-CN" dirty="0"/>
            </a:b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651380" y="805070"/>
            <a:ext cx="5317922" cy="550627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0" y="383013"/>
            <a:ext cx="9144000" cy="4780004"/>
          </a:xfrm>
          <a:prstGeom prst="rect">
            <a:avLst/>
          </a:prstGeom>
        </p:spPr>
      </p:pic>
      <p:sp>
        <p:nvSpPr>
          <p:cNvPr id="3" name="文本框 2"/>
          <p:cNvSpPr txBox="1"/>
          <p:nvPr/>
        </p:nvSpPr>
        <p:spPr>
          <a:xfrm>
            <a:off x="387626" y="5377064"/>
            <a:ext cx="8478078" cy="954107"/>
          </a:xfrm>
          <a:prstGeom prst="rect">
            <a:avLst/>
          </a:prstGeom>
          <a:noFill/>
        </p:spPr>
        <p:txBody>
          <a:bodyPr wrap="square" rtlCol="0">
            <a:spAutoFit/>
          </a:bodyPr>
          <a:lstStyle/>
          <a:p>
            <a:r>
              <a:rPr lang="en-US" altLang="zh-CN" sz="2800" b="1" dirty="0"/>
              <a:t>prediction:</a:t>
            </a:r>
            <a:r>
              <a:rPr lang="en-US" altLang="zh-CN" sz="2800" dirty="0"/>
              <a:t> light will have higher velocity  in denser medium (water compared with air)</a:t>
            </a:r>
            <a:r>
              <a:rPr lang="en-US" altLang="zh-CN" sz="2800" dirty="0">
                <a:sym typeface="Wingdings" panose="05000000000000000000" pitchFamily="2" charset="2"/>
              </a:rPr>
              <a:t>WRONG</a:t>
            </a:r>
            <a:endParaRPr lang="zh-CN" altLang="en-US" sz="2800" dirty="0"/>
          </a:p>
        </p:txBody>
      </p:sp>
      <p:sp>
        <p:nvSpPr>
          <p:cNvPr id="4" name="文本框 3"/>
          <p:cNvSpPr txBox="1"/>
          <p:nvPr/>
        </p:nvSpPr>
        <p:spPr>
          <a:xfrm>
            <a:off x="6578354" y="2086253"/>
            <a:ext cx="2635080" cy="369332"/>
          </a:xfrm>
          <a:prstGeom prst="rect">
            <a:avLst/>
          </a:prstGeom>
          <a:noFill/>
        </p:spPr>
        <p:txBody>
          <a:bodyPr wrap="none" rtlCol="0">
            <a:spAutoFit/>
          </a:bodyPr>
          <a:lstStyle/>
          <a:p>
            <a:r>
              <a:rPr lang="en-US" altLang="zh-CN" b="1">
                <a:solidFill>
                  <a:srgbClr val="FF0000"/>
                </a:solidFill>
              </a:rPr>
              <a:t>Q: Why </a:t>
            </a:r>
            <a:r>
              <a:rPr lang="en-US" altLang="zh-CN" b="1" dirty="0" err="1">
                <a:solidFill>
                  <a:srgbClr val="FF0000"/>
                </a:solidFill>
              </a:rPr>
              <a:t>p_x</a:t>
            </a:r>
            <a:r>
              <a:rPr lang="en-US" altLang="zh-CN" b="1" dirty="0">
                <a:solidFill>
                  <a:srgbClr val="FF0000"/>
                </a:solidFill>
              </a:rPr>
              <a:t> is conserved?</a:t>
            </a:r>
            <a:endParaRPr lang="zh-CN" altLang="en-US" b="1" dirty="0">
              <a:solidFill>
                <a:srgbClr val="FF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Geometrical optics</a:t>
            </a:r>
            <a:endParaRPr lang="zh-CN" altLang="en-US" dirty="0"/>
          </a:p>
        </p:txBody>
      </p:sp>
      <p:sp>
        <p:nvSpPr>
          <p:cNvPr id="4" name="内容占位符 3"/>
          <p:cNvSpPr>
            <a:spLocks noGrp="1"/>
          </p:cNvSpPr>
          <p:nvPr>
            <p:ph idx="1"/>
          </p:nvPr>
        </p:nvSpPr>
        <p:spPr/>
        <p:txBody>
          <a:bodyPr>
            <a:normAutofit fontScale="92500"/>
          </a:bodyPr>
          <a:lstStyle/>
          <a:p>
            <a:pPr marL="0" indent="0">
              <a:buNone/>
            </a:pPr>
            <a:r>
              <a:rPr lang="en-US" altLang="zh-CN" dirty="0"/>
              <a:t>Perhaps the two most important experimental facts which led to the early belief in the corpuscular model of light were:</a:t>
            </a:r>
          </a:p>
          <a:p>
            <a:pPr marL="0" indent="0">
              <a:buNone/>
            </a:pPr>
            <a:r>
              <a:rPr lang="en-US" altLang="zh-CN" dirty="0"/>
              <a:t>(1) the rectilinear propagation of light which results in the formation of sharp shadows and </a:t>
            </a:r>
          </a:p>
          <a:p>
            <a:pPr marL="0" indent="0">
              <a:buNone/>
            </a:pPr>
            <a:r>
              <a:rPr lang="en-US" altLang="zh-CN" dirty="0"/>
              <a:t>(2) that light could propagate through vacuum. </a:t>
            </a:r>
          </a:p>
          <a:p>
            <a:pPr marL="0" indent="0">
              <a:buNone/>
            </a:pPr>
            <a:r>
              <a:rPr lang="en-US" altLang="zh-CN" dirty="0"/>
              <a:t>The domain of optics in which light is assumed to travel in straight lines is known as </a:t>
            </a:r>
            <a:r>
              <a:rPr lang="en-US" altLang="zh-CN" b="1" dirty="0"/>
              <a:t>geometrical</a:t>
            </a:r>
            <a:br>
              <a:rPr lang="en-US" altLang="zh-CN" b="1" dirty="0"/>
            </a:br>
            <a:r>
              <a:rPr lang="en-US" altLang="zh-CN" b="1" dirty="0"/>
              <a:t>optics</a:t>
            </a: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However…</a:t>
            </a:r>
            <a:endParaRPr lang="zh-CN" altLang="en-US" dirty="0"/>
          </a:p>
        </p:txBody>
      </p:sp>
      <p:sp>
        <p:nvSpPr>
          <p:cNvPr id="3" name="内容占位符 2"/>
          <p:cNvSpPr>
            <a:spLocks noGrp="1"/>
          </p:cNvSpPr>
          <p:nvPr>
            <p:ph idx="1"/>
          </p:nvPr>
        </p:nvSpPr>
        <p:spPr/>
        <p:txBody>
          <a:bodyPr/>
          <a:lstStyle/>
          <a:p>
            <a:r>
              <a:rPr lang="en-US" altLang="zh-CN" dirty="0"/>
              <a:t>The shadow are not perfectly dark: diffraction</a:t>
            </a:r>
          </a:p>
          <a:p>
            <a:r>
              <a:rPr lang="en-US" altLang="zh-CN" dirty="0"/>
              <a:t>You can read a book in the shadow of a building: not diffraction, but scattering of light by air molecules</a:t>
            </a:r>
          </a:p>
          <a:p>
            <a:r>
              <a:rPr lang="en-US" altLang="zh-CN" dirty="0"/>
              <a:t>Blue color of the sky &amp; red color of the setting sun: scattering (due to Earth’s atmosphere)</a:t>
            </a:r>
          </a:p>
          <a:p>
            <a:r>
              <a:rPr lang="en-US" altLang="zh-CN" dirty="0"/>
              <a:t>Shadows in the moon: extremely dark (the moon has no atmosphere)</a:t>
            </a:r>
          </a:p>
          <a:p>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218014" y="705678"/>
            <a:ext cx="6445056" cy="5233166"/>
          </a:xfrm>
          <a:prstGeom prst="rect">
            <a:avLst/>
          </a:prstGeom>
        </p:spPr>
      </p:pic>
      <p:sp>
        <p:nvSpPr>
          <p:cNvPr id="6" name="文本框 5"/>
          <p:cNvSpPr txBox="1"/>
          <p:nvPr/>
        </p:nvSpPr>
        <p:spPr>
          <a:xfrm flipH="1">
            <a:off x="5015284" y="6291470"/>
            <a:ext cx="2751154" cy="369332"/>
          </a:xfrm>
          <a:prstGeom prst="rect">
            <a:avLst/>
          </a:prstGeom>
          <a:noFill/>
        </p:spPr>
        <p:txBody>
          <a:bodyPr wrap="square" rtlCol="0">
            <a:spAutoFit/>
          </a:bodyPr>
          <a:lstStyle/>
          <a:p>
            <a:r>
              <a:rPr lang="zh-CN" altLang="en-US" dirty="0"/>
              <a:t>图片来源：百度</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007724" y="805069"/>
            <a:ext cx="7450476" cy="5479608"/>
          </a:xfrm>
          <a:prstGeom prst="rect">
            <a:avLst/>
          </a:prstGeom>
        </p:spPr>
      </p:pic>
      <p:sp>
        <p:nvSpPr>
          <p:cNvPr id="5" name="文本框 4"/>
          <p:cNvSpPr txBox="1"/>
          <p:nvPr/>
        </p:nvSpPr>
        <p:spPr>
          <a:xfrm>
            <a:off x="655983" y="288235"/>
            <a:ext cx="4194313" cy="369332"/>
          </a:xfrm>
          <a:prstGeom prst="rect">
            <a:avLst/>
          </a:prstGeom>
          <a:noFill/>
        </p:spPr>
        <p:txBody>
          <a:bodyPr wrap="square" rtlCol="0">
            <a:spAutoFit/>
          </a:bodyPr>
          <a:lstStyle/>
          <a:p>
            <a:r>
              <a:rPr lang="zh-CN" altLang="en-US" dirty="0"/>
              <a:t>嫦娥三号着陆器 （图片来源：百度）</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267984" y="1003852"/>
            <a:ext cx="6513245" cy="4780721"/>
          </a:xfrm>
          <a:prstGeom prst="rect">
            <a:avLst/>
          </a:prstGeom>
        </p:spPr>
      </p:pic>
      <p:sp>
        <p:nvSpPr>
          <p:cNvPr id="4" name="文本框 3"/>
          <p:cNvSpPr txBox="1"/>
          <p:nvPr/>
        </p:nvSpPr>
        <p:spPr>
          <a:xfrm flipH="1">
            <a:off x="602308" y="318052"/>
            <a:ext cx="4039265" cy="369332"/>
          </a:xfrm>
          <a:prstGeom prst="rect">
            <a:avLst/>
          </a:prstGeom>
          <a:noFill/>
        </p:spPr>
        <p:txBody>
          <a:bodyPr wrap="square" rtlCol="0">
            <a:spAutoFit/>
          </a:bodyPr>
          <a:lstStyle/>
          <a:p>
            <a:r>
              <a:rPr lang="zh-CN" altLang="en-US" dirty="0"/>
              <a:t>玉兔号月球车  （图片来源：百度）</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en-US" altLang="zh-CN" dirty="0"/>
              <a:t>Chronicles</a:t>
            </a:r>
            <a:endParaRPr lang="zh-CN" altLang="en-US" dirty="0"/>
          </a:p>
        </p:txBody>
      </p:sp>
      <p:sp>
        <p:nvSpPr>
          <p:cNvPr id="3" name="内容占位符 2"/>
          <p:cNvSpPr>
            <a:spLocks noGrp="1"/>
          </p:cNvSpPr>
          <p:nvPr>
            <p:ph idx="1"/>
          </p:nvPr>
        </p:nvSpPr>
        <p:spPr/>
        <p:txBody>
          <a:bodyPr>
            <a:normAutofit lnSpcReduction="10000"/>
          </a:bodyPr>
          <a:lstStyle/>
          <a:p>
            <a:r>
              <a:rPr lang="en-US" altLang="zh-CN" dirty="0"/>
              <a:t>140 AD, Ptolemy: measured the angle of refraction in water from for different angles of incidence in the air and made a table of it</a:t>
            </a:r>
          </a:p>
          <a:p>
            <a:r>
              <a:rPr lang="en-US" altLang="zh-CN" dirty="0"/>
              <a:t>1621, Snell: using Ptolemy’s table, discovered the law of refraction</a:t>
            </a:r>
          </a:p>
          <a:p>
            <a:r>
              <a:rPr lang="en-US" altLang="zh-CN" dirty="0"/>
              <a:t>1637, Descartes: derived Snell’s law, corpuscular theory</a:t>
            </a:r>
          </a:p>
          <a:p>
            <a:r>
              <a:rPr lang="en-US" altLang="zh-CN" dirty="0"/>
              <a:t>1662, Fermat: principle of least time</a:t>
            </a:r>
          </a:p>
          <a:p>
            <a:r>
              <a:rPr lang="en-US" altLang="zh-CN" dirty="0"/>
              <a:t>1704, Newton: </a:t>
            </a:r>
            <a:r>
              <a:rPr lang="en-US" altLang="zh-CN" dirty="0" err="1"/>
              <a:t>Opticks</a:t>
            </a:r>
            <a:r>
              <a:rPr lang="en-US" altLang="zh-CN" dirty="0"/>
              <a:t> </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24943"/>
            <a:ext cx="8229600" cy="1143000"/>
          </a:xfrm>
        </p:spPr>
        <p:txBody>
          <a:bodyPr/>
          <a:lstStyle/>
          <a:p>
            <a:r>
              <a:rPr lang="en-US" altLang="zh-CN" dirty="0"/>
              <a:t>3. The wave model</a:t>
            </a:r>
            <a:endParaRPr lang="zh-CN" altLang="en-US" dirty="0"/>
          </a:p>
        </p:txBody>
      </p:sp>
      <p:sp>
        <p:nvSpPr>
          <p:cNvPr id="3" name="内容占位符 2"/>
          <p:cNvSpPr>
            <a:spLocks noGrp="1"/>
          </p:cNvSpPr>
          <p:nvPr>
            <p:ph idx="1"/>
          </p:nvPr>
        </p:nvSpPr>
        <p:spPr>
          <a:xfrm>
            <a:off x="457200" y="1262270"/>
            <a:ext cx="8229600" cy="5370787"/>
          </a:xfrm>
        </p:spPr>
        <p:txBody>
          <a:bodyPr>
            <a:normAutofit fontScale="92500" lnSpcReduction="10000"/>
          </a:bodyPr>
          <a:lstStyle/>
          <a:p>
            <a:r>
              <a:rPr lang="en-US" altLang="zh-CN" sz="2800" dirty="0"/>
              <a:t>1665, Grimaldi: diffraction of white light (also by Hooke later)</a:t>
            </a:r>
            <a:r>
              <a:rPr lang="en-US" altLang="zh-CN" sz="2800" dirty="0">
                <a:sym typeface="Wingdings" panose="05000000000000000000" pitchFamily="2" charset="2"/>
              </a:rPr>
              <a:t>``light is a fluid that exhibits wave-light motion”</a:t>
            </a:r>
          </a:p>
          <a:p>
            <a:r>
              <a:rPr lang="en-US" altLang="zh-CN" sz="2800" dirty="0"/>
              <a:t>1678, Huygens: wave model of </a:t>
            </a:r>
            <a:r>
              <a:rPr lang="en-US" altLang="zh-CN" sz="2800" dirty="0" err="1"/>
              <a:t>light</a:t>
            </a:r>
            <a:r>
              <a:rPr lang="en-US" altLang="zh-CN" sz="2800" dirty="0" err="1">
                <a:sym typeface="Wingdings" panose="05000000000000000000" pitchFamily="2" charset="2"/>
              </a:rPr>
              <a:t>reflection</a:t>
            </a:r>
            <a:r>
              <a:rPr lang="en-US" altLang="zh-CN" sz="2800" dirty="0">
                <a:sym typeface="Wingdings" panose="05000000000000000000" pitchFamily="2" charset="2"/>
              </a:rPr>
              <a:t>, refraction, and double refraction (1669, </a:t>
            </a:r>
            <a:r>
              <a:rPr lang="en-US" altLang="zh-CN" sz="2800" dirty="0" err="1">
                <a:sym typeface="Wingdings" panose="05000000000000000000" pitchFamily="2" charset="2"/>
              </a:rPr>
              <a:t>Bartholinus</a:t>
            </a:r>
            <a:r>
              <a:rPr lang="en-US" altLang="zh-CN" sz="2800" dirty="0">
                <a:sym typeface="Wingdings" panose="05000000000000000000" pitchFamily="2" charset="2"/>
              </a:rPr>
              <a:t>).</a:t>
            </a:r>
          </a:p>
          <a:p>
            <a:r>
              <a:rPr lang="en-US" altLang="zh-CN" sz="2800" dirty="0"/>
              <a:t>However, so compelling was Newton’s authority that it is said that </a:t>
            </a:r>
            <a:r>
              <a:rPr lang="en-US" altLang="zh-CN" sz="2800" i="1" dirty="0"/>
              <a:t>people around Newton had more faith in his corpuscular theory than Newton himself </a:t>
            </a:r>
            <a:r>
              <a:rPr lang="en-US" altLang="zh-CN" sz="2800" dirty="0"/>
              <a:t>and no one believed in Huygens’ wave theory until 1801 when</a:t>
            </a:r>
            <a:br>
              <a:rPr lang="en-US" altLang="zh-CN" sz="2800" dirty="0"/>
            </a:br>
            <a:r>
              <a:rPr lang="en-US" altLang="zh-CN" sz="2800" dirty="0"/>
              <a:t>Thomas Young performed the famous interference experiment which could only be explained on the basis of a wave model of light.  </a:t>
            </a:r>
          </a:p>
          <a:p>
            <a:r>
              <a:rPr lang="en-US" altLang="zh-CN" sz="2800" dirty="0"/>
              <a:t>1802, Young: explanation of Newton’s ring (observed by Hooke in 1650s)</a:t>
            </a:r>
            <a:endParaRPr lang="zh-CN" alt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rmAutofit/>
          </a:bodyPr>
          <a:lstStyle/>
          <a:p>
            <a:r>
              <a:rPr lang="en-US" altLang="zh-CN" dirty="0"/>
              <a:t>1806, Malus: observed the polarization of light</a:t>
            </a:r>
          </a:p>
          <a:p>
            <a:r>
              <a:rPr lang="en-US" altLang="zh-CN" dirty="0"/>
              <a:t>1816, Fresnel: explanation of diffraction</a:t>
            </a:r>
          </a:p>
          <a:p>
            <a:r>
              <a:rPr lang="en-US" altLang="zh-CN" dirty="0"/>
              <a:t>In 1816, Fresnel along with </a:t>
            </a:r>
            <a:r>
              <a:rPr lang="en-US" altLang="zh-CN" dirty="0" err="1"/>
              <a:t>Arago</a:t>
            </a:r>
            <a:r>
              <a:rPr lang="en-US" altLang="zh-CN" dirty="0"/>
              <a:t> performed the famous experiment on the superposition of linearly polarized light waves, which was</a:t>
            </a:r>
            <a:br>
              <a:rPr lang="en-US" altLang="zh-CN" dirty="0"/>
            </a:br>
            <a:r>
              <a:rPr lang="en-US" altLang="zh-CN" dirty="0"/>
              <a:t>explained by Young, by assuming that light waves were transverse in character. </a:t>
            </a:r>
            <a:br>
              <a:rPr lang="en-US" altLang="zh-CN" dirty="0"/>
            </a:b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57200"/>
            <a:ext cx="8229600" cy="5933661"/>
          </a:xfrm>
        </p:spPr>
        <p:txBody>
          <a:bodyPr>
            <a:normAutofit lnSpcReduction="10000"/>
          </a:bodyPr>
          <a:lstStyle/>
          <a:p>
            <a:r>
              <a:rPr lang="en-US" altLang="zh-CN" dirty="0"/>
              <a:t>It was believed that a wave would always</a:t>
            </a:r>
            <a:br>
              <a:rPr lang="en-US" altLang="zh-CN" dirty="0"/>
            </a:br>
            <a:r>
              <a:rPr lang="en-US" altLang="zh-CN" dirty="0"/>
              <a:t>require a medium and since light could propagate through vacuum, the presence of an “all pervasive” medium called the ether was assumed.</a:t>
            </a:r>
          </a:p>
          <a:p>
            <a:r>
              <a:rPr lang="en-US" altLang="zh-CN" dirty="0"/>
              <a:t>In 1832 Fresnel derived the expressions for the reflection and transmission coefficients by using models for ether vibrations. Poisson, </a:t>
            </a:r>
            <a:r>
              <a:rPr lang="en-US" altLang="zh-CN" dirty="0" err="1"/>
              <a:t>Navier</a:t>
            </a:r>
            <a:r>
              <a:rPr lang="en-US" altLang="zh-CN" dirty="0"/>
              <a:t>, Cauchy, and many other physicists contributed to the development of the ether theory which also necessitated the development of the theory of elasticity. </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rmAutofit lnSpcReduction="10000"/>
          </a:bodyPr>
          <a:lstStyle/>
          <a:p>
            <a:r>
              <a:rPr lang="en-US" altLang="zh-CN" dirty="0"/>
              <a:t>1865, Maxwell: electromagnetic theory of light   “Light waves are electromagnetic waves” </a:t>
            </a:r>
            <a:r>
              <a:rPr lang="en-US" altLang="zh-CN" dirty="0">
                <a:solidFill>
                  <a:srgbClr val="FF0000"/>
                </a:solidFill>
              </a:rPr>
              <a:t>(electromagnetic version of ether)</a:t>
            </a:r>
          </a:p>
          <a:p>
            <a:r>
              <a:rPr lang="en-US" altLang="zh-CN" dirty="0"/>
              <a:t>1888, Hertz: measured the speed of electromagnetic waves</a:t>
            </a:r>
          </a:p>
          <a:p>
            <a:r>
              <a:rPr lang="en-US" altLang="zh-CN" dirty="0"/>
              <a:t>toward the end of the nineteenth century, physicists thought that one had finally understood what light really is. </a:t>
            </a:r>
            <a:br>
              <a:rPr lang="en-US" altLang="zh-CN" dirty="0"/>
            </a:b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 The particle nature of radiation</a:t>
            </a:r>
            <a:endParaRPr lang="zh-CN" altLang="en-US" dirty="0"/>
          </a:p>
        </p:txBody>
      </p:sp>
      <p:sp>
        <p:nvSpPr>
          <p:cNvPr id="3" name="内容占位符 2"/>
          <p:cNvSpPr>
            <a:spLocks noGrp="1"/>
          </p:cNvSpPr>
          <p:nvPr>
            <p:ph idx="1"/>
          </p:nvPr>
        </p:nvSpPr>
        <p:spPr/>
        <p:txBody>
          <a:bodyPr>
            <a:normAutofit fontScale="85000" lnSpcReduction="10000"/>
          </a:bodyPr>
          <a:lstStyle/>
          <a:p>
            <a:r>
              <a:rPr lang="en-US" altLang="zh-CN" dirty="0"/>
              <a:t>1887, Hertz: ultraviolet radiation from the first spark that was helping the electrons to jump across the gap. </a:t>
            </a:r>
          </a:p>
          <a:p>
            <a:r>
              <a:rPr lang="en-US" altLang="zh-CN" dirty="0"/>
              <a:t>1897, Thomson: discovery of electrons, electrons are emitted when light falls on a metal surface (1899)</a:t>
            </a:r>
          </a:p>
          <a:p>
            <a:r>
              <a:rPr lang="en-US" altLang="zh-CN" dirty="0"/>
              <a:t>1902, Lenard: observed </a:t>
            </a:r>
            <a:br>
              <a:rPr lang="en-US" altLang="zh-CN" dirty="0"/>
            </a:br>
            <a:r>
              <a:rPr lang="en-US" altLang="zh-CN" dirty="0"/>
              <a:t>(1) the kinetic energy of the emitted electrons was independent of the intensity of the incident light and (2) that the energy of the emitted electron increased when the frequency of the incident light was increased.</a:t>
            </a:r>
          </a:p>
          <a:p>
            <a:r>
              <a:rPr lang="en-US" altLang="zh-CN" dirty="0"/>
              <a:t>1905, Einstein: energy quanta (1900, Planck: quanta)</a:t>
            </a:r>
          </a:p>
          <a:p>
            <a:r>
              <a:rPr lang="en-US" altLang="zh-CN" dirty="0"/>
              <a:t>1926, Lewis (US Chemist): coined the word “photon”</a:t>
            </a:r>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207135" y="1371600"/>
            <a:ext cx="8847414" cy="425752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29209" y="1977886"/>
            <a:ext cx="8925339" cy="297511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308114" y="2621184"/>
            <a:ext cx="8656983" cy="169087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75246"/>
            <a:ext cx="8229600" cy="1143000"/>
          </a:xfrm>
        </p:spPr>
        <p:txBody>
          <a:bodyPr/>
          <a:lstStyle/>
          <a:p>
            <a:r>
              <a:rPr lang="en-US" altLang="zh-CN" dirty="0"/>
              <a:t>5. Wave nature of matter</a:t>
            </a:r>
            <a:endParaRPr lang="zh-CN" altLang="en-US" dirty="0"/>
          </a:p>
        </p:txBody>
      </p:sp>
      <p:pic>
        <p:nvPicPr>
          <p:cNvPr id="4" name="图片 3"/>
          <p:cNvPicPr>
            <a:picLocks noChangeAspect="1"/>
          </p:cNvPicPr>
          <p:nvPr/>
        </p:nvPicPr>
        <p:blipFill>
          <a:blip r:embed="rId2"/>
          <a:stretch>
            <a:fillRect/>
          </a:stretch>
        </p:blipFill>
        <p:spPr>
          <a:xfrm>
            <a:off x="785192" y="1417638"/>
            <a:ext cx="7673009" cy="4880429"/>
          </a:xfrm>
          <a:prstGeom prst="rect">
            <a:avLst/>
          </a:prstGeom>
        </p:spPr>
      </p:pic>
      <p:sp>
        <p:nvSpPr>
          <p:cNvPr id="5" name="文本框 4"/>
          <p:cNvSpPr txBox="1"/>
          <p:nvPr/>
        </p:nvSpPr>
        <p:spPr>
          <a:xfrm flipH="1">
            <a:off x="457199" y="6327886"/>
            <a:ext cx="8378687" cy="369332"/>
          </a:xfrm>
          <a:prstGeom prst="rect">
            <a:avLst/>
          </a:prstGeom>
          <a:noFill/>
        </p:spPr>
        <p:txBody>
          <a:bodyPr wrap="square" rtlCol="0">
            <a:spAutoFit/>
          </a:bodyPr>
          <a:lstStyle/>
          <a:p>
            <a:r>
              <a:rPr lang="en-US" altLang="zh-CN" dirty="0">
                <a:solidFill>
                  <a:srgbClr val="FF0000"/>
                </a:solidFill>
              </a:rPr>
              <a:t>Q: how to prove electrons are waves?</a:t>
            </a:r>
            <a:endParaRPr lang="zh-CN" altLang="en-US" dirty="0">
              <a:solidFill>
                <a:srgbClr val="FF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 The uncertainty principle</a:t>
            </a:r>
            <a:endParaRPr lang="zh-CN" altLang="en-US" dirty="0"/>
          </a:p>
        </p:txBody>
      </p:sp>
      <p:pic>
        <p:nvPicPr>
          <p:cNvPr id="3" name="图片 2"/>
          <p:cNvPicPr>
            <a:picLocks noChangeAspect="1"/>
          </p:cNvPicPr>
          <p:nvPr/>
        </p:nvPicPr>
        <p:blipFill>
          <a:blip r:embed="rId2"/>
          <a:stretch>
            <a:fillRect/>
          </a:stretch>
        </p:blipFill>
        <p:spPr>
          <a:xfrm>
            <a:off x="213678" y="2196548"/>
            <a:ext cx="8830931" cy="25555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013791" y="1249809"/>
            <a:ext cx="7295322" cy="5464931"/>
          </a:xfrm>
          <a:prstGeom prst="rect">
            <a:avLst/>
          </a:prstGeom>
        </p:spPr>
      </p:pic>
      <p:sp>
        <p:nvSpPr>
          <p:cNvPr id="4" name="文本框 3"/>
          <p:cNvSpPr txBox="1"/>
          <p:nvPr/>
        </p:nvSpPr>
        <p:spPr>
          <a:xfrm>
            <a:off x="427383" y="526773"/>
            <a:ext cx="8030817" cy="369332"/>
          </a:xfrm>
          <a:prstGeom prst="rect">
            <a:avLst/>
          </a:prstGeom>
          <a:noFill/>
        </p:spPr>
        <p:txBody>
          <a:bodyPr wrap="square" rtlCol="0">
            <a:spAutoFit/>
          </a:bodyPr>
          <a:lstStyle/>
          <a:p>
            <a:r>
              <a:rPr lang="zh-CN" altLang="en-US" dirty="0"/>
              <a:t>从不确定性原理角度看光的单缝衍射实验：</a:t>
            </a:r>
          </a:p>
        </p:txBody>
      </p:sp>
      <p:pic>
        <p:nvPicPr>
          <p:cNvPr id="5" name="图片 4"/>
          <p:cNvPicPr>
            <a:picLocks noChangeAspect="1"/>
          </p:cNvPicPr>
          <p:nvPr/>
        </p:nvPicPr>
        <p:blipFill>
          <a:blip r:embed="rId3"/>
          <a:stretch>
            <a:fillRect/>
          </a:stretch>
        </p:blipFill>
        <p:spPr>
          <a:xfrm>
            <a:off x="5651639" y="143260"/>
            <a:ext cx="2571750" cy="134302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蝶恋花</a:t>
            </a:r>
            <a:r>
              <a:rPr lang="en-US" altLang="zh-CN"/>
              <a:t> </a:t>
            </a:r>
            <a:r>
              <a:rPr lang="zh-CN" altLang="en-US"/>
              <a:t>（晏殊）</a:t>
            </a:r>
          </a:p>
        </p:txBody>
      </p:sp>
      <p:sp>
        <p:nvSpPr>
          <p:cNvPr id="4" name="内容占位符 3"/>
          <p:cNvSpPr>
            <a:spLocks noGrp="1"/>
          </p:cNvSpPr>
          <p:nvPr>
            <p:ph idx="1"/>
          </p:nvPr>
        </p:nvSpPr>
        <p:spPr/>
        <p:txBody>
          <a:bodyPr/>
          <a:lstStyle/>
          <a:p>
            <a:pPr marL="0" indent="0">
              <a:buNone/>
            </a:pPr>
            <a:r>
              <a:rPr lang="zh-CN" altLang="en-US"/>
              <a:t>槛菊愁烟兰泣露，罗幕轻寒，燕子双飞去。明月不谙离恨苦，斜光到晓穿朱户。</a:t>
            </a:r>
          </a:p>
          <a:p>
            <a:pPr marL="0" indent="0">
              <a:buNone/>
            </a:pPr>
            <a:r>
              <a:rPr lang="zh-CN" altLang="en-US"/>
              <a:t>昨夜西风凋碧树，独上高楼，望尽天涯路。欲寄彩笺兼尺素，山长水阔知何处？</a:t>
            </a:r>
          </a:p>
        </p:txBody>
      </p:sp>
      <p:sp>
        <p:nvSpPr>
          <p:cNvPr id="5" name="文本框 4"/>
          <p:cNvSpPr txBox="1"/>
          <p:nvPr/>
        </p:nvSpPr>
        <p:spPr>
          <a:xfrm>
            <a:off x="515620" y="5560695"/>
            <a:ext cx="6922135" cy="460375"/>
          </a:xfrm>
          <a:prstGeom prst="rect">
            <a:avLst/>
          </a:prstGeom>
          <a:noFill/>
        </p:spPr>
        <p:txBody>
          <a:bodyPr wrap="none" rtlCol="0">
            <a:spAutoFit/>
          </a:bodyPr>
          <a:lstStyle/>
          <a:p>
            <a:r>
              <a:rPr lang="en-US" altLang="zh-CN" sz="2400">
                <a:solidFill>
                  <a:schemeClr val="tx1">
                    <a:lumMod val="50000"/>
                    <a:lumOff val="50000"/>
                  </a:schemeClr>
                </a:solidFill>
              </a:rPr>
              <a:t>--&gt;</a:t>
            </a:r>
            <a:r>
              <a:rPr lang="zh-CN" altLang="en-US" sz="2400">
                <a:solidFill>
                  <a:schemeClr val="tx1">
                    <a:lumMod val="50000"/>
                    <a:lumOff val="50000"/>
                  </a:schemeClr>
                </a:solidFill>
              </a:rPr>
              <a:t>学习的第二层、第三层境界，主要靠个人努力！</a:t>
            </a:r>
          </a:p>
        </p:txBody>
      </p:sp>
    </p:spTree>
  </p:cSld>
  <p:clrMapOvr>
    <a:masterClrMapping/>
  </p:clrMapOvr>
</p:sld>
</file>

<file path=ppt/theme/theme1.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1108</Words>
  <Application>Microsoft Office PowerPoint</Application>
  <PresentationFormat>全屏显示(4:3)</PresentationFormat>
  <Paragraphs>58</Paragraphs>
  <Slides>24</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24</vt:i4>
      </vt:variant>
    </vt:vector>
  </HeadingPairs>
  <TitlesOfParts>
    <vt:vector size="27" baseType="lpstr">
      <vt:lpstr>Arial</vt:lpstr>
      <vt:lpstr>Calibri</vt:lpstr>
      <vt:lpstr>Office 主题</vt:lpstr>
      <vt:lpstr>Ch0.1 What is light?</vt:lpstr>
      <vt:lpstr>PowerPoint 演示文稿</vt:lpstr>
      <vt:lpstr>1. Conclusion</vt:lpstr>
      <vt:lpstr>2. The corpuscular model</vt:lpstr>
      <vt:lpstr>PowerPoint 演示文稿</vt:lpstr>
      <vt:lpstr>PowerPoint 演示文稿</vt:lpstr>
      <vt:lpstr>Geometrical optics</vt:lpstr>
      <vt:lpstr>However…</vt:lpstr>
      <vt:lpstr>PowerPoint 演示文稿</vt:lpstr>
      <vt:lpstr>PowerPoint 演示文稿</vt:lpstr>
      <vt:lpstr>PowerPoint 演示文稿</vt:lpstr>
      <vt:lpstr>Chronicles</vt:lpstr>
      <vt:lpstr>3. The wave model</vt:lpstr>
      <vt:lpstr>PowerPoint 演示文稿</vt:lpstr>
      <vt:lpstr>PowerPoint 演示文稿</vt:lpstr>
      <vt:lpstr>PowerPoint 演示文稿</vt:lpstr>
      <vt:lpstr>4. The particle nature of radiation</vt:lpstr>
      <vt:lpstr>PowerPoint 演示文稿</vt:lpstr>
      <vt:lpstr>PowerPoint 演示文稿</vt:lpstr>
      <vt:lpstr>PowerPoint 演示文稿</vt:lpstr>
      <vt:lpstr>5. Wave nature of matter</vt:lpstr>
      <vt:lpstr>6. The uncertainty principle</vt:lpstr>
      <vt:lpstr>PowerPoint 演示文稿</vt:lpstr>
      <vt:lpstr>蝶恋花 （晏殊）</vt:lpstr>
    </vt:vector>
  </TitlesOfParts>
  <Company>xao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辐射机制 </dc:title>
  <dc:creator>tong h</dc:creator>
  <cp:lastModifiedBy>tong hao</cp:lastModifiedBy>
  <cp:revision>241</cp:revision>
  <dcterms:created xsi:type="dcterms:W3CDTF">2018-02-28T06:12:00Z</dcterms:created>
  <dcterms:modified xsi:type="dcterms:W3CDTF">2022-09-02T01:08:41Z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2052-11.1.0.10700</vt:lpwstr>
  </property>
  <property fmtid="{D5CDD505-2E9C-101B-9397-08002B2CF9AE}" pid="3" name="ICV">
    <vt:lpwstr>FD43C9069A234425981F8D1285CD1409</vt:lpwstr>
  </property>
</Properties>
</file>