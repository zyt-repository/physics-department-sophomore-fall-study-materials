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3"/>
  </p:notesMasterIdLst>
  <p:sldIdLst>
    <p:sldId id="312" r:id="rId2"/>
    <p:sldId id="313" r:id="rId3"/>
    <p:sldId id="314" r:id="rId4"/>
    <p:sldId id="315" r:id="rId5"/>
    <p:sldId id="316" r:id="rId6"/>
    <p:sldId id="321" r:id="rId7"/>
    <p:sldId id="317" r:id="rId8"/>
    <p:sldId id="322" r:id="rId9"/>
    <p:sldId id="318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5" r:id="rId18"/>
    <p:sldId id="276" r:id="rId19"/>
    <p:sldId id="277" r:id="rId20"/>
    <p:sldId id="326" r:id="rId21"/>
    <p:sldId id="327" r:id="rId22"/>
    <p:sldId id="405" r:id="rId23"/>
    <p:sldId id="298" r:id="rId24"/>
    <p:sldId id="406" r:id="rId25"/>
    <p:sldId id="407" r:id="rId26"/>
    <p:sldId id="401" r:id="rId27"/>
    <p:sldId id="402" r:id="rId28"/>
    <p:sldId id="403" r:id="rId29"/>
    <p:sldId id="404" r:id="rId30"/>
    <p:sldId id="824" r:id="rId31"/>
    <p:sldId id="825" r:id="rId32"/>
    <p:sldId id="442" r:id="rId33"/>
    <p:sldId id="443" r:id="rId34"/>
    <p:sldId id="444" r:id="rId35"/>
    <p:sldId id="445" r:id="rId36"/>
    <p:sldId id="446" r:id="rId37"/>
    <p:sldId id="811" r:id="rId38"/>
    <p:sldId id="817" r:id="rId39"/>
    <p:sldId id="812" r:id="rId40"/>
    <p:sldId id="813" r:id="rId41"/>
    <p:sldId id="814" r:id="rId42"/>
    <p:sldId id="815" r:id="rId43"/>
    <p:sldId id="816" r:id="rId44"/>
    <p:sldId id="818" r:id="rId45"/>
    <p:sldId id="819" r:id="rId46"/>
    <p:sldId id="820" r:id="rId47"/>
    <p:sldId id="821" r:id="rId48"/>
    <p:sldId id="822" r:id="rId49"/>
    <p:sldId id="823" r:id="rId50"/>
    <p:sldId id="257" r:id="rId51"/>
    <p:sldId id="258" r:id="rId52"/>
    <p:sldId id="259" r:id="rId53"/>
    <p:sldId id="260" r:id="rId54"/>
    <p:sldId id="261" r:id="rId55"/>
    <p:sldId id="262" r:id="rId56"/>
    <p:sldId id="263" r:id="rId57"/>
    <p:sldId id="264" r:id="rId58"/>
    <p:sldId id="409" r:id="rId59"/>
    <p:sldId id="410" r:id="rId60"/>
    <p:sldId id="411" r:id="rId61"/>
    <p:sldId id="412" r:id="rId6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/>
    <p:restoredTop sz="85111" autoAdjust="0"/>
  </p:normalViewPr>
  <p:slideViewPr>
    <p:cSldViewPr snapToGrid="0" snapToObjects="1">
      <p:cViewPr varScale="1">
        <p:scale>
          <a:sx n="97" d="100"/>
          <a:sy n="97" d="100"/>
        </p:scale>
        <p:origin x="20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6708B-BA3D-40F4-92F0-A43B09E09840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78E35-83EA-4FB7-9BF5-2BDFFC3628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830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6E4DABF7-0180-4833-F5BF-16B1FB84343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1200"/>
              <a:t>1</a:t>
            </a:r>
            <a:endParaRPr lang="en-US" altLang="zh-CN" sz="120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AB8417E-8AE0-FC57-665B-3330190856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9EE8000F-9FF0-433F-ACCC-43524D07D843}" type="slidenum">
              <a:rPr lang="zh-CN" altLang="en-US" sz="1200"/>
              <a:pPr/>
              <a:t>1</a:t>
            </a:fld>
            <a:endParaRPr lang="en-US" altLang="zh-CN" sz="12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5CF6A106-F42B-17FA-8216-1C174AEA60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11591246-1F7E-A714-87DC-EE8DFCB7D7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55B614E-44AB-C2C1-DB53-D8E926DCE44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1200"/>
              <a:t>1</a:t>
            </a:r>
            <a:endParaRPr lang="en-US" altLang="zh-CN" sz="1200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1518441-9630-914E-F4C3-A0F5FEB437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DCA4AFCC-0883-4436-8964-260B34354B8D}" type="slidenum">
              <a:rPr lang="zh-CN" altLang="en-US" sz="1200"/>
              <a:pPr/>
              <a:t>7</a:t>
            </a:fld>
            <a:endParaRPr lang="en-US" altLang="zh-CN" sz="12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BD13F7B4-8D7E-1273-2A32-62B4457C03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C55716D-C549-23E0-8E7E-209F52F9A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78E35-83EA-4FB7-9BF5-2BDFFC3628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632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4DF87832-F452-1D1B-16A9-FA696A06C5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EF64B0BE-C8B9-19EC-C75F-6F38258CB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7F01471C-9137-2567-88DA-39EC498C3F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DB6278B-7B9D-428C-B4C2-B0652B1E00FD}" type="slidenum">
              <a:rPr lang="zh-CN" altLang="en-US" sz="1200" smtClean="0"/>
              <a:pPr/>
              <a:t>26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>
            <a:extLst>
              <a:ext uri="{FF2B5EF4-FFF2-40B4-BE49-F238E27FC236}">
                <a16:creationId xmlns:a16="http://schemas.microsoft.com/office/drawing/2014/main" id="{4E237EE7-F259-F1EC-A669-05EEE0D6FF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>
            <a:extLst>
              <a:ext uri="{FF2B5EF4-FFF2-40B4-BE49-F238E27FC236}">
                <a16:creationId xmlns:a16="http://schemas.microsoft.com/office/drawing/2014/main" id="{F4A40AFF-EFC2-EB92-9EC5-CBE61BA8E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65540" name="灯片编号占位符 3">
            <a:extLst>
              <a:ext uri="{FF2B5EF4-FFF2-40B4-BE49-F238E27FC236}">
                <a16:creationId xmlns:a16="http://schemas.microsoft.com/office/drawing/2014/main" id="{A95E9EE8-B107-E93C-958F-235AA0E521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4DD1F83-2CF7-47CF-B05F-A4E5B9C63197}" type="slidenum">
              <a:rPr lang="zh-CN" altLang="en-US" sz="1200" smtClean="0"/>
              <a:pPr/>
              <a:t>27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>
            <a:extLst>
              <a:ext uri="{FF2B5EF4-FFF2-40B4-BE49-F238E27FC236}">
                <a16:creationId xmlns:a16="http://schemas.microsoft.com/office/drawing/2014/main" id="{C3D30F55-8A79-8C66-74C7-F6FD0D8EDF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>
            <a:extLst>
              <a:ext uri="{FF2B5EF4-FFF2-40B4-BE49-F238E27FC236}">
                <a16:creationId xmlns:a16="http://schemas.microsoft.com/office/drawing/2014/main" id="{91EFA674-09C2-D303-69F0-531ED2799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67588" name="灯片编号占位符 3">
            <a:extLst>
              <a:ext uri="{FF2B5EF4-FFF2-40B4-BE49-F238E27FC236}">
                <a16:creationId xmlns:a16="http://schemas.microsoft.com/office/drawing/2014/main" id="{A6F26AD7-932E-CE09-406D-4731282620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574913A-99A7-4380-955E-1B9FA7CF3464}" type="slidenum">
              <a:rPr lang="zh-CN" altLang="en-US" sz="1200" smtClean="0"/>
              <a:pPr/>
              <a:t>28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>
            <a:extLst>
              <a:ext uri="{FF2B5EF4-FFF2-40B4-BE49-F238E27FC236}">
                <a16:creationId xmlns:a16="http://schemas.microsoft.com/office/drawing/2014/main" id="{02816998-A972-05F7-0F1A-B2566A5D2A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>
            <a:extLst>
              <a:ext uri="{FF2B5EF4-FFF2-40B4-BE49-F238E27FC236}">
                <a16:creationId xmlns:a16="http://schemas.microsoft.com/office/drawing/2014/main" id="{01ECF1C6-1DDE-71DA-355C-95B5EB57E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69636" name="灯片编号占位符 3">
            <a:extLst>
              <a:ext uri="{FF2B5EF4-FFF2-40B4-BE49-F238E27FC236}">
                <a16:creationId xmlns:a16="http://schemas.microsoft.com/office/drawing/2014/main" id="{667A411C-8EC4-92B8-4FDA-B72A2F3CB7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47DCFEF-BA01-4312-9F51-D648055AA16C}" type="slidenum">
              <a:rPr lang="zh-CN" altLang="en-US" sz="1200" smtClean="0"/>
              <a:pPr/>
              <a:t>29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>
            <a:extLst>
              <a:ext uri="{FF2B5EF4-FFF2-40B4-BE49-F238E27FC236}">
                <a16:creationId xmlns:a16="http://schemas.microsoft.com/office/drawing/2014/main" id="{29D04F14-3564-6CD8-9BA2-FB57C04F5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>
            <a:extLst>
              <a:ext uri="{FF2B5EF4-FFF2-40B4-BE49-F238E27FC236}">
                <a16:creationId xmlns:a16="http://schemas.microsoft.com/office/drawing/2014/main" id="{E43DC5B3-1A12-C26C-02B7-18AD05935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71684" name="灯片编号占位符 3">
            <a:extLst>
              <a:ext uri="{FF2B5EF4-FFF2-40B4-BE49-F238E27FC236}">
                <a16:creationId xmlns:a16="http://schemas.microsoft.com/office/drawing/2014/main" id="{B4DA5570-2F90-94B9-3087-E221C1D80E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8D4DE5A-5569-4E0B-A39A-B10FBBBEE7DB}" type="slidenum">
              <a:rPr lang="zh-CN" altLang="en-US" sz="1200" smtClean="0"/>
              <a:pPr/>
              <a:t>30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>
            <a:extLst>
              <a:ext uri="{FF2B5EF4-FFF2-40B4-BE49-F238E27FC236}">
                <a16:creationId xmlns:a16="http://schemas.microsoft.com/office/drawing/2014/main" id="{06E79AFE-1427-C313-2D04-0C0469D02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>
            <a:extLst>
              <a:ext uri="{FF2B5EF4-FFF2-40B4-BE49-F238E27FC236}">
                <a16:creationId xmlns:a16="http://schemas.microsoft.com/office/drawing/2014/main" id="{FC8FC4DE-9BBF-8918-60A3-449534A6E5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73732" name="灯片编号占位符 3">
            <a:extLst>
              <a:ext uri="{FF2B5EF4-FFF2-40B4-BE49-F238E27FC236}">
                <a16:creationId xmlns:a16="http://schemas.microsoft.com/office/drawing/2014/main" id="{C9A1EB34-2BD4-23B0-24E9-EA9F27C17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962A974-0A90-4402-A1F8-991745C16866}" type="slidenum">
              <a:rPr lang="zh-CN" altLang="en-US" sz="1200" smtClean="0"/>
              <a:pPr/>
              <a:t>31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7DDCCD-8400-4F6C-9244-377360035634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01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7DDCCD-8400-4F6C-9244-377360035634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700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7DDCCD-8400-4F6C-9244-377360035634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501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7DDCCD-8400-4F6C-9244-377360035634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180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7DDCCD-8400-4F6C-9244-377360035634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842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F45E6-5D27-4DAB-A74F-3ACF7AB04738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884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841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039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537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556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284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6809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046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728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6547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2219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16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9A904-0526-E942-BB74-3EE8A8E4C2EE}" type="datetimeFigureOut">
              <a:rPr kumimoji="1" lang="zh-CN" altLang="en-US" smtClean="0"/>
              <a:t>2024/12/25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C6330-728B-644E-B4F1-CAB90FBD4A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15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1.bin"/><Relationship Id="rId3" Type="http://schemas.openxmlformats.org/officeDocument/2006/relationships/image" Target="../media/image9.wmf"/><Relationship Id="rId21" Type="http://schemas.openxmlformats.org/officeDocument/2006/relationships/image" Target="../media/image18.wmf"/><Relationship Id="rId34" Type="http://schemas.openxmlformats.org/officeDocument/2006/relationships/oleObject" Target="../embeddings/oleObject25.bin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6.wmf"/><Relationship Id="rId25" Type="http://schemas.openxmlformats.org/officeDocument/2006/relationships/image" Target="../media/image20.wmf"/><Relationship Id="rId33" Type="http://schemas.openxmlformats.org/officeDocument/2006/relationships/image" Target="../media/image24.w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29" Type="http://schemas.openxmlformats.org/officeDocument/2006/relationships/image" Target="../media/image2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3.wmf"/><Relationship Id="rId24" Type="http://schemas.openxmlformats.org/officeDocument/2006/relationships/oleObject" Target="../embeddings/oleObject20.bin"/><Relationship Id="rId32" Type="http://schemas.openxmlformats.org/officeDocument/2006/relationships/oleObject" Target="../embeddings/oleObject24.bin"/><Relationship Id="rId37" Type="http://schemas.openxmlformats.org/officeDocument/2006/relationships/image" Target="../media/image26.e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23" Type="http://schemas.openxmlformats.org/officeDocument/2006/relationships/image" Target="../media/image19.wmf"/><Relationship Id="rId28" Type="http://schemas.openxmlformats.org/officeDocument/2006/relationships/oleObject" Target="../embeddings/oleObject22.bin"/><Relationship Id="rId36" Type="http://schemas.openxmlformats.org/officeDocument/2006/relationships/oleObject" Target="../embeddings/oleObject26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7.wmf"/><Relationship Id="rId31" Type="http://schemas.openxmlformats.org/officeDocument/2006/relationships/image" Target="../media/image23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Relationship Id="rId27" Type="http://schemas.openxmlformats.org/officeDocument/2006/relationships/image" Target="../media/image21.wmf"/><Relationship Id="rId30" Type="http://schemas.openxmlformats.org/officeDocument/2006/relationships/oleObject" Target="../embeddings/oleObject23.bin"/><Relationship Id="rId35" Type="http://schemas.openxmlformats.org/officeDocument/2006/relationships/image" Target="../media/image2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1.wmf"/><Relationship Id="rId2" Type="http://schemas.openxmlformats.org/officeDocument/2006/relationships/hyperlink" Target="../&#26222;&#29289;B/&#20027;&#30028;&#38754;.ppt#-1,22,&#24187;&#28783;&#29255; 22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8.wmf"/><Relationship Id="rId18" Type="http://schemas.openxmlformats.org/officeDocument/2006/relationships/oleObject" Target="../embeddings/oleObject41.bin"/><Relationship Id="rId26" Type="http://schemas.openxmlformats.org/officeDocument/2006/relationships/oleObject" Target="../embeddings/oleObject45.bin"/><Relationship Id="rId3" Type="http://schemas.openxmlformats.org/officeDocument/2006/relationships/image" Target="../media/image33.wmf"/><Relationship Id="rId21" Type="http://schemas.openxmlformats.org/officeDocument/2006/relationships/image" Target="../media/image42.wmf"/><Relationship Id="rId34" Type="http://schemas.openxmlformats.org/officeDocument/2006/relationships/oleObject" Target="../embeddings/oleObject49.bin"/><Relationship Id="rId7" Type="http://schemas.openxmlformats.org/officeDocument/2006/relationships/image" Target="../media/image35.e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40.wmf"/><Relationship Id="rId25" Type="http://schemas.openxmlformats.org/officeDocument/2006/relationships/image" Target="../media/image44.wmf"/><Relationship Id="rId33" Type="http://schemas.openxmlformats.org/officeDocument/2006/relationships/image" Target="../media/image48.wmf"/><Relationship Id="rId2" Type="http://schemas.openxmlformats.org/officeDocument/2006/relationships/oleObject" Target="../embeddings/oleObject33.bin"/><Relationship Id="rId16" Type="http://schemas.openxmlformats.org/officeDocument/2006/relationships/oleObject" Target="../embeddings/oleObject40.bin"/><Relationship Id="rId20" Type="http://schemas.openxmlformats.org/officeDocument/2006/relationships/oleObject" Target="../embeddings/oleObject42.bin"/><Relationship Id="rId29" Type="http://schemas.openxmlformats.org/officeDocument/2006/relationships/image" Target="../media/image4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7.wmf"/><Relationship Id="rId24" Type="http://schemas.openxmlformats.org/officeDocument/2006/relationships/oleObject" Target="../embeddings/oleObject44.bin"/><Relationship Id="rId32" Type="http://schemas.openxmlformats.org/officeDocument/2006/relationships/oleObject" Target="../embeddings/oleObject48.bin"/><Relationship Id="rId37" Type="http://schemas.openxmlformats.org/officeDocument/2006/relationships/image" Target="../media/image49.wmf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23" Type="http://schemas.openxmlformats.org/officeDocument/2006/relationships/image" Target="../media/image43.wmf"/><Relationship Id="rId28" Type="http://schemas.openxmlformats.org/officeDocument/2006/relationships/oleObject" Target="../embeddings/oleObject46.bin"/><Relationship Id="rId36" Type="http://schemas.openxmlformats.org/officeDocument/2006/relationships/oleObject" Target="../embeddings/oleObject51.bin"/><Relationship Id="rId10" Type="http://schemas.openxmlformats.org/officeDocument/2006/relationships/oleObject" Target="../embeddings/oleObject37.bin"/><Relationship Id="rId19" Type="http://schemas.openxmlformats.org/officeDocument/2006/relationships/image" Target="../media/image41.wmf"/><Relationship Id="rId31" Type="http://schemas.openxmlformats.org/officeDocument/2006/relationships/image" Target="../media/image47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6.emf"/><Relationship Id="rId14" Type="http://schemas.openxmlformats.org/officeDocument/2006/relationships/oleObject" Target="../embeddings/oleObject39.bin"/><Relationship Id="rId22" Type="http://schemas.openxmlformats.org/officeDocument/2006/relationships/oleObject" Target="../embeddings/oleObject43.bin"/><Relationship Id="rId27" Type="http://schemas.openxmlformats.org/officeDocument/2006/relationships/image" Target="../media/image45.wmf"/><Relationship Id="rId30" Type="http://schemas.openxmlformats.org/officeDocument/2006/relationships/oleObject" Target="../embeddings/oleObject47.bin"/><Relationship Id="rId35" Type="http://schemas.openxmlformats.org/officeDocument/2006/relationships/oleObject" Target="../embeddings/oleObject5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60.bin"/><Relationship Id="rId3" Type="http://schemas.openxmlformats.org/officeDocument/2006/relationships/image" Target="../media/image50.wmf"/><Relationship Id="rId21" Type="http://schemas.openxmlformats.org/officeDocument/2006/relationships/image" Target="../media/image57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55.wmf"/><Relationship Id="rId2" Type="http://schemas.openxmlformats.org/officeDocument/2006/relationships/oleObject" Target="../embeddings/oleObject52.bin"/><Relationship Id="rId16" Type="http://schemas.openxmlformats.org/officeDocument/2006/relationships/oleObject" Target="../embeddings/oleObject59.bin"/><Relationship Id="rId20" Type="http://schemas.openxmlformats.org/officeDocument/2006/relationships/oleObject" Target="../embeddings/oleObject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52.wmf"/><Relationship Id="rId5" Type="http://schemas.openxmlformats.org/officeDocument/2006/relationships/image" Target="../media/image38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5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67.wmf"/><Relationship Id="rId26" Type="http://schemas.openxmlformats.org/officeDocument/2006/relationships/image" Target="../media/image71.wmf"/><Relationship Id="rId39" Type="http://schemas.openxmlformats.org/officeDocument/2006/relationships/oleObject" Target="../embeddings/oleObject81.bin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72.bin"/><Relationship Id="rId34" Type="http://schemas.openxmlformats.org/officeDocument/2006/relationships/image" Target="../media/image75.wmf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5.wmf"/><Relationship Id="rId17" Type="http://schemas.openxmlformats.org/officeDocument/2006/relationships/oleObject" Target="../embeddings/oleObject70.bin"/><Relationship Id="rId25" Type="http://schemas.openxmlformats.org/officeDocument/2006/relationships/oleObject" Target="../embeddings/oleObject74.bin"/><Relationship Id="rId33" Type="http://schemas.openxmlformats.org/officeDocument/2006/relationships/oleObject" Target="../embeddings/oleObject78.bin"/><Relationship Id="rId38" Type="http://schemas.openxmlformats.org/officeDocument/2006/relationships/image" Target="../media/image77.w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66.wmf"/><Relationship Id="rId20" Type="http://schemas.openxmlformats.org/officeDocument/2006/relationships/image" Target="../media/image68.wmf"/><Relationship Id="rId29" Type="http://schemas.openxmlformats.org/officeDocument/2006/relationships/oleObject" Target="../embeddings/oleObject76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70.wmf"/><Relationship Id="rId32" Type="http://schemas.openxmlformats.org/officeDocument/2006/relationships/image" Target="../media/image74.wmf"/><Relationship Id="rId37" Type="http://schemas.openxmlformats.org/officeDocument/2006/relationships/oleObject" Target="../embeddings/oleObject80.bin"/><Relationship Id="rId40" Type="http://schemas.openxmlformats.org/officeDocument/2006/relationships/image" Target="../media/image78.w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69.bin"/><Relationship Id="rId23" Type="http://schemas.openxmlformats.org/officeDocument/2006/relationships/oleObject" Target="../embeddings/oleObject73.bin"/><Relationship Id="rId28" Type="http://schemas.openxmlformats.org/officeDocument/2006/relationships/image" Target="../media/image72.wmf"/><Relationship Id="rId36" Type="http://schemas.openxmlformats.org/officeDocument/2006/relationships/image" Target="../media/image76.wmf"/><Relationship Id="rId10" Type="http://schemas.openxmlformats.org/officeDocument/2006/relationships/image" Target="../media/image64.wmf"/><Relationship Id="rId19" Type="http://schemas.openxmlformats.org/officeDocument/2006/relationships/oleObject" Target="../embeddings/oleObject71.bin"/><Relationship Id="rId31" Type="http://schemas.openxmlformats.org/officeDocument/2006/relationships/oleObject" Target="../embeddings/oleObject77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5.bin"/><Relationship Id="rId14" Type="http://schemas.openxmlformats.org/officeDocument/2006/relationships/oleObject" Target="../embeddings/oleObject68.bin"/><Relationship Id="rId22" Type="http://schemas.openxmlformats.org/officeDocument/2006/relationships/image" Target="../media/image69.wmf"/><Relationship Id="rId27" Type="http://schemas.openxmlformats.org/officeDocument/2006/relationships/oleObject" Target="../embeddings/oleObject75.bin"/><Relationship Id="rId30" Type="http://schemas.openxmlformats.org/officeDocument/2006/relationships/image" Target="../media/image73.wmf"/><Relationship Id="rId35" Type="http://schemas.openxmlformats.org/officeDocument/2006/relationships/oleObject" Target="../embeddings/oleObject7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86.e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89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5.wmf"/><Relationship Id="rId20" Type="http://schemas.openxmlformats.org/officeDocument/2006/relationships/image" Target="../media/image8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10" Type="http://schemas.openxmlformats.org/officeDocument/2006/relationships/image" Target="../media/image82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4.emf"/><Relationship Id="rId22" Type="http://schemas.openxmlformats.org/officeDocument/2006/relationships/image" Target="../media/image8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2" Type="http://schemas.openxmlformats.org/officeDocument/2006/relationships/oleObject" Target="../embeddings/oleObject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4.bin"/><Relationship Id="rId5" Type="http://schemas.openxmlformats.org/officeDocument/2006/relationships/image" Target="../media/image90.wmf"/><Relationship Id="rId4" Type="http://schemas.openxmlformats.org/officeDocument/2006/relationships/oleObject" Target="../embeddings/oleObject93.bin"/><Relationship Id="rId9" Type="http://schemas.openxmlformats.org/officeDocument/2006/relationships/image" Target="../media/image92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3" Type="http://schemas.openxmlformats.org/officeDocument/2006/relationships/image" Target="../media/image112.png"/><Relationship Id="rId7" Type="http://schemas.openxmlformats.org/officeDocument/2006/relationships/image" Target="../media/image114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116.wmf"/><Relationship Id="rId5" Type="http://schemas.openxmlformats.org/officeDocument/2006/relationships/image" Target="../media/image113.wmf"/><Relationship Id="rId10" Type="http://schemas.openxmlformats.org/officeDocument/2006/relationships/oleObject" Target="../embeddings/oleObject99.bin"/><Relationship Id="rId4" Type="http://schemas.openxmlformats.org/officeDocument/2006/relationships/oleObject" Target="../embeddings/oleObject96.bin"/><Relationship Id="rId9" Type="http://schemas.openxmlformats.org/officeDocument/2006/relationships/image" Target="../media/image115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1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126.png"/><Relationship Id="rId4" Type="http://schemas.openxmlformats.org/officeDocument/2006/relationships/oleObject" Target="../embeddings/oleObject103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4.bin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8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5.bin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8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7.bin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35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8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48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6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3" Type="http://schemas.openxmlformats.org/officeDocument/2006/relationships/oleObject" Target="../embeddings/oleObject113.bin"/><Relationship Id="rId7" Type="http://schemas.openxmlformats.org/officeDocument/2006/relationships/image" Target="../media/image20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58.wmf"/><Relationship Id="rId9" Type="http://schemas.openxmlformats.org/officeDocument/2006/relationships/image" Target="../media/image160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3" Type="http://schemas.openxmlformats.org/officeDocument/2006/relationships/oleObject" Target="../embeddings/oleObject116.bin"/><Relationship Id="rId7" Type="http://schemas.openxmlformats.org/officeDocument/2006/relationships/image" Target="../media/image25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62.wmf"/><Relationship Id="rId9" Type="http://schemas.openxmlformats.org/officeDocument/2006/relationships/image" Target="../media/image164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w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66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6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96FE7B2B-374E-3E73-00C7-18A766A81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88913"/>
            <a:ext cx="31067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accent2"/>
                </a:solidFill>
                <a:latin typeface="Times New Roman" charset="0"/>
                <a:ea typeface="宋体" charset="-122"/>
              </a:rPr>
              <a:t>一、重要概念</a:t>
            </a:r>
          </a:p>
        </p:txBody>
      </p:sp>
      <p:graphicFrame>
        <p:nvGraphicFramePr>
          <p:cNvPr id="13315" name="Object 3">
            <a:extLst>
              <a:ext uri="{FF2B5EF4-FFF2-40B4-BE49-F238E27FC236}">
                <a16:creationId xmlns:a16="http://schemas.microsoft.com/office/drawing/2014/main" id="{9338EB7F-0F38-9169-3E21-A43E93DE01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777875"/>
          <a:ext cx="10668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7002" imgH="177723" progId="Equation.3">
                  <p:embed/>
                </p:oleObj>
              </mc:Choice>
              <mc:Fallback>
                <p:oleObj name="Equation" r:id="rId3" imgW="457002" imgH="177723" progId="Equation.3">
                  <p:embed/>
                  <p:pic>
                    <p:nvPicPr>
                      <p:cNvPr id="13315" name="Object 3">
                        <a:extLst>
                          <a:ext uri="{FF2B5EF4-FFF2-40B4-BE49-F238E27FC236}">
                            <a16:creationId xmlns:a16="http://schemas.microsoft.com/office/drawing/2014/main" id="{9338EB7F-0F38-9169-3E21-A43E93DE01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777875"/>
                        <a:ext cx="10668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91CDF8B5-5F01-EE0E-2E5A-1DAB213BD2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1847850"/>
          <a:ext cx="34417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441700" imgH="419100" progId="Equation.3">
                  <p:embed/>
                </p:oleObj>
              </mc:Choice>
              <mc:Fallback>
                <p:oleObj name="公式" r:id="rId5" imgW="3441700" imgH="419100" progId="Equation.3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91CDF8B5-5F01-EE0E-2E5A-1DAB213BD2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847850"/>
                        <a:ext cx="34417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>
            <a:extLst>
              <a:ext uri="{FF2B5EF4-FFF2-40B4-BE49-F238E27FC236}">
                <a16:creationId xmlns:a16="http://schemas.microsoft.com/office/drawing/2014/main" id="{69653EA7-BB48-07FC-1F06-7E1F52D5D7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2149475"/>
          <a:ext cx="1608138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00200" imgH="838200" progId="Equation.3">
                  <p:embed/>
                </p:oleObj>
              </mc:Choice>
              <mc:Fallback>
                <p:oleObj name="公式" r:id="rId7" imgW="1600200" imgH="838200" progId="Equation.3">
                  <p:embed/>
                  <p:pic>
                    <p:nvPicPr>
                      <p:cNvPr id="13317" name="Object 5">
                        <a:extLst>
                          <a:ext uri="{FF2B5EF4-FFF2-40B4-BE49-F238E27FC236}">
                            <a16:creationId xmlns:a16="http://schemas.microsoft.com/office/drawing/2014/main" id="{69653EA7-BB48-07FC-1F06-7E1F52D5D7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149475"/>
                        <a:ext cx="1608138" cy="8302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Text Box 6">
            <a:extLst>
              <a:ext uri="{FF2B5EF4-FFF2-40B4-BE49-F238E27FC236}">
                <a16:creationId xmlns:a16="http://schemas.microsoft.com/office/drawing/2014/main" id="{4A0AD70B-BF2F-0E19-C6A4-656631C73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4108450"/>
            <a:ext cx="4906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</a:rPr>
              <a:t>二、干涉加强和减弱的条件</a:t>
            </a:r>
          </a:p>
        </p:txBody>
      </p:sp>
      <p:sp>
        <p:nvSpPr>
          <p:cNvPr id="13319" name="Text Box 7">
            <a:extLst>
              <a:ext uri="{FF2B5EF4-FFF2-40B4-BE49-F238E27FC236}">
                <a16:creationId xmlns:a16="http://schemas.microsoft.com/office/drawing/2014/main" id="{A14A7252-307D-4711-1FB0-860B4FACA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5805488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kumimoji="1" lang="zh-CN" altLang="en-US" sz="2400">
                <a:latin typeface="Times New Roman" charset="0"/>
                <a:ea typeface="宋体" charset="-122"/>
              </a:rPr>
              <a:t> (</a:t>
            </a:r>
            <a:r>
              <a:rPr kumimoji="1" lang="en-US" altLang="zh-CN" sz="2400" i="1">
                <a:latin typeface="Times New Roman" charset="0"/>
                <a:ea typeface="宋体" charset="-122"/>
              </a:rPr>
              <a:t>k </a:t>
            </a:r>
            <a:r>
              <a:rPr kumimoji="1" lang="en-US" altLang="zh-CN" sz="2400">
                <a:latin typeface="Times New Roman" charset="0"/>
                <a:ea typeface="宋体" charset="-122"/>
              </a:rPr>
              <a:t>= 0,1,2,3…)</a:t>
            </a:r>
          </a:p>
        </p:txBody>
      </p:sp>
      <p:graphicFrame>
        <p:nvGraphicFramePr>
          <p:cNvPr id="13320" name="Object 8">
            <a:extLst>
              <a:ext uri="{FF2B5EF4-FFF2-40B4-BE49-F238E27FC236}">
                <a16:creationId xmlns:a16="http://schemas.microsoft.com/office/drawing/2014/main" id="{63F47C9B-41F5-F4A0-2585-161901556C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797425"/>
          <a:ext cx="34290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12900" imgH="482600" progId="Equation.3">
                  <p:embed/>
                </p:oleObj>
              </mc:Choice>
              <mc:Fallback>
                <p:oleObj name="Equation" r:id="rId9" imgW="1612900" imgH="482600" progId="Equation.3">
                  <p:embed/>
                  <p:pic>
                    <p:nvPicPr>
                      <p:cNvPr id="13320" name="Object 8">
                        <a:extLst>
                          <a:ext uri="{FF2B5EF4-FFF2-40B4-BE49-F238E27FC236}">
                            <a16:creationId xmlns:a16="http://schemas.microsoft.com/office/drawing/2014/main" id="{63F47C9B-41F5-F4A0-2585-161901556C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797425"/>
                        <a:ext cx="34290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>
            <a:extLst>
              <a:ext uri="{FF2B5EF4-FFF2-40B4-BE49-F238E27FC236}">
                <a16:creationId xmlns:a16="http://schemas.microsoft.com/office/drawing/2014/main" id="{62BAF3DA-B3CE-2DA4-00C8-132826F67A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4868863"/>
          <a:ext cx="36639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76400" imgH="482600" progId="Equation.3">
                  <p:embed/>
                </p:oleObj>
              </mc:Choice>
              <mc:Fallback>
                <p:oleObj name="Equation" r:id="rId11" imgW="1676400" imgH="482600" progId="Equation.3">
                  <p:embed/>
                  <p:pic>
                    <p:nvPicPr>
                      <p:cNvPr id="13321" name="Object 9">
                        <a:extLst>
                          <a:ext uri="{FF2B5EF4-FFF2-40B4-BE49-F238E27FC236}">
                            <a16:creationId xmlns:a16="http://schemas.microsoft.com/office/drawing/2014/main" id="{62BAF3DA-B3CE-2DA4-00C8-132826F67A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4868863"/>
                        <a:ext cx="366395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2" name="Group 10">
            <a:extLst>
              <a:ext uri="{FF2B5EF4-FFF2-40B4-BE49-F238E27FC236}">
                <a16:creationId xmlns:a16="http://schemas.microsoft.com/office/drawing/2014/main" id="{17468CCA-E3EB-05DB-73F3-2B5F6356853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777875"/>
            <a:ext cx="5470525" cy="457200"/>
            <a:chOff x="432" y="624"/>
            <a:chExt cx="3396" cy="288"/>
          </a:xfrm>
        </p:grpSpPr>
        <p:sp>
          <p:nvSpPr>
            <p:cNvPr id="13323" name="Text Box 11">
              <a:extLst>
                <a:ext uri="{FF2B5EF4-FFF2-40B4-BE49-F238E27FC236}">
                  <a16:creationId xmlns:a16="http://schemas.microsoft.com/office/drawing/2014/main" id="{49405288-5B16-6E2E-AADE-ED0DD1EE29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624"/>
              <a:ext cx="32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/>
                <a:t>光程：几何路程与媒质折射率的乘积</a:t>
              </a:r>
            </a:p>
          </p:txBody>
        </p:sp>
        <p:sp>
          <p:nvSpPr>
            <p:cNvPr id="13324" name="AutoShape 12">
              <a:extLst>
                <a:ext uri="{FF2B5EF4-FFF2-40B4-BE49-F238E27FC236}">
                  <a16:creationId xmlns:a16="http://schemas.microsoft.com/office/drawing/2014/main" id="{4CA28622-0879-FCB1-2B14-37D81EB28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672"/>
              <a:ext cx="192" cy="192"/>
            </a:xfrm>
            <a:prstGeom prst="sun">
              <a:avLst>
                <a:gd name="adj" fmla="val 35417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</p:grpSp>
      <p:grpSp>
        <p:nvGrpSpPr>
          <p:cNvPr id="13325" name="Group 13">
            <a:extLst>
              <a:ext uri="{FF2B5EF4-FFF2-40B4-BE49-F238E27FC236}">
                <a16:creationId xmlns:a16="http://schemas.microsoft.com/office/drawing/2014/main" id="{6A7A0A87-090D-32A1-D33B-ADDDB541BAA6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311275"/>
            <a:ext cx="7486650" cy="457200"/>
            <a:chOff x="432" y="960"/>
            <a:chExt cx="4560" cy="288"/>
          </a:xfrm>
        </p:grpSpPr>
        <p:sp>
          <p:nvSpPr>
            <p:cNvPr id="13326" name="Text Box 14">
              <a:extLst>
                <a:ext uri="{FF2B5EF4-FFF2-40B4-BE49-F238E27FC236}">
                  <a16:creationId xmlns:a16="http://schemas.microsoft.com/office/drawing/2014/main" id="{573D7BDD-7982-4DF9-D6C2-96D67F4D8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" y="960"/>
              <a:ext cx="4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/>
                <a:t>光程差：两列光波在不同路径中传播的光程之差。</a:t>
              </a:r>
            </a:p>
          </p:txBody>
        </p:sp>
        <p:sp>
          <p:nvSpPr>
            <p:cNvPr id="13327" name="AutoShape 15">
              <a:extLst>
                <a:ext uri="{FF2B5EF4-FFF2-40B4-BE49-F238E27FC236}">
                  <a16:creationId xmlns:a16="http://schemas.microsoft.com/office/drawing/2014/main" id="{9972DF25-B88A-5519-80C4-47DADEBD5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008"/>
              <a:ext cx="192" cy="192"/>
            </a:xfrm>
            <a:prstGeom prst="sun">
              <a:avLst>
                <a:gd name="adj" fmla="val 35417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</p:grpSp>
      <p:grpSp>
        <p:nvGrpSpPr>
          <p:cNvPr id="13328" name="Group 16">
            <a:extLst>
              <a:ext uri="{FF2B5EF4-FFF2-40B4-BE49-F238E27FC236}">
                <a16:creationId xmlns:a16="http://schemas.microsoft.com/office/drawing/2014/main" id="{A1BDE488-418B-554E-276E-3C58216B58AF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378075"/>
            <a:ext cx="4822825" cy="457200"/>
            <a:chOff x="432" y="1632"/>
            <a:chExt cx="2817" cy="288"/>
          </a:xfrm>
        </p:grpSpPr>
        <p:sp>
          <p:nvSpPr>
            <p:cNvPr id="13329" name="Text Box 17">
              <a:extLst>
                <a:ext uri="{FF2B5EF4-FFF2-40B4-BE49-F238E27FC236}">
                  <a16:creationId xmlns:a16="http://schemas.microsoft.com/office/drawing/2014/main" id="{5400B54A-8F8F-3130-7B4F-38339EA0EE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632"/>
              <a:ext cx="26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/>
                <a:t>相位差与光程差之间的关系：</a:t>
              </a:r>
            </a:p>
          </p:txBody>
        </p:sp>
        <p:sp>
          <p:nvSpPr>
            <p:cNvPr id="13330" name="AutoShape 18">
              <a:extLst>
                <a:ext uri="{FF2B5EF4-FFF2-40B4-BE49-F238E27FC236}">
                  <a16:creationId xmlns:a16="http://schemas.microsoft.com/office/drawing/2014/main" id="{957B9B64-919B-36C9-0C70-C64686078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680"/>
              <a:ext cx="192" cy="192"/>
            </a:xfrm>
            <a:prstGeom prst="sun">
              <a:avLst>
                <a:gd name="adj" fmla="val 35417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</p:grpSp>
      <p:grpSp>
        <p:nvGrpSpPr>
          <p:cNvPr id="13337" name="Group 25">
            <a:extLst>
              <a:ext uri="{FF2B5EF4-FFF2-40B4-BE49-F238E27FC236}">
                <a16:creationId xmlns:a16="http://schemas.microsoft.com/office/drawing/2014/main" id="{AE6D8C49-9575-185C-F96D-7EEBF3EF7EEB}"/>
              </a:ext>
            </a:extLst>
          </p:cNvPr>
          <p:cNvGrpSpPr>
            <a:grpSpLocks/>
          </p:cNvGrpSpPr>
          <p:nvPr/>
        </p:nvGrpSpPr>
        <p:grpSpPr bwMode="auto">
          <a:xfrm>
            <a:off x="655638" y="6165850"/>
            <a:ext cx="3302000" cy="457200"/>
            <a:chOff x="528" y="3792"/>
            <a:chExt cx="1936" cy="288"/>
          </a:xfrm>
        </p:grpSpPr>
        <p:sp>
          <p:nvSpPr>
            <p:cNvPr id="13338" name="AutoShape 26">
              <a:extLst>
                <a:ext uri="{FF2B5EF4-FFF2-40B4-BE49-F238E27FC236}">
                  <a16:creationId xmlns:a16="http://schemas.microsoft.com/office/drawing/2014/main" id="{7979FE74-ECE9-157D-04D8-01651D11F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840"/>
              <a:ext cx="192" cy="192"/>
            </a:xfrm>
            <a:prstGeom prst="sun">
              <a:avLst>
                <a:gd name="adj" fmla="val 35417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  <p:sp>
          <p:nvSpPr>
            <p:cNvPr id="13339" name="Text Box 27">
              <a:extLst>
                <a:ext uri="{FF2B5EF4-FFF2-40B4-BE49-F238E27FC236}">
                  <a16:creationId xmlns:a16="http://schemas.microsoft.com/office/drawing/2014/main" id="{187D2579-9D67-42C7-A8E0-672640D4F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" y="3792"/>
              <a:ext cx="17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/>
                <a:t>获得相干光的方法：</a:t>
              </a:r>
            </a:p>
          </p:txBody>
        </p:sp>
      </p:grpSp>
      <p:sp>
        <p:nvSpPr>
          <p:cNvPr id="13340" name="Rectangle 28">
            <a:extLst>
              <a:ext uri="{FF2B5EF4-FFF2-40B4-BE49-F238E27FC236}">
                <a16:creationId xmlns:a16="http://schemas.microsoft.com/office/drawing/2014/main" id="{03C17EE3-C377-C502-320B-22A1CBC17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6165850"/>
            <a:ext cx="3248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/>
              <a:t>分波阵面法；分振幅法</a:t>
            </a:r>
          </a:p>
        </p:txBody>
      </p:sp>
      <p:graphicFrame>
        <p:nvGraphicFramePr>
          <p:cNvPr id="25614" name="Object 29">
            <a:extLst>
              <a:ext uri="{FF2B5EF4-FFF2-40B4-BE49-F238E27FC236}">
                <a16:creationId xmlns:a16="http://schemas.microsoft.com/office/drawing/2014/main" id="{D06E3095-3D21-6E14-3761-07826CA1C1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0" y="549275"/>
          <a:ext cx="963613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57002" imgH="812447" progId="Equation.3">
                  <p:embed/>
                </p:oleObj>
              </mc:Choice>
              <mc:Fallback>
                <p:oleObj name="公式" r:id="rId13" imgW="457002" imgH="812447" progId="Equation.3">
                  <p:embed/>
                  <p:pic>
                    <p:nvPicPr>
                      <p:cNvPr id="25614" name="Object 29">
                        <a:extLst>
                          <a:ext uri="{FF2B5EF4-FFF2-40B4-BE49-F238E27FC236}">
                            <a16:creationId xmlns:a16="http://schemas.microsoft.com/office/drawing/2014/main" id="{D06E3095-3D21-6E14-3761-07826CA1C1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0" y="549275"/>
                        <a:ext cx="963613" cy="16986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38100" cmpd="dbl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49" name="Group 37">
            <a:extLst>
              <a:ext uri="{FF2B5EF4-FFF2-40B4-BE49-F238E27FC236}">
                <a16:creationId xmlns:a16="http://schemas.microsoft.com/office/drawing/2014/main" id="{49D6AA65-2E2E-5087-ABA0-DA41FC412F7F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3068638"/>
            <a:ext cx="7848600" cy="1116012"/>
            <a:chOff x="657" y="1888"/>
            <a:chExt cx="4809" cy="703"/>
          </a:xfrm>
        </p:grpSpPr>
        <p:graphicFrame>
          <p:nvGraphicFramePr>
            <p:cNvPr id="25617" name="Object 30">
              <a:extLst>
                <a:ext uri="{FF2B5EF4-FFF2-40B4-BE49-F238E27FC236}">
                  <a16:creationId xmlns:a16="http://schemas.microsoft.com/office/drawing/2014/main" id="{7874532C-B3B9-E627-E8CF-E05ADA7C8B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1" y="2251"/>
            <a:ext cx="2495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714500" imgH="254000" progId="Equation.3">
                    <p:embed/>
                  </p:oleObj>
                </mc:Choice>
                <mc:Fallback>
                  <p:oleObj name="Equation" r:id="rId15" imgW="1714500" imgH="254000" progId="Equation.3">
                    <p:embed/>
                    <p:pic>
                      <p:nvPicPr>
                        <p:cNvPr id="25617" name="Object 30">
                          <a:extLst>
                            <a:ext uri="{FF2B5EF4-FFF2-40B4-BE49-F238E27FC236}">
                              <a16:creationId xmlns:a16="http://schemas.microsoft.com/office/drawing/2014/main" id="{7874532C-B3B9-E627-E8CF-E05ADA7C8B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2251"/>
                          <a:ext cx="2495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4" name="Rectangle 32">
              <a:extLst>
                <a:ext uri="{FF2B5EF4-FFF2-40B4-BE49-F238E27FC236}">
                  <a16:creationId xmlns:a16="http://schemas.microsoft.com/office/drawing/2014/main" id="{31E943CA-6E50-B633-4DEC-EF7E7453A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2082"/>
              <a:ext cx="114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/>
                <a:t>光波的叠加  </a:t>
              </a:r>
            </a:p>
          </p:txBody>
        </p:sp>
        <p:sp>
          <p:nvSpPr>
            <p:cNvPr id="13345" name="AutoShape 33">
              <a:extLst>
                <a:ext uri="{FF2B5EF4-FFF2-40B4-BE49-F238E27FC236}">
                  <a16:creationId xmlns:a16="http://schemas.microsoft.com/office/drawing/2014/main" id="{580A16BC-0B61-2109-9894-F0FD5AD34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1991"/>
              <a:ext cx="46" cy="499"/>
            </a:xfrm>
            <a:prstGeom prst="leftBrace">
              <a:avLst>
                <a:gd name="adj1" fmla="val 9039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  <p:sp>
          <p:nvSpPr>
            <p:cNvPr id="13346" name="Rectangle 34">
              <a:extLst>
                <a:ext uri="{FF2B5EF4-FFF2-40B4-BE49-F238E27FC236}">
                  <a16:creationId xmlns:a16="http://schemas.microsoft.com/office/drawing/2014/main" id="{09BDCD68-2C54-8932-56DE-B9838587A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1888"/>
              <a:ext cx="105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/>
                <a:t>非相干叠加</a:t>
              </a:r>
            </a:p>
          </p:txBody>
        </p:sp>
        <p:sp>
          <p:nvSpPr>
            <p:cNvPr id="13347" name="Rectangle 35">
              <a:extLst>
                <a:ext uri="{FF2B5EF4-FFF2-40B4-BE49-F238E27FC236}">
                  <a16:creationId xmlns:a16="http://schemas.microsoft.com/office/drawing/2014/main" id="{DC71D1D8-52A3-C134-A5E0-D16A54F45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251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/>
                <a:t>相干叠加</a:t>
              </a:r>
            </a:p>
          </p:txBody>
        </p:sp>
        <p:graphicFrame>
          <p:nvGraphicFramePr>
            <p:cNvPr id="25622" name="Object 36">
              <a:extLst>
                <a:ext uri="{FF2B5EF4-FFF2-40B4-BE49-F238E27FC236}">
                  <a16:creationId xmlns:a16="http://schemas.microsoft.com/office/drawing/2014/main" id="{20BB8D08-21B6-438C-6FBF-5F148BDBDA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1" y="1900"/>
            <a:ext cx="92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634449" imgH="215713" progId="Equation.3">
                    <p:embed/>
                  </p:oleObj>
                </mc:Choice>
                <mc:Fallback>
                  <p:oleObj name="公式" r:id="rId17" imgW="634449" imgH="215713" progId="Equation.3">
                    <p:embed/>
                    <p:pic>
                      <p:nvPicPr>
                        <p:cNvPr id="25622" name="Object 36">
                          <a:extLst>
                            <a:ext uri="{FF2B5EF4-FFF2-40B4-BE49-F238E27FC236}">
                              <a16:creationId xmlns:a16="http://schemas.microsoft.com/office/drawing/2014/main" id="{20BB8D08-21B6-438C-6FBF-5F148BDBDA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1900"/>
                          <a:ext cx="924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50" name="AutoShape 38">
            <a:extLst>
              <a:ext uri="{FF2B5EF4-FFF2-40B4-BE49-F238E27FC236}">
                <a16:creationId xmlns:a16="http://schemas.microsoft.com/office/drawing/2014/main" id="{F43AC970-C117-7F11-AB6B-CCB9E5951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292600"/>
            <a:ext cx="4067175" cy="503238"/>
          </a:xfrm>
          <a:prstGeom prst="wedgeRoundRectCallout">
            <a:avLst>
              <a:gd name="adj1" fmla="val 20685"/>
              <a:gd name="adj2" fmla="val 3170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chemeClr val="accent2"/>
                </a:solidFill>
              </a:rPr>
              <a:t>干涉增强和减弱时光强为多少？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8848365-38DF-E8E4-1806-004E1CB26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107950"/>
            <a:ext cx="28082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/>
              <a:t>干涉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 autoUpdateAnimBg="0"/>
      <p:bldP spid="13319" grpId="0" autoUpdateAnimBg="0"/>
      <p:bldP spid="13340" grpId="0" autoUpdateAnimBg="0"/>
      <p:bldP spid="1335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6994E62D-E90E-6F4C-F05F-0A23EEB5B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067425"/>
            <a:ext cx="192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/>
              <a:t>分振幅干涉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A1F32BC7-D3F7-6DCC-EA9D-0914B6873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476625"/>
            <a:ext cx="3667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/>
              <a:t>干涉</a:t>
            </a:r>
          </a:p>
        </p:txBody>
      </p:sp>
      <p:sp>
        <p:nvSpPr>
          <p:cNvPr id="17412" name="AutoShape 4">
            <a:extLst>
              <a:ext uri="{FF2B5EF4-FFF2-40B4-BE49-F238E27FC236}">
                <a16:creationId xmlns:a16="http://schemas.microsoft.com/office/drawing/2014/main" id="{A0DD0FF0-B182-1B47-6F6D-F7C52BD9AF7F}"/>
              </a:ext>
            </a:extLst>
          </p:cNvPr>
          <p:cNvSpPr>
            <a:spLocks/>
          </p:cNvSpPr>
          <p:nvPr/>
        </p:nvSpPr>
        <p:spPr bwMode="auto">
          <a:xfrm>
            <a:off x="684213" y="1549400"/>
            <a:ext cx="381000" cy="4899025"/>
          </a:xfrm>
          <a:prstGeom prst="leftBrace">
            <a:avLst>
              <a:gd name="adj1" fmla="val 10715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64BBAF6E-FAE5-1B63-0716-2FE80452A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260475"/>
            <a:ext cx="1852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/>
              <a:t>分波面干涉</a:t>
            </a:r>
          </a:p>
        </p:txBody>
      </p:sp>
      <p:sp>
        <p:nvSpPr>
          <p:cNvPr id="17414" name="AutoShape 6">
            <a:extLst>
              <a:ext uri="{FF2B5EF4-FFF2-40B4-BE49-F238E27FC236}">
                <a16:creationId xmlns:a16="http://schemas.microsoft.com/office/drawing/2014/main" id="{FE45540D-B2A7-7A7C-CD55-DF47B149F213}"/>
              </a:ext>
            </a:extLst>
          </p:cNvPr>
          <p:cNvSpPr>
            <a:spLocks/>
          </p:cNvSpPr>
          <p:nvPr/>
        </p:nvSpPr>
        <p:spPr bwMode="auto">
          <a:xfrm>
            <a:off x="2667000" y="1190625"/>
            <a:ext cx="287338" cy="792163"/>
          </a:xfrm>
          <a:prstGeom prst="leftBrace">
            <a:avLst>
              <a:gd name="adj1" fmla="val 2297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id="{FB3AED92-2B86-7DDB-1327-29E7FBEA1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1017588"/>
            <a:ext cx="2176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杨式双缝干涉</a:t>
            </a:r>
          </a:p>
        </p:txBody>
      </p:sp>
      <p:grpSp>
        <p:nvGrpSpPr>
          <p:cNvPr id="17440" name="Group 32">
            <a:extLst>
              <a:ext uri="{FF2B5EF4-FFF2-40B4-BE49-F238E27FC236}">
                <a16:creationId xmlns:a16="http://schemas.microsoft.com/office/drawing/2014/main" id="{8515666C-67E5-5C03-CDBF-E08EC5E6BF31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1909763"/>
            <a:ext cx="1951037" cy="855662"/>
            <a:chOff x="1488" y="923"/>
            <a:chExt cx="1229" cy="539"/>
          </a:xfrm>
        </p:grpSpPr>
        <p:graphicFrame>
          <p:nvGraphicFramePr>
            <p:cNvPr id="27720" name="Object 15">
              <a:extLst>
                <a:ext uri="{FF2B5EF4-FFF2-40B4-BE49-F238E27FC236}">
                  <a16:creationId xmlns:a16="http://schemas.microsoft.com/office/drawing/2014/main" id="{51BD9D95-2C01-3109-BEF0-6BF317F543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1056"/>
            <a:ext cx="1085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40948" imgH="393529" progId="Equation.3">
                    <p:embed/>
                  </p:oleObj>
                </mc:Choice>
                <mc:Fallback>
                  <p:oleObj name="Equation" r:id="rId2" imgW="1040948" imgH="393529" progId="Equation.3">
                    <p:embed/>
                    <p:pic>
                      <p:nvPicPr>
                        <p:cNvPr id="27720" name="Object 15">
                          <a:extLst>
                            <a:ext uri="{FF2B5EF4-FFF2-40B4-BE49-F238E27FC236}">
                              <a16:creationId xmlns:a16="http://schemas.microsoft.com/office/drawing/2014/main" id="{51BD9D95-2C01-3109-BEF0-6BF317F543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056"/>
                          <a:ext cx="1085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4" name="Rectangle 16">
              <a:extLst>
                <a:ext uri="{FF2B5EF4-FFF2-40B4-BE49-F238E27FC236}">
                  <a16:creationId xmlns:a16="http://schemas.microsoft.com/office/drawing/2014/main" id="{C0E80EFA-773D-B6F7-C239-8F001DE68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923"/>
              <a:ext cx="67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000">
                  <a:solidFill>
                    <a:schemeClr val="accent2"/>
                  </a:solidFill>
                  <a:latin typeface="Times New Roman" charset="0"/>
                  <a:ea typeface="楷体_GB2312" charset="0"/>
                </a:rPr>
                <a:t>光程差  </a:t>
              </a:r>
            </a:p>
          </p:txBody>
        </p:sp>
      </p:grpSp>
      <p:grpSp>
        <p:nvGrpSpPr>
          <p:cNvPr id="17439" name="Group 31">
            <a:extLst>
              <a:ext uri="{FF2B5EF4-FFF2-40B4-BE49-F238E27FC236}">
                <a16:creationId xmlns:a16="http://schemas.microsoft.com/office/drawing/2014/main" id="{A2911CED-C358-8B02-01D5-01E7C77E518D}"/>
              </a:ext>
            </a:extLst>
          </p:cNvPr>
          <p:cNvGrpSpPr>
            <a:grpSpLocks/>
          </p:cNvGrpSpPr>
          <p:nvPr/>
        </p:nvGrpSpPr>
        <p:grpSpPr bwMode="auto">
          <a:xfrm>
            <a:off x="4594225" y="1981200"/>
            <a:ext cx="4549775" cy="1168400"/>
            <a:chOff x="2575" y="940"/>
            <a:chExt cx="2866" cy="736"/>
          </a:xfrm>
        </p:grpSpPr>
        <p:graphicFrame>
          <p:nvGraphicFramePr>
            <p:cNvPr id="27717" name="Object 22">
              <a:extLst>
                <a:ext uri="{FF2B5EF4-FFF2-40B4-BE49-F238E27FC236}">
                  <a16:creationId xmlns:a16="http://schemas.microsoft.com/office/drawing/2014/main" id="{DE4910D9-BACB-FF9D-8643-5CB00A32FD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5" y="940"/>
            <a:ext cx="1121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14600" imgH="1206500" progId="Equation.3">
                    <p:embed/>
                  </p:oleObj>
                </mc:Choice>
                <mc:Fallback>
                  <p:oleObj name="Equation" r:id="rId4" imgW="2514600" imgH="1206500" progId="Equation.3">
                    <p:embed/>
                    <p:pic>
                      <p:nvPicPr>
                        <p:cNvPr id="27717" name="Object 22">
                          <a:extLst>
                            <a:ext uri="{FF2B5EF4-FFF2-40B4-BE49-F238E27FC236}">
                              <a16:creationId xmlns:a16="http://schemas.microsoft.com/office/drawing/2014/main" id="{DE4910D9-BACB-FF9D-8643-5CB00A32FD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5" y="940"/>
                          <a:ext cx="1121" cy="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8" name="Object 23">
              <a:extLst>
                <a:ext uri="{FF2B5EF4-FFF2-40B4-BE49-F238E27FC236}">
                  <a16:creationId xmlns:a16="http://schemas.microsoft.com/office/drawing/2014/main" id="{D1291108-1CB7-DC6F-3DB3-65AD989499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960"/>
            <a:ext cx="1553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441700" imgH="977900" progId="Equation.3">
                    <p:embed/>
                  </p:oleObj>
                </mc:Choice>
                <mc:Fallback>
                  <p:oleObj name="Equation" r:id="rId6" imgW="3441700" imgH="977900" progId="Equation.3">
                    <p:embed/>
                    <p:pic>
                      <p:nvPicPr>
                        <p:cNvPr id="27718" name="Object 23">
                          <a:extLst>
                            <a:ext uri="{FF2B5EF4-FFF2-40B4-BE49-F238E27FC236}">
                              <a16:creationId xmlns:a16="http://schemas.microsoft.com/office/drawing/2014/main" id="{D1291108-1CB7-DC6F-3DB3-65AD989499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960"/>
                          <a:ext cx="1553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9" name="Object 24">
              <a:extLst>
                <a:ext uri="{FF2B5EF4-FFF2-40B4-BE49-F238E27FC236}">
                  <a16:creationId xmlns:a16="http://schemas.microsoft.com/office/drawing/2014/main" id="{3CC21C09-283E-FE20-8BDB-5E9C2CDAE5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55" y="1516"/>
            <a:ext cx="737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727200" imgH="368300" progId="Equation.3">
                    <p:embed/>
                  </p:oleObj>
                </mc:Choice>
                <mc:Fallback>
                  <p:oleObj name="公式" r:id="rId8" imgW="1727200" imgH="368300" progId="Equation.3">
                    <p:embed/>
                    <p:pic>
                      <p:nvPicPr>
                        <p:cNvPr id="27719" name="Object 24">
                          <a:extLst>
                            <a:ext uri="{FF2B5EF4-FFF2-40B4-BE49-F238E27FC236}">
                              <a16:creationId xmlns:a16="http://schemas.microsoft.com/office/drawing/2014/main" id="{3CC21C09-283E-FE20-8BDB-5E9C2CDAE5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5" y="1516"/>
                          <a:ext cx="737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498" name="Group 90">
            <a:extLst>
              <a:ext uri="{FF2B5EF4-FFF2-40B4-BE49-F238E27FC236}">
                <a16:creationId xmlns:a16="http://schemas.microsoft.com/office/drawing/2014/main" id="{FA514576-9832-E74E-AB75-83166B3856FB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3248025"/>
            <a:ext cx="3849688" cy="1749425"/>
            <a:chOff x="1872" y="1824"/>
            <a:chExt cx="2425" cy="1102"/>
          </a:xfrm>
        </p:grpSpPr>
        <p:graphicFrame>
          <p:nvGraphicFramePr>
            <p:cNvPr id="27714" name="Object 27">
              <a:extLst>
                <a:ext uri="{FF2B5EF4-FFF2-40B4-BE49-F238E27FC236}">
                  <a16:creationId xmlns:a16="http://schemas.microsoft.com/office/drawing/2014/main" id="{EDDA37DC-4860-9DFB-7517-6C7452231D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1824"/>
            <a:ext cx="1461" cy="8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984500" imgH="1689100" progId="Equation.3">
                    <p:embed/>
                  </p:oleObj>
                </mc:Choice>
                <mc:Fallback>
                  <p:oleObj name="Equation" r:id="rId10" imgW="2984500" imgH="1689100" progId="Equation.3">
                    <p:embed/>
                    <p:pic>
                      <p:nvPicPr>
                        <p:cNvPr id="27714" name="Object 27">
                          <a:extLst>
                            <a:ext uri="{FF2B5EF4-FFF2-40B4-BE49-F238E27FC236}">
                              <a16:creationId xmlns:a16="http://schemas.microsoft.com/office/drawing/2014/main" id="{EDDA37DC-4860-9DFB-7517-6C7452231D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824"/>
                          <a:ext cx="1461" cy="8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5" name="Object 28">
              <a:extLst>
                <a:ext uri="{FF2B5EF4-FFF2-40B4-BE49-F238E27FC236}">
                  <a16:creationId xmlns:a16="http://schemas.microsoft.com/office/drawing/2014/main" id="{118CB747-562B-DCB0-7DAD-FB1BFC8AF3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8" y="1968"/>
            <a:ext cx="649" cy="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435100" imgH="1397000" progId="Equation.3">
                    <p:embed/>
                  </p:oleObj>
                </mc:Choice>
                <mc:Fallback>
                  <p:oleObj name="Equation" r:id="rId12" imgW="1435100" imgH="1397000" progId="Equation.3">
                    <p:embed/>
                    <p:pic>
                      <p:nvPicPr>
                        <p:cNvPr id="27715" name="Object 28">
                          <a:extLst>
                            <a:ext uri="{FF2B5EF4-FFF2-40B4-BE49-F238E27FC236}">
                              <a16:creationId xmlns:a16="http://schemas.microsoft.com/office/drawing/2014/main" id="{118CB747-562B-DCB0-7DAD-FB1BFC8AF3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968"/>
                          <a:ext cx="649" cy="6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16" name="Object 29">
              <a:extLst>
                <a:ext uri="{FF2B5EF4-FFF2-40B4-BE49-F238E27FC236}">
                  <a16:creationId xmlns:a16="http://schemas.microsoft.com/office/drawing/2014/main" id="{1423A2FA-3938-9668-7C88-BFE2ADDB06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2736"/>
            <a:ext cx="87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727200" imgH="368300" progId="Equation.3">
                    <p:embed/>
                  </p:oleObj>
                </mc:Choice>
                <mc:Fallback>
                  <p:oleObj name="公式" r:id="rId14" imgW="1727200" imgH="368300" progId="Equation.3">
                    <p:embed/>
                    <p:pic>
                      <p:nvPicPr>
                        <p:cNvPr id="27716" name="Object 29">
                          <a:extLst>
                            <a:ext uri="{FF2B5EF4-FFF2-40B4-BE49-F238E27FC236}">
                              <a16:creationId xmlns:a16="http://schemas.microsoft.com/office/drawing/2014/main" id="{1423A2FA-3938-9668-7C88-BFE2ADDB06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736"/>
                          <a:ext cx="87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38" name="Text Box 30">
            <a:extLst>
              <a:ext uri="{FF2B5EF4-FFF2-40B4-BE49-F238E27FC236}">
                <a16:creationId xmlns:a16="http://schemas.microsoft.com/office/drawing/2014/main" id="{BD7BFAEC-E5B4-5C6D-1D19-638997105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248025"/>
            <a:ext cx="9144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/>
              <a:t>干涉条纹各级中心位置</a:t>
            </a:r>
          </a:p>
        </p:txBody>
      </p:sp>
      <p:sp>
        <p:nvSpPr>
          <p:cNvPr id="17441" name="AutoShape 33">
            <a:extLst>
              <a:ext uri="{FF2B5EF4-FFF2-40B4-BE49-F238E27FC236}">
                <a16:creationId xmlns:a16="http://schemas.microsoft.com/office/drawing/2014/main" id="{1436934D-09FB-34BD-38F8-F3023D81FA00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4229100" y="2219325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7443" name="Text Box 35">
            <a:extLst>
              <a:ext uri="{FF2B5EF4-FFF2-40B4-BE49-F238E27FC236}">
                <a16:creationId xmlns:a16="http://schemas.microsoft.com/office/drawing/2014/main" id="{966E2D95-2927-27C5-AB9A-15C68535F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076825"/>
            <a:ext cx="4402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latin typeface="楷体_GB2312" pitchFamily="49" charset="-122"/>
              </a:rPr>
              <a:t>相邻两明纹（或暗纹）中心间的距离</a:t>
            </a:r>
            <a:r>
              <a:rPr lang="en-US" altLang="zh-CN" sz="2000">
                <a:latin typeface="楷体_GB2312" pitchFamily="49" charset="-122"/>
              </a:rPr>
              <a:t>:</a:t>
            </a:r>
          </a:p>
        </p:txBody>
      </p:sp>
      <p:graphicFrame>
        <p:nvGraphicFramePr>
          <p:cNvPr id="17444" name="Object 36">
            <a:extLst>
              <a:ext uri="{FF2B5EF4-FFF2-40B4-BE49-F238E27FC236}">
                <a16:creationId xmlns:a16="http://schemas.microsoft.com/office/drawing/2014/main" id="{E248E012-2F87-3500-6E8E-AFCE975A15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5457825"/>
          <a:ext cx="160020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34725" imgH="393529" progId="Equation.3">
                  <p:embed/>
                </p:oleObj>
              </mc:Choice>
              <mc:Fallback>
                <p:oleObj name="Equation" r:id="rId16" imgW="634725" imgH="393529" progId="Equation.3">
                  <p:embed/>
                  <p:pic>
                    <p:nvPicPr>
                      <p:cNvPr id="17444" name="Object 36">
                        <a:extLst>
                          <a:ext uri="{FF2B5EF4-FFF2-40B4-BE49-F238E27FC236}">
                            <a16:creationId xmlns:a16="http://schemas.microsoft.com/office/drawing/2014/main" id="{E248E012-2F87-3500-6E8E-AFCE975A15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57825"/>
                        <a:ext cx="1600200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5" name="Text Box 37">
            <a:extLst>
              <a:ext uri="{FF2B5EF4-FFF2-40B4-BE49-F238E27FC236}">
                <a16:creationId xmlns:a16="http://schemas.microsoft.com/office/drawing/2014/main" id="{A0FAE72C-5164-0881-C18F-0F86709DC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5653088"/>
            <a:ext cx="3313113" cy="406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>
                <a:solidFill>
                  <a:srgbClr val="FF0000"/>
                </a:solidFill>
                <a:ea typeface="宋体" panose="02010600030101010101" pitchFamily="2" charset="-122"/>
                <a:sym typeface="Monotype Sorts" pitchFamily="2" charset="2"/>
              </a:rPr>
              <a:t>会分析条纹变化情况！</a:t>
            </a:r>
            <a:endParaRPr kumimoji="1" lang="zh-CN" altLang="en-US" sz="2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7447" name="Rectangle 39">
            <a:extLst>
              <a:ext uri="{FF2B5EF4-FFF2-40B4-BE49-F238E27FC236}">
                <a16:creationId xmlns:a16="http://schemas.microsoft.com/office/drawing/2014/main" id="{73EE7418-6C89-C966-6149-C1D6D07CE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4325" y="4502150"/>
            <a:ext cx="3425825" cy="406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0000"/>
                </a:solidFill>
              </a:rPr>
              <a:t>能确定各级条纹中心的位置</a:t>
            </a:r>
          </a:p>
        </p:txBody>
      </p:sp>
      <p:grpSp>
        <p:nvGrpSpPr>
          <p:cNvPr id="17497" name="Group 89">
            <a:extLst>
              <a:ext uri="{FF2B5EF4-FFF2-40B4-BE49-F238E27FC236}">
                <a16:creationId xmlns:a16="http://schemas.microsoft.com/office/drawing/2014/main" id="{17AB0B92-C5EB-8ACD-3FE5-FDD497E79485}"/>
              </a:ext>
            </a:extLst>
          </p:cNvPr>
          <p:cNvGrpSpPr>
            <a:grpSpLocks/>
          </p:cNvGrpSpPr>
          <p:nvPr/>
        </p:nvGrpSpPr>
        <p:grpSpPr bwMode="auto">
          <a:xfrm>
            <a:off x="5256213" y="260350"/>
            <a:ext cx="3887787" cy="1557338"/>
            <a:chOff x="3107" y="0"/>
            <a:chExt cx="2449" cy="1026"/>
          </a:xfrm>
        </p:grpSpPr>
        <p:sp>
          <p:nvSpPr>
            <p:cNvPr id="17496" name="Rectangle 88">
              <a:extLst>
                <a:ext uri="{FF2B5EF4-FFF2-40B4-BE49-F238E27FC236}">
                  <a16:creationId xmlns:a16="http://schemas.microsoft.com/office/drawing/2014/main" id="{90B88233-04E1-39E5-B825-6624237B0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0"/>
              <a:ext cx="2449" cy="102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  <p:grpSp>
          <p:nvGrpSpPr>
            <p:cNvPr id="27666" name="Group 40">
              <a:extLst>
                <a:ext uri="{FF2B5EF4-FFF2-40B4-BE49-F238E27FC236}">
                  <a16:creationId xmlns:a16="http://schemas.microsoft.com/office/drawing/2014/main" id="{34C86042-AE48-DA0E-0076-6C965CFE3D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8" y="0"/>
              <a:ext cx="2268" cy="953"/>
              <a:chOff x="816" y="721"/>
              <a:chExt cx="4153" cy="2016"/>
            </a:xfrm>
          </p:grpSpPr>
          <p:grpSp>
            <p:nvGrpSpPr>
              <p:cNvPr id="27667" name="Group 41">
                <a:extLst>
                  <a:ext uri="{FF2B5EF4-FFF2-40B4-BE49-F238E27FC236}">
                    <a16:creationId xmlns:a16="http://schemas.microsoft.com/office/drawing/2014/main" id="{20CECFE2-2A17-187E-AD45-F041814171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76" y="1317"/>
                <a:ext cx="793" cy="988"/>
                <a:chOff x="6642" y="5274"/>
                <a:chExt cx="1620" cy="1641"/>
              </a:xfrm>
            </p:grpSpPr>
            <p:grpSp>
              <p:nvGrpSpPr>
                <p:cNvPr id="27704" name="Group 42">
                  <a:extLst>
                    <a:ext uri="{FF2B5EF4-FFF2-40B4-BE49-F238E27FC236}">
                      <a16:creationId xmlns:a16="http://schemas.microsoft.com/office/drawing/2014/main" id="{B0822045-EE21-33B0-80D8-5C2D278224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642" y="5274"/>
                  <a:ext cx="1620" cy="765"/>
                  <a:chOff x="6642" y="5274"/>
                  <a:chExt cx="1620" cy="765"/>
                </a:xfrm>
              </p:grpSpPr>
              <p:sp>
                <p:nvSpPr>
                  <p:cNvPr id="27710" name="Rectangle 43">
                    <a:extLst>
                      <a:ext uri="{FF2B5EF4-FFF2-40B4-BE49-F238E27FC236}">
                        <a16:creationId xmlns:a16="http://schemas.microsoft.com/office/drawing/2014/main" id="{6813CEC5-856C-9C12-76DF-13180096913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42" y="5496"/>
                    <a:ext cx="1620" cy="102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7711" name="Rectangle 44">
                    <a:extLst>
                      <a:ext uri="{FF2B5EF4-FFF2-40B4-BE49-F238E27FC236}">
                        <a16:creationId xmlns:a16="http://schemas.microsoft.com/office/drawing/2014/main" id="{672D5BF8-2CFD-25FE-319A-FBC5201BB4F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42" y="5274"/>
                    <a:ext cx="1620" cy="102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7712" name="Rectangle 45">
                    <a:extLst>
                      <a:ext uri="{FF2B5EF4-FFF2-40B4-BE49-F238E27FC236}">
                        <a16:creationId xmlns:a16="http://schemas.microsoft.com/office/drawing/2014/main" id="{3BF3CC79-DA36-8B0B-0DD1-97DC464FD4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42" y="5712"/>
                    <a:ext cx="1620" cy="102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7713" name="Rectangle 46">
                    <a:extLst>
                      <a:ext uri="{FF2B5EF4-FFF2-40B4-BE49-F238E27FC236}">
                        <a16:creationId xmlns:a16="http://schemas.microsoft.com/office/drawing/2014/main" id="{D96770BD-40CB-826D-3F37-C7923119B8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42" y="5937"/>
                    <a:ext cx="1620" cy="102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  <p:grpSp>
              <p:nvGrpSpPr>
                <p:cNvPr id="27705" name="Group 47">
                  <a:extLst>
                    <a:ext uri="{FF2B5EF4-FFF2-40B4-BE49-F238E27FC236}">
                      <a16:creationId xmlns:a16="http://schemas.microsoft.com/office/drawing/2014/main" id="{9234D4A2-6EB0-052D-F656-222F21EA23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642" y="6150"/>
                  <a:ext cx="1620" cy="765"/>
                  <a:chOff x="6642" y="5274"/>
                  <a:chExt cx="1620" cy="765"/>
                </a:xfrm>
              </p:grpSpPr>
              <p:sp>
                <p:nvSpPr>
                  <p:cNvPr id="27706" name="Rectangle 48">
                    <a:extLst>
                      <a:ext uri="{FF2B5EF4-FFF2-40B4-BE49-F238E27FC236}">
                        <a16:creationId xmlns:a16="http://schemas.microsoft.com/office/drawing/2014/main" id="{39FE8CDE-79E4-0485-C49D-2ADDDE6B4C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42" y="5496"/>
                    <a:ext cx="1620" cy="102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7707" name="Rectangle 49">
                    <a:extLst>
                      <a:ext uri="{FF2B5EF4-FFF2-40B4-BE49-F238E27FC236}">
                        <a16:creationId xmlns:a16="http://schemas.microsoft.com/office/drawing/2014/main" id="{90D40929-A4FE-4E9B-2E84-3DA208ADEF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42" y="5274"/>
                    <a:ext cx="1620" cy="102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7708" name="Rectangle 50">
                    <a:extLst>
                      <a:ext uri="{FF2B5EF4-FFF2-40B4-BE49-F238E27FC236}">
                        <a16:creationId xmlns:a16="http://schemas.microsoft.com/office/drawing/2014/main" id="{C2E169B6-BD10-92B6-BAF1-FC4A1AE3B7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42" y="5712"/>
                    <a:ext cx="1620" cy="102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27709" name="Rectangle 51">
                    <a:extLst>
                      <a:ext uri="{FF2B5EF4-FFF2-40B4-BE49-F238E27FC236}">
                        <a16:creationId xmlns:a16="http://schemas.microsoft.com/office/drawing/2014/main" id="{C94FAEB3-FD05-B44A-3264-CAAA957A5E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42" y="5937"/>
                    <a:ext cx="1620" cy="102"/>
                  </a:xfrm>
                  <a:prstGeom prst="rect">
                    <a:avLst/>
                  </a:prstGeom>
                  <a:solidFill>
                    <a:srgbClr val="000000"/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</p:grpSp>
          </p:grpSp>
          <p:grpSp>
            <p:nvGrpSpPr>
              <p:cNvPr id="27668" name="Group 52">
                <a:extLst>
                  <a:ext uri="{FF2B5EF4-FFF2-40B4-BE49-F238E27FC236}">
                    <a16:creationId xmlns:a16="http://schemas.microsoft.com/office/drawing/2014/main" id="{68170274-5FCD-61DB-3074-47993A53E0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721"/>
                <a:ext cx="3264" cy="2016"/>
                <a:chOff x="1728" y="528"/>
                <a:chExt cx="3264" cy="2016"/>
              </a:xfrm>
            </p:grpSpPr>
            <p:graphicFrame>
              <p:nvGraphicFramePr>
                <p:cNvPr id="27669" name="Object 53">
                  <a:extLst>
                    <a:ext uri="{FF2B5EF4-FFF2-40B4-BE49-F238E27FC236}">
                      <a16:creationId xmlns:a16="http://schemas.microsoft.com/office/drawing/2014/main" id="{70881775-193F-1F76-F80C-0F3C8A1B986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728" y="1517"/>
                <a:ext cx="196" cy="24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18" imgW="190417" imgH="241195" progId="Equation.3">
                        <p:embed/>
                      </p:oleObj>
                    </mc:Choice>
                    <mc:Fallback>
                      <p:oleObj name="公式" r:id="rId18" imgW="190417" imgH="241195" progId="Equation.3">
                        <p:embed/>
                        <p:pic>
                          <p:nvPicPr>
                            <p:cNvPr id="27669" name="Object 53">
                              <a:extLst>
                                <a:ext uri="{FF2B5EF4-FFF2-40B4-BE49-F238E27FC236}">
                                  <a16:creationId xmlns:a16="http://schemas.microsoft.com/office/drawing/2014/main" id="{70881775-193F-1F76-F80C-0F3C8A1B9867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28" y="1517"/>
                              <a:ext cx="196" cy="24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>
                                        <a:alpha val="74997"/>
                                      </a:srgb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670" name="Object 54">
                  <a:extLst>
                    <a:ext uri="{FF2B5EF4-FFF2-40B4-BE49-F238E27FC236}">
                      <a16:creationId xmlns:a16="http://schemas.microsoft.com/office/drawing/2014/main" id="{9C579463-ABC3-56EA-9502-EC0846F33A2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169" y="1776"/>
                <a:ext cx="221" cy="3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0" imgW="304668" imgH="418918" progId="Equation.3">
                        <p:embed/>
                      </p:oleObj>
                    </mc:Choice>
                    <mc:Fallback>
                      <p:oleObj name="公式" r:id="rId20" imgW="304668" imgH="418918" progId="Equation.3">
                        <p:embed/>
                        <p:pic>
                          <p:nvPicPr>
                            <p:cNvPr id="27670" name="Object 54">
                              <a:extLst>
                                <a:ext uri="{FF2B5EF4-FFF2-40B4-BE49-F238E27FC236}">
                                  <a16:creationId xmlns:a16="http://schemas.microsoft.com/office/drawing/2014/main" id="{9C579463-ABC3-56EA-9502-EC0846F33A2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69" y="1776"/>
                              <a:ext cx="221" cy="3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>
                                        <a:alpha val="74997"/>
                                      </a:srgb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671" name="Object 55">
                  <a:extLst>
                    <a:ext uri="{FF2B5EF4-FFF2-40B4-BE49-F238E27FC236}">
                      <a16:creationId xmlns:a16="http://schemas.microsoft.com/office/drawing/2014/main" id="{FE014697-4BBE-AA0F-C56A-90DFCA0F803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165" y="1135"/>
                <a:ext cx="211" cy="3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2" imgW="291973" imgH="418918" progId="Equation.3">
                        <p:embed/>
                      </p:oleObj>
                    </mc:Choice>
                    <mc:Fallback>
                      <p:oleObj name="公式" r:id="rId22" imgW="291973" imgH="418918" progId="Equation.3">
                        <p:embed/>
                        <p:pic>
                          <p:nvPicPr>
                            <p:cNvPr id="27671" name="Object 55">
                              <a:extLst>
                                <a:ext uri="{FF2B5EF4-FFF2-40B4-BE49-F238E27FC236}">
                                  <a16:creationId xmlns:a16="http://schemas.microsoft.com/office/drawing/2014/main" id="{FE014697-4BBE-AA0F-C56A-90DFCA0F803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65" y="1135"/>
                              <a:ext cx="211" cy="30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>
                                        <a:alpha val="74997"/>
                                      </a:srgb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672" name="Object 56">
                  <a:extLst>
                    <a:ext uri="{FF2B5EF4-FFF2-40B4-BE49-F238E27FC236}">
                      <a16:creationId xmlns:a16="http://schemas.microsoft.com/office/drawing/2014/main" id="{903B82CE-4D4B-1984-ABED-5BAF7D93093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208" y="1495"/>
                <a:ext cx="177" cy="23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4" imgW="241091" imgH="317225" progId="Equation.3">
                        <p:embed/>
                      </p:oleObj>
                    </mc:Choice>
                    <mc:Fallback>
                      <p:oleObj name="公式" r:id="rId24" imgW="241091" imgH="317225" progId="Equation.3">
                        <p:embed/>
                        <p:pic>
                          <p:nvPicPr>
                            <p:cNvPr id="27672" name="Object 56">
                              <a:extLst>
                                <a:ext uri="{FF2B5EF4-FFF2-40B4-BE49-F238E27FC236}">
                                  <a16:creationId xmlns:a16="http://schemas.microsoft.com/office/drawing/2014/main" id="{903B82CE-4D4B-1984-ABED-5BAF7D93093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08" y="1495"/>
                              <a:ext cx="177" cy="23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>
                                        <a:alpha val="74997"/>
                                      </a:srgb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673" name="Object 57">
                  <a:extLst>
                    <a:ext uri="{FF2B5EF4-FFF2-40B4-BE49-F238E27FC236}">
                      <a16:creationId xmlns:a16="http://schemas.microsoft.com/office/drawing/2014/main" id="{707740B7-7839-74F2-4560-137301BFAE2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312" y="2223"/>
                <a:ext cx="192" cy="17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6" imgW="342603" imgH="317225" progId="Equation.3">
                        <p:embed/>
                      </p:oleObj>
                    </mc:Choice>
                    <mc:Fallback>
                      <p:oleObj name="公式" r:id="rId26" imgW="342603" imgH="317225" progId="Equation.3">
                        <p:embed/>
                        <p:pic>
                          <p:nvPicPr>
                            <p:cNvPr id="27673" name="Object 57">
                              <a:extLst>
                                <a:ext uri="{FF2B5EF4-FFF2-40B4-BE49-F238E27FC236}">
                                  <a16:creationId xmlns:a16="http://schemas.microsoft.com/office/drawing/2014/main" id="{707740B7-7839-74F2-4560-137301BFAE2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12" y="2223"/>
                              <a:ext cx="192" cy="17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>
                                        <a:alpha val="74997"/>
                                      </a:srgb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466" name="Line 58">
                  <a:extLst>
                    <a:ext uri="{FF2B5EF4-FFF2-40B4-BE49-F238E27FC236}">
                      <a16:creationId xmlns:a16="http://schemas.microsoft.com/office/drawing/2014/main" id="{F4425DAA-4A99-1F54-D737-70637B4380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816"/>
                  <a:ext cx="2113" cy="62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zh-CN" altLang="en-US">
                    <a:latin typeface="Times New Roman" charset="0"/>
                    <a:ea typeface="楷体_GB2312" charset="0"/>
                  </a:endParaRPr>
                </a:p>
              </p:txBody>
            </p:sp>
            <p:sp>
              <p:nvSpPr>
                <p:cNvPr id="17467" name="Line 59">
                  <a:extLst>
                    <a:ext uri="{FF2B5EF4-FFF2-40B4-BE49-F238E27FC236}">
                      <a16:creationId xmlns:a16="http://schemas.microsoft.com/office/drawing/2014/main" id="{1543026C-55F2-A6D6-4BAF-0023CF0FB8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00" y="816"/>
                  <a:ext cx="2113" cy="1009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zh-CN" altLang="en-US">
                    <a:latin typeface="Times New Roman" charset="0"/>
                    <a:ea typeface="楷体_GB2312" charset="0"/>
                  </a:endParaRPr>
                </a:p>
              </p:txBody>
            </p:sp>
            <p:grpSp>
              <p:nvGrpSpPr>
                <p:cNvPr id="27676" name="Group 60">
                  <a:extLst>
                    <a:ext uri="{FF2B5EF4-FFF2-40B4-BE49-F238E27FC236}">
                      <a16:creationId xmlns:a16="http://schemas.microsoft.com/office/drawing/2014/main" id="{E11DD618-5DDB-9548-52E3-8A7102901C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64" y="1440"/>
                  <a:ext cx="288" cy="384"/>
                  <a:chOff x="2814" y="1920"/>
                  <a:chExt cx="288" cy="528"/>
                </a:xfrm>
              </p:grpSpPr>
              <p:sp>
                <p:nvSpPr>
                  <p:cNvPr id="17469" name="Line 61">
                    <a:extLst>
                      <a:ext uri="{FF2B5EF4-FFF2-40B4-BE49-F238E27FC236}">
                        <a16:creationId xmlns:a16="http://schemas.microsoft.com/office/drawing/2014/main" id="{C44DAF98-EC2C-5A4C-B90F-80C51C70E3E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15" y="1919"/>
                    <a:ext cx="28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70" name="Line 62">
                    <a:extLst>
                      <a:ext uri="{FF2B5EF4-FFF2-40B4-BE49-F238E27FC236}">
                        <a16:creationId xmlns:a16="http://schemas.microsoft.com/office/drawing/2014/main" id="{3E6ECEFF-30E2-5BFF-B2A7-2AE68C13A5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15" y="2449"/>
                    <a:ext cx="28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71" name="Line 63">
                    <a:extLst>
                      <a:ext uri="{FF2B5EF4-FFF2-40B4-BE49-F238E27FC236}">
                        <a16:creationId xmlns:a16="http://schemas.microsoft.com/office/drawing/2014/main" id="{1C9992B0-8E02-7516-5406-D23CA6C062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960" y="1919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72" name="Line 64">
                    <a:extLst>
                      <a:ext uri="{FF2B5EF4-FFF2-40B4-BE49-F238E27FC236}">
                        <a16:creationId xmlns:a16="http://schemas.microsoft.com/office/drawing/2014/main" id="{15C48A5C-69A1-1F5C-4694-F41A03E630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960" y="2257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</p:grpSp>
            <p:sp>
              <p:nvSpPr>
                <p:cNvPr id="17473" name="Line 65">
                  <a:extLst>
                    <a:ext uri="{FF2B5EF4-FFF2-40B4-BE49-F238E27FC236}">
                      <a16:creationId xmlns:a16="http://schemas.microsoft.com/office/drawing/2014/main" id="{D4B6555D-58DD-0908-BC4D-4E892742B1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0" y="1632"/>
                  <a:ext cx="26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zh-CN" altLang="en-US">
                    <a:latin typeface="Times New Roman" charset="0"/>
                    <a:ea typeface="楷体_GB2312" charset="0"/>
                  </a:endParaRPr>
                </a:p>
              </p:txBody>
            </p:sp>
            <p:grpSp>
              <p:nvGrpSpPr>
                <p:cNvPr id="27678" name="Group 66">
                  <a:extLst>
                    <a:ext uri="{FF2B5EF4-FFF2-40B4-BE49-F238E27FC236}">
                      <a16:creationId xmlns:a16="http://schemas.microsoft.com/office/drawing/2014/main" id="{C1DF1289-F10C-0157-C29D-D90FD62A53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2400" y="1008"/>
                  <a:ext cx="48" cy="1200"/>
                  <a:chOff x="3150" y="1296"/>
                  <a:chExt cx="0" cy="1728"/>
                </a:xfrm>
              </p:grpSpPr>
              <p:sp>
                <p:nvSpPr>
                  <p:cNvPr id="17475" name="Line 67">
                    <a:extLst>
                      <a:ext uri="{FF2B5EF4-FFF2-40B4-BE49-F238E27FC236}">
                        <a16:creationId xmlns:a16="http://schemas.microsoft.com/office/drawing/2014/main" id="{91710E9D-04C1-B3C0-CBA1-85E1214D7B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742" y="1296"/>
                    <a:ext cx="0" cy="577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76" name="Line 68">
                    <a:extLst>
                      <a:ext uri="{FF2B5EF4-FFF2-40B4-BE49-F238E27FC236}">
                        <a16:creationId xmlns:a16="http://schemas.microsoft.com/office/drawing/2014/main" id="{77DA8CF7-47DC-2D1C-360A-6B9E1DD5B25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742" y="1968"/>
                    <a:ext cx="0" cy="43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77" name="Line 69">
                    <a:extLst>
                      <a:ext uri="{FF2B5EF4-FFF2-40B4-BE49-F238E27FC236}">
                        <a16:creationId xmlns:a16="http://schemas.microsoft.com/office/drawing/2014/main" id="{1DA418BD-965C-E5C2-30B5-676FA79B84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742" y="2494"/>
                    <a:ext cx="0" cy="52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</p:grpSp>
            <p:sp>
              <p:nvSpPr>
                <p:cNvPr id="17478" name="Line 70">
                  <a:extLst>
                    <a:ext uri="{FF2B5EF4-FFF2-40B4-BE49-F238E27FC236}">
                      <a16:creationId xmlns:a16="http://schemas.microsoft.com/office/drawing/2014/main" id="{47318E7E-7C04-4378-DE73-63B6EA229B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3" y="528"/>
                  <a:ext cx="0" cy="201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eaLnBrk="1" hangingPunct="1">
                    <a:defRPr/>
                  </a:pPr>
                  <a:endParaRPr lang="zh-CN" altLang="en-US">
                    <a:latin typeface="Times New Roman" charset="0"/>
                    <a:ea typeface="楷体_GB2312" charset="0"/>
                  </a:endParaRPr>
                </a:p>
              </p:txBody>
            </p:sp>
            <p:grpSp>
              <p:nvGrpSpPr>
                <p:cNvPr id="27680" name="Group 71">
                  <a:extLst>
                    <a:ext uri="{FF2B5EF4-FFF2-40B4-BE49-F238E27FC236}">
                      <a16:creationId xmlns:a16="http://schemas.microsoft.com/office/drawing/2014/main" id="{99681A19-E370-BA06-2F74-B675E0780D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1968" y="1104"/>
                  <a:ext cx="48" cy="1056"/>
                  <a:chOff x="2574" y="1392"/>
                  <a:chExt cx="0" cy="1632"/>
                </a:xfrm>
              </p:grpSpPr>
              <p:sp>
                <p:nvSpPr>
                  <p:cNvPr id="17480" name="Line 72">
                    <a:extLst>
                      <a:ext uri="{FF2B5EF4-FFF2-40B4-BE49-F238E27FC236}">
                        <a16:creationId xmlns:a16="http://schemas.microsoft.com/office/drawing/2014/main" id="{1E568655-1A04-F143-C2F4-1183A62A11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293" y="1391"/>
                    <a:ext cx="0" cy="76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81" name="Line 73">
                    <a:extLst>
                      <a:ext uri="{FF2B5EF4-FFF2-40B4-BE49-F238E27FC236}">
                        <a16:creationId xmlns:a16="http://schemas.microsoft.com/office/drawing/2014/main" id="{3FBCE6BC-3CA8-A097-946C-0186079307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293" y="2256"/>
                    <a:ext cx="0" cy="76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</p:grpSp>
            <p:grpSp>
              <p:nvGrpSpPr>
                <p:cNvPr id="27681" name="Group 74">
                  <a:extLst>
                    <a:ext uri="{FF2B5EF4-FFF2-40B4-BE49-F238E27FC236}">
                      <a16:creationId xmlns:a16="http://schemas.microsoft.com/office/drawing/2014/main" id="{7EECF99C-DD83-526E-7AA2-4568B1CD0C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00" y="2208"/>
                  <a:ext cx="2112" cy="240"/>
                  <a:chOff x="3150" y="3120"/>
                  <a:chExt cx="2112" cy="240"/>
                </a:xfrm>
              </p:grpSpPr>
              <p:sp>
                <p:nvSpPr>
                  <p:cNvPr id="17483" name="Line 75">
                    <a:extLst>
                      <a:ext uri="{FF2B5EF4-FFF2-40B4-BE49-F238E27FC236}">
                        <a16:creationId xmlns:a16="http://schemas.microsoft.com/office/drawing/2014/main" id="{5A863F04-3A37-561F-F3C1-64381FDC31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50" y="3119"/>
                    <a:ext cx="0" cy="24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84" name="Line 76">
                    <a:extLst>
                      <a:ext uri="{FF2B5EF4-FFF2-40B4-BE49-F238E27FC236}">
                        <a16:creationId xmlns:a16="http://schemas.microsoft.com/office/drawing/2014/main" id="{1CDFB747-5BFC-06FB-54FB-34346D28FB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02" y="3217"/>
                    <a:ext cx="961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85" name="Line 77">
                    <a:extLst>
                      <a:ext uri="{FF2B5EF4-FFF2-40B4-BE49-F238E27FC236}">
                        <a16:creationId xmlns:a16="http://schemas.microsoft.com/office/drawing/2014/main" id="{B68FF11E-13BF-9168-E30E-1D42BDAD15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50" y="3217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</p:grpSp>
            <p:grpSp>
              <p:nvGrpSpPr>
                <p:cNvPr id="27682" name="Group 78">
                  <a:extLst>
                    <a:ext uri="{FF2B5EF4-FFF2-40B4-BE49-F238E27FC236}">
                      <a16:creationId xmlns:a16="http://schemas.microsoft.com/office/drawing/2014/main" id="{D6DD5D9C-AC53-DBE9-667A-0E1440744D6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08" y="816"/>
                  <a:ext cx="192" cy="816"/>
                  <a:chOff x="5262" y="1296"/>
                  <a:chExt cx="192" cy="912"/>
                </a:xfrm>
              </p:grpSpPr>
              <p:sp>
                <p:nvSpPr>
                  <p:cNvPr id="17487" name="Line 79">
                    <a:extLst>
                      <a:ext uri="{FF2B5EF4-FFF2-40B4-BE49-F238E27FC236}">
                        <a16:creationId xmlns:a16="http://schemas.microsoft.com/office/drawing/2014/main" id="{2ED9348C-2D9D-D086-1F5D-DA696DC4D79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62" y="2208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88" name="Line 80">
                    <a:extLst>
                      <a:ext uri="{FF2B5EF4-FFF2-40B4-BE49-F238E27FC236}">
                        <a16:creationId xmlns:a16="http://schemas.microsoft.com/office/drawing/2014/main" id="{4C063F7B-5725-3F6B-B184-BC8F60F5EED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62" y="1296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89" name="Line 81">
                    <a:extLst>
                      <a:ext uri="{FF2B5EF4-FFF2-40B4-BE49-F238E27FC236}">
                        <a16:creationId xmlns:a16="http://schemas.microsoft.com/office/drawing/2014/main" id="{BFD92E05-3B2F-37F2-9875-B2E3CB3DA2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359" y="1296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7490" name="Line 82">
                    <a:extLst>
                      <a:ext uri="{FF2B5EF4-FFF2-40B4-BE49-F238E27FC236}">
                        <a16:creationId xmlns:a16="http://schemas.microsoft.com/office/drawing/2014/main" id="{5D973CF4-570E-1959-6D1E-AC545DA956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359" y="1872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</p:grpSp>
            <p:graphicFrame>
              <p:nvGraphicFramePr>
                <p:cNvPr id="27683" name="Object 83">
                  <a:extLst>
                    <a:ext uri="{FF2B5EF4-FFF2-40B4-BE49-F238E27FC236}">
                      <a16:creationId xmlns:a16="http://schemas.microsoft.com/office/drawing/2014/main" id="{C1A6C84A-D36F-81C5-65A2-69EBF7724EC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614" y="1152"/>
                <a:ext cx="186" cy="17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8" imgW="253890" imgH="241195" progId="Equation.3">
                        <p:embed/>
                      </p:oleObj>
                    </mc:Choice>
                    <mc:Fallback>
                      <p:oleObj name="公式" r:id="rId28" imgW="253890" imgH="241195" progId="Equation.3">
                        <p:embed/>
                        <p:pic>
                          <p:nvPicPr>
                            <p:cNvPr id="27683" name="Object 83">
                              <a:extLst>
                                <a:ext uri="{FF2B5EF4-FFF2-40B4-BE49-F238E27FC236}">
                                  <a16:creationId xmlns:a16="http://schemas.microsoft.com/office/drawing/2014/main" id="{C1A6C84A-D36F-81C5-65A2-69EBF7724EC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14" y="1152"/>
                              <a:ext cx="186" cy="17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>
                                        <a:alpha val="74997"/>
                                      </a:srgb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684" name="Object 84">
                  <a:extLst>
                    <a:ext uri="{FF2B5EF4-FFF2-40B4-BE49-F238E27FC236}">
                      <a16:creationId xmlns:a16="http://schemas.microsoft.com/office/drawing/2014/main" id="{89975056-827F-4A57-ECAE-74AED409300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823" y="1540"/>
                <a:ext cx="169" cy="18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0" imgW="291847" imgH="317225" progId="Equation.3">
                        <p:embed/>
                      </p:oleObj>
                    </mc:Choice>
                    <mc:Fallback>
                      <p:oleObj name="公式" r:id="rId30" imgW="291847" imgH="317225" progId="Equation.3">
                        <p:embed/>
                        <p:pic>
                          <p:nvPicPr>
                            <p:cNvPr id="27684" name="Object 84">
                              <a:extLst>
                                <a:ext uri="{FF2B5EF4-FFF2-40B4-BE49-F238E27FC236}">
                                  <a16:creationId xmlns:a16="http://schemas.microsoft.com/office/drawing/2014/main" id="{89975056-827F-4A57-ECAE-74AED4093002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23" y="1540"/>
                              <a:ext cx="169" cy="18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>
                                        <a:alpha val="74997"/>
                                      </a:srgb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685" name="Object 85">
                  <a:extLst>
                    <a:ext uri="{FF2B5EF4-FFF2-40B4-BE49-F238E27FC236}">
                      <a16:creationId xmlns:a16="http://schemas.microsoft.com/office/drawing/2014/main" id="{4BFE861D-7DF5-772A-397A-7A7E4BBB879B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12" y="624"/>
                <a:ext cx="179" cy="1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2" imgW="291973" imgH="291973" progId="Equation.3">
                        <p:embed/>
                      </p:oleObj>
                    </mc:Choice>
                    <mc:Fallback>
                      <p:oleObj name="公式" r:id="rId32" imgW="291973" imgH="291973" progId="Equation.3">
                        <p:embed/>
                        <p:pic>
                          <p:nvPicPr>
                            <p:cNvPr id="27685" name="Object 85">
                              <a:extLst>
                                <a:ext uri="{FF2B5EF4-FFF2-40B4-BE49-F238E27FC236}">
                                  <a16:creationId xmlns:a16="http://schemas.microsoft.com/office/drawing/2014/main" id="{4BFE861D-7DF5-772A-397A-7A7E4BBB879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12" y="624"/>
                              <a:ext cx="179" cy="1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>
                                        <a:alpha val="74997"/>
                                      </a:srgb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686" name="Object 86">
                  <a:extLst>
                    <a:ext uri="{FF2B5EF4-FFF2-40B4-BE49-F238E27FC236}">
                      <a16:creationId xmlns:a16="http://schemas.microsoft.com/office/drawing/2014/main" id="{715F10E0-B0DF-9941-B92F-86C6EF9F2E4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315" y="864"/>
                <a:ext cx="158" cy="2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4" imgW="253890" imgH="418918" progId="Equation.3">
                        <p:embed/>
                      </p:oleObj>
                    </mc:Choice>
                    <mc:Fallback>
                      <p:oleObj name="公式" r:id="rId34" imgW="253890" imgH="418918" progId="Equation.3">
                        <p:embed/>
                        <p:pic>
                          <p:nvPicPr>
                            <p:cNvPr id="27686" name="Object 86">
                              <a:extLst>
                                <a:ext uri="{FF2B5EF4-FFF2-40B4-BE49-F238E27FC236}">
                                  <a16:creationId xmlns:a16="http://schemas.microsoft.com/office/drawing/2014/main" id="{715F10E0-B0DF-9941-B92F-86C6EF9F2E4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15" y="864"/>
                              <a:ext cx="158" cy="2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>
                                        <a:alpha val="74997"/>
                                      </a:srgb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687" name="Object 87">
                  <a:extLst>
                    <a:ext uri="{FF2B5EF4-FFF2-40B4-BE49-F238E27FC236}">
                      <a16:creationId xmlns:a16="http://schemas.microsoft.com/office/drawing/2014/main" id="{C4DB7B33-EA22-7E92-F155-46593908AF6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313" y="1296"/>
                <a:ext cx="175" cy="2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6" imgW="266584" imgH="418918" progId="Equation.3">
                        <p:embed/>
                      </p:oleObj>
                    </mc:Choice>
                    <mc:Fallback>
                      <p:oleObj name="公式" r:id="rId36" imgW="266584" imgH="418918" progId="Equation.3">
                        <p:embed/>
                        <p:pic>
                          <p:nvPicPr>
                            <p:cNvPr id="27687" name="Object 87">
                              <a:extLst>
                                <a:ext uri="{FF2B5EF4-FFF2-40B4-BE49-F238E27FC236}">
                                  <a16:creationId xmlns:a16="http://schemas.microsoft.com/office/drawing/2014/main" id="{C4DB7B33-EA22-7E92-F155-46593908AF6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13" y="1296"/>
                              <a:ext cx="175" cy="2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>
                                        <a:alpha val="74997"/>
                                      </a:srgbClr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8" grpId="0" autoUpdateAnimBg="0"/>
      <p:bldP spid="17441" grpId="0" animBg="1"/>
      <p:bldP spid="17443" grpId="0" autoUpdateAnimBg="0"/>
      <p:bldP spid="17445" grpId="0" animBg="1" autoUpdateAnimBg="0"/>
      <p:bldP spid="1744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1" name="Rectangle 1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1604022-2AF1-753B-9D9A-4318978D5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0" y="6337300"/>
            <a:ext cx="792163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1282" name="Rectangle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5EC0B46-96A2-F69B-354B-C062A4355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6353175"/>
            <a:ext cx="792162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1283" name="Rectangle 19">
            <a:hlinkClick r:id="rId2" action="ppaction://hlinkpres?slideindex=22&amp;slidetitle=幻灯片 22"/>
            <a:extLst>
              <a:ext uri="{FF2B5EF4-FFF2-40B4-BE49-F238E27FC236}">
                <a16:creationId xmlns:a16="http://schemas.microsoft.com/office/drawing/2014/main" id="{4ABC0931-C75A-8F48-EA02-B59D96FC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75" y="6353175"/>
            <a:ext cx="792163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1284" name="Rectangle 20">
            <a:hlinkClick r:id="" action="ppaction://hlinkshowjump?jump=endshow"/>
            <a:extLst>
              <a:ext uri="{FF2B5EF4-FFF2-40B4-BE49-F238E27FC236}">
                <a16:creationId xmlns:a16="http://schemas.microsoft.com/office/drawing/2014/main" id="{10B03AD1-ABAA-0143-26FF-8338A3863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6351588"/>
            <a:ext cx="792163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1285" name="Text Box 21">
            <a:extLst>
              <a:ext uri="{FF2B5EF4-FFF2-40B4-BE49-F238E27FC236}">
                <a16:creationId xmlns:a16="http://schemas.microsoft.com/office/drawing/2014/main" id="{894A5C76-F82C-F06B-627D-EC0127B37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644900"/>
            <a:ext cx="192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/>
              <a:t>分振幅干涉</a:t>
            </a:r>
          </a:p>
        </p:txBody>
      </p:sp>
      <p:sp>
        <p:nvSpPr>
          <p:cNvPr id="11286" name="Text Box 22">
            <a:extLst>
              <a:ext uri="{FF2B5EF4-FFF2-40B4-BE49-F238E27FC236}">
                <a16:creationId xmlns:a16="http://schemas.microsoft.com/office/drawing/2014/main" id="{A20AD6C3-6E24-A1FD-936D-D482CF8FF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060575"/>
            <a:ext cx="3667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/>
              <a:t>干涉</a:t>
            </a:r>
          </a:p>
        </p:txBody>
      </p:sp>
      <p:sp>
        <p:nvSpPr>
          <p:cNvPr id="11287" name="AutoShape 23">
            <a:extLst>
              <a:ext uri="{FF2B5EF4-FFF2-40B4-BE49-F238E27FC236}">
                <a16:creationId xmlns:a16="http://schemas.microsoft.com/office/drawing/2014/main" id="{429BE3E1-DC08-81A5-18A4-D3080792B1C3}"/>
              </a:ext>
            </a:extLst>
          </p:cNvPr>
          <p:cNvSpPr>
            <a:spLocks/>
          </p:cNvSpPr>
          <p:nvPr/>
        </p:nvSpPr>
        <p:spPr bwMode="auto">
          <a:xfrm>
            <a:off x="684213" y="1196975"/>
            <a:ext cx="381000" cy="2663825"/>
          </a:xfrm>
          <a:prstGeom prst="leftBrace">
            <a:avLst>
              <a:gd name="adj1" fmla="val 5826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1288" name="Text Box 24">
            <a:extLst>
              <a:ext uri="{FF2B5EF4-FFF2-40B4-BE49-F238E27FC236}">
                <a16:creationId xmlns:a16="http://schemas.microsoft.com/office/drawing/2014/main" id="{7D8D41CB-E461-DFCD-C730-C8B0BA342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908050"/>
            <a:ext cx="1852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/>
              <a:t>分波面干涉</a:t>
            </a:r>
          </a:p>
        </p:txBody>
      </p:sp>
      <p:sp>
        <p:nvSpPr>
          <p:cNvPr id="11289" name="AutoShape 25">
            <a:extLst>
              <a:ext uri="{FF2B5EF4-FFF2-40B4-BE49-F238E27FC236}">
                <a16:creationId xmlns:a16="http://schemas.microsoft.com/office/drawing/2014/main" id="{049621AB-AD32-988C-9F6D-718F5F3A015B}"/>
              </a:ext>
            </a:extLst>
          </p:cNvPr>
          <p:cNvSpPr>
            <a:spLocks/>
          </p:cNvSpPr>
          <p:nvPr/>
        </p:nvSpPr>
        <p:spPr bwMode="auto">
          <a:xfrm>
            <a:off x="2700338" y="765175"/>
            <a:ext cx="287337" cy="792163"/>
          </a:xfrm>
          <a:prstGeom prst="leftBrace">
            <a:avLst>
              <a:gd name="adj1" fmla="val 2297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1290" name="Text Box 26">
            <a:extLst>
              <a:ext uri="{FF2B5EF4-FFF2-40B4-BE49-F238E27FC236}">
                <a16:creationId xmlns:a16="http://schemas.microsoft.com/office/drawing/2014/main" id="{2862DFE7-F6C9-F225-BCF1-99362E4CF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665163"/>
            <a:ext cx="2176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杨式双缝干涉</a:t>
            </a:r>
          </a:p>
        </p:txBody>
      </p:sp>
      <p:sp>
        <p:nvSpPr>
          <p:cNvPr id="11291" name="Text Box 27">
            <a:extLst>
              <a:ext uri="{FF2B5EF4-FFF2-40B4-BE49-F238E27FC236}">
                <a16:creationId xmlns:a16="http://schemas.microsoft.com/office/drawing/2014/main" id="{904345E8-4320-49A1-A54B-642EDEE89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1320800"/>
            <a:ext cx="35702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0" dirty="0"/>
              <a:t>菲涅尔双镜、洛埃镜实验</a:t>
            </a:r>
          </a:p>
        </p:txBody>
      </p:sp>
      <p:sp>
        <p:nvSpPr>
          <p:cNvPr id="11292" name="AutoShape 28">
            <a:extLst>
              <a:ext uri="{FF2B5EF4-FFF2-40B4-BE49-F238E27FC236}">
                <a16:creationId xmlns:a16="http://schemas.microsoft.com/office/drawing/2014/main" id="{6D3A8C3E-5EF0-2131-9ADC-F786E8B2B7CC}"/>
              </a:ext>
            </a:extLst>
          </p:cNvPr>
          <p:cNvSpPr>
            <a:spLocks/>
          </p:cNvSpPr>
          <p:nvPr/>
        </p:nvSpPr>
        <p:spPr bwMode="auto">
          <a:xfrm>
            <a:off x="2687638" y="2217738"/>
            <a:ext cx="228600" cy="3227387"/>
          </a:xfrm>
          <a:prstGeom prst="leftBrace">
            <a:avLst>
              <a:gd name="adj1" fmla="val 1176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1293" name="Text Box 29">
            <a:extLst>
              <a:ext uri="{FF2B5EF4-FFF2-40B4-BE49-F238E27FC236}">
                <a16:creationId xmlns:a16="http://schemas.microsoft.com/office/drawing/2014/main" id="{2738CF92-189D-0E0A-C813-EFF39D125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2039938"/>
            <a:ext cx="384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0">
                <a:solidFill>
                  <a:schemeClr val="accent2"/>
                </a:solidFill>
              </a:rPr>
              <a:t>等倾干涉</a:t>
            </a:r>
            <a:r>
              <a:rPr lang="zh-CN" altLang="en-US" sz="2400" b="0">
                <a:latin typeface="Arial" panose="020B0604020202020204" pitchFamily="34" charset="0"/>
              </a:rPr>
              <a:t>——</a:t>
            </a:r>
            <a:r>
              <a:rPr lang="zh-CN" altLang="en-US" sz="2400" b="0"/>
              <a:t>平行薄膜干涉</a:t>
            </a:r>
          </a:p>
        </p:txBody>
      </p:sp>
      <p:grpSp>
        <p:nvGrpSpPr>
          <p:cNvPr id="28686" name="Group 30">
            <a:extLst>
              <a:ext uri="{FF2B5EF4-FFF2-40B4-BE49-F238E27FC236}">
                <a16:creationId xmlns:a16="http://schemas.microsoft.com/office/drawing/2014/main" id="{631CC297-E38B-3133-51D5-55FE72A14618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5013327"/>
            <a:ext cx="3625850" cy="1244600"/>
            <a:chOff x="1837" y="3158"/>
            <a:chExt cx="1809" cy="784"/>
          </a:xfrm>
        </p:grpSpPr>
        <p:sp>
          <p:nvSpPr>
            <p:cNvPr id="11295" name="Rectangle 31">
              <a:extLst>
                <a:ext uri="{FF2B5EF4-FFF2-40B4-BE49-F238E27FC236}">
                  <a16:creationId xmlns:a16="http://schemas.microsoft.com/office/drawing/2014/main" id="{BA54851E-A3F9-AD83-B1E0-2D033F27B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3339"/>
              <a:ext cx="7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b="0">
                  <a:solidFill>
                    <a:schemeClr val="accent2"/>
                  </a:solidFill>
                </a:rPr>
                <a:t>等厚干涉</a:t>
              </a:r>
            </a:p>
          </p:txBody>
        </p:sp>
        <p:sp>
          <p:nvSpPr>
            <p:cNvPr id="11296" name="AutoShape 32">
              <a:extLst>
                <a:ext uri="{FF2B5EF4-FFF2-40B4-BE49-F238E27FC236}">
                  <a16:creationId xmlns:a16="http://schemas.microsoft.com/office/drawing/2014/main" id="{C9D51C86-8DFE-1E9D-8AF8-DC2C7076B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3158"/>
              <a:ext cx="142" cy="655"/>
            </a:xfrm>
            <a:prstGeom prst="leftBrace">
              <a:avLst>
                <a:gd name="adj1" fmla="val 3843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  <p:sp>
          <p:nvSpPr>
            <p:cNvPr id="11297" name="Text Box 33">
              <a:extLst>
                <a:ext uri="{FF2B5EF4-FFF2-40B4-BE49-F238E27FC236}">
                  <a16:creationId xmlns:a16="http://schemas.microsoft.com/office/drawing/2014/main" id="{99116F94-BF8D-E887-1F61-158455E52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1" y="3333"/>
              <a:ext cx="7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劈尖干涉</a:t>
              </a:r>
            </a:p>
          </p:txBody>
        </p:sp>
        <p:sp>
          <p:nvSpPr>
            <p:cNvPr id="11298" name="Text Box 34">
              <a:extLst>
                <a:ext uri="{FF2B5EF4-FFF2-40B4-BE49-F238E27FC236}">
                  <a16:creationId xmlns:a16="http://schemas.microsoft.com/office/drawing/2014/main" id="{C8F30FFE-7E00-849B-9C05-835CE4120A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3654"/>
              <a:ext cx="85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牛顿环干涉</a:t>
              </a:r>
            </a:p>
          </p:txBody>
        </p:sp>
      </p:grpSp>
      <p:graphicFrame>
        <p:nvGraphicFramePr>
          <p:cNvPr id="28687" name="Object 41">
            <a:extLst>
              <a:ext uri="{FF2B5EF4-FFF2-40B4-BE49-F238E27FC236}">
                <a16:creationId xmlns:a16="http://schemas.microsoft.com/office/drawing/2014/main" id="{9AF7C8EF-EBB2-7CF0-6C5F-149118BA75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6638" y="4000500"/>
          <a:ext cx="274955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810000" imgH="825500" progId="Equation.3">
                  <p:embed/>
                </p:oleObj>
              </mc:Choice>
              <mc:Fallback>
                <p:oleObj name="公式" r:id="rId3" imgW="3810000" imgH="825500" progId="Equation.3">
                  <p:embed/>
                  <p:pic>
                    <p:nvPicPr>
                      <p:cNvPr id="28687" name="Object 41">
                        <a:extLst>
                          <a:ext uri="{FF2B5EF4-FFF2-40B4-BE49-F238E27FC236}">
                            <a16:creationId xmlns:a16="http://schemas.microsoft.com/office/drawing/2014/main" id="{9AF7C8EF-EBB2-7CF0-6C5F-149118BA75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638" y="4000500"/>
                        <a:ext cx="274955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14" name="Group 50">
            <a:extLst>
              <a:ext uri="{FF2B5EF4-FFF2-40B4-BE49-F238E27FC236}">
                <a16:creationId xmlns:a16="http://schemas.microsoft.com/office/drawing/2014/main" id="{AE3CFA9A-A71F-4CAC-FA74-AC03F9F8B08B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2493963"/>
            <a:ext cx="5764212" cy="1903412"/>
            <a:chOff x="2109" y="1571"/>
            <a:chExt cx="3631" cy="1199"/>
          </a:xfrm>
        </p:grpSpPr>
        <p:graphicFrame>
          <p:nvGraphicFramePr>
            <p:cNvPr id="28691" name="Object 36">
              <a:extLst>
                <a:ext uri="{FF2B5EF4-FFF2-40B4-BE49-F238E27FC236}">
                  <a16:creationId xmlns:a16="http://schemas.microsoft.com/office/drawing/2014/main" id="{54940550-0BD1-6E8C-8889-B4CF778D9C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95" y="1888"/>
            <a:ext cx="140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657600" imgH="825500" progId="Equation.3">
                    <p:embed/>
                  </p:oleObj>
                </mc:Choice>
                <mc:Fallback>
                  <p:oleObj name="公式" r:id="rId5" imgW="3657600" imgH="825500" progId="Equation.3">
                    <p:embed/>
                    <p:pic>
                      <p:nvPicPr>
                        <p:cNvPr id="28691" name="Object 36">
                          <a:extLst>
                            <a:ext uri="{FF2B5EF4-FFF2-40B4-BE49-F238E27FC236}">
                              <a16:creationId xmlns:a16="http://schemas.microsoft.com/office/drawing/2014/main" id="{54940550-0BD1-6E8C-8889-B4CF778D9C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5" y="1888"/>
                          <a:ext cx="1406" cy="304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692" name="Group 49">
              <a:extLst>
                <a:ext uri="{FF2B5EF4-FFF2-40B4-BE49-F238E27FC236}">
                  <a16:creationId xmlns:a16="http://schemas.microsoft.com/office/drawing/2014/main" id="{F4B6F67A-E416-2262-D2BF-211E47E34F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1" y="1571"/>
              <a:ext cx="1756" cy="371"/>
              <a:chOff x="2131" y="1571"/>
              <a:chExt cx="1756" cy="371"/>
            </a:xfrm>
          </p:grpSpPr>
          <p:graphicFrame>
            <p:nvGraphicFramePr>
              <p:cNvPr id="28700" name="Object 37">
                <a:extLst>
                  <a:ext uri="{FF2B5EF4-FFF2-40B4-BE49-F238E27FC236}">
                    <a16:creationId xmlns:a16="http://schemas.microsoft.com/office/drawing/2014/main" id="{F81F0383-2B13-4BE5-D1C0-02CB297FF47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64" y="1571"/>
              <a:ext cx="1123" cy="3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1143000" imgH="393700" progId="Equation.3">
                      <p:embed/>
                    </p:oleObj>
                  </mc:Choice>
                  <mc:Fallback>
                    <p:oleObj name="公式" r:id="rId7" imgW="1143000" imgH="393700" progId="Equation.3">
                      <p:embed/>
                      <p:pic>
                        <p:nvPicPr>
                          <p:cNvPr id="28700" name="Object 37">
                            <a:extLst>
                              <a:ext uri="{FF2B5EF4-FFF2-40B4-BE49-F238E27FC236}">
                                <a16:creationId xmlns:a16="http://schemas.microsoft.com/office/drawing/2014/main" id="{F81F0383-2B13-4BE5-D1C0-02CB297FF47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4" y="1571"/>
                            <a:ext cx="1123" cy="37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2" name="Text Box 38">
                <a:extLst>
                  <a:ext uri="{FF2B5EF4-FFF2-40B4-BE49-F238E27FC236}">
                    <a16:creationId xmlns:a16="http://schemas.microsoft.com/office/drawing/2014/main" id="{EA0F68CA-2341-480C-69E9-2D45437404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1" y="1616"/>
                <a:ext cx="60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000">
                    <a:latin typeface="Times New Roman" charset="0"/>
                    <a:ea typeface="楷体_GB2312" charset="0"/>
                  </a:rPr>
                  <a:t>光程差</a:t>
                </a:r>
              </a:p>
            </p:txBody>
          </p:sp>
        </p:grpSp>
        <p:graphicFrame>
          <p:nvGraphicFramePr>
            <p:cNvPr id="28693" name="Object 40">
              <a:extLst>
                <a:ext uri="{FF2B5EF4-FFF2-40B4-BE49-F238E27FC236}">
                  <a16:creationId xmlns:a16="http://schemas.microsoft.com/office/drawing/2014/main" id="{354599EE-17F3-0348-958B-28243C9E2B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3" y="2160"/>
            <a:ext cx="1286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819400" imgH="825500" progId="Equation.3">
                    <p:embed/>
                  </p:oleObj>
                </mc:Choice>
                <mc:Fallback>
                  <p:oleObj name="公式" r:id="rId9" imgW="2819400" imgH="825500" progId="Equation.3">
                    <p:embed/>
                    <p:pic>
                      <p:nvPicPr>
                        <p:cNvPr id="28693" name="Object 40">
                          <a:extLst>
                            <a:ext uri="{FF2B5EF4-FFF2-40B4-BE49-F238E27FC236}">
                              <a16:creationId xmlns:a16="http://schemas.microsoft.com/office/drawing/2014/main" id="{354599EE-17F3-0348-958B-28243C9E2B6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" y="2160"/>
                          <a:ext cx="1286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4" name="Object 42">
              <a:extLst>
                <a:ext uri="{FF2B5EF4-FFF2-40B4-BE49-F238E27FC236}">
                  <a16:creationId xmlns:a16="http://schemas.microsoft.com/office/drawing/2014/main" id="{DE7D1C83-5DF3-4543-090D-AC834442FA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1" y="2251"/>
            <a:ext cx="77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622030" imgH="203112" progId="Equation.3">
                    <p:embed/>
                  </p:oleObj>
                </mc:Choice>
                <mc:Fallback>
                  <p:oleObj name="公式" r:id="rId11" imgW="622030" imgH="203112" progId="Equation.3">
                    <p:embed/>
                    <p:pic>
                      <p:nvPicPr>
                        <p:cNvPr id="28694" name="Object 42">
                          <a:extLst>
                            <a:ext uri="{FF2B5EF4-FFF2-40B4-BE49-F238E27FC236}">
                              <a16:creationId xmlns:a16="http://schemas.microsoft.com/office/drawing/2014/main" id="{DE7D1C83-5DF3-4543-090D-AC834442FA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2251"/>
                          <a:ext cx="771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07" name="Rectangle 43">
              <a:extLst>
                <a:ext uri="{FF2B5EF4-FFF2-40B4-BE49-F238E27FC236}">
                  <a16:creationId xmlns:a16="http://schemas.microsoft.com/office/drawing/2014/main" id="{D22B983C-A89F-4F67-BAF9-A96718246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1" y="2514"/>
              <a:ext cx="59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000">
                  <a:latin typeface="Times New Roman" charset="0"/>
                  <a:ea typeface="楷体_GB2312" charset="0"/>
                </a:rPr>
                <a:t>（暗）</a:t>
              </a:r>
            </a:p>
          </p:txBody>
        </p:sp>
        <p:sp>
          <p:nvSpPr>
            <p:cNvPr id="11308" name="Rectangle 44">
              <a:extLst>
                <a:ext uri="{FF2B5EF4-FFF2-40B4-BE49-F238E27FC236}">
                  <a16:creationId xmlns:a16="http://schemas.microsoft.com/office/drawing/2014/main" id="{D4B12E13-DD12-EE1A-D5C4-8C1CE628B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1" y="2228"/>
              <a:ext cx="61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sz="2000">
                  <a:latin typeface="Times New Roman" charset="0"/>
                  <a:ea typeface="楷体_GB2312" charset="0"/>
                </a:rPr>
                <a:t>（明）</a:t>
              </a:r>
            </a:p>
          </p:txBody>
        </p:sp>
        <p:graphicFrame>
          <p:nvGraphicFramePr>
            <p:cNvPr id="28697" name="Object 45">
              <a:extLst>
                <a:ext uri="{FF2B5EF4-FFF2-40B4-BE49-F238E27FC236}">
                  <a16:creationId xmlns:a16="http://schemas.microsoft.com/office/drawing/2014/main" id="{46E9BE98-5310-0637-9CE9-A35A8B3370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2603"/>
            <a:ext cx="791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727200" imgH="368300" progId="Equation.3">
                    <p:embed/>
                  </p:oleObj>
                </mc:Choice>
                <mc:Fallback>
                  <p:oleObj name="公式" r:id="rId13" imgW="1727200" imgH="368300" progId="Equation.3">
                    <p:embed/>
                    <p:pic>
                      <p:nvPicPr>
                        <p:cNvPr id="28697" name="Object 45">
                          <a:extLst>
                            <a:ext uri="{FF2B5EF4-FFF2-40B4-BE49-F238E27FC236}">
                              <a16:creationId xmlns:a16="http://schemas.microsoft.com/office/drawing/2014/main" id="{46E9BE98-5310-0637-9CE9-A35A8B3370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603"/>
                          <a:ext cx="791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0" name="AutoShape 46">
              <a:extLst>
                <a:ext uri="{FF2B5EF4-FFF2-40B4-BE49-F238E27FC236}">
                  <a16:creationId xmlns:a16="http://schemas.microsoft.com/office/drawing/2014/main" id="{6C2569A7-4644-5AD1-5A17-CC74B0A3E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" y="2341"/>
              <a:ext cx="54" cy="376"/>
            </a:xfrm>
            <a:prstGeom prst="leftBrace">
              <a:avLst>
                <a:gd name="adj1" fmla="val 580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  <p:sp>
          <p:nvSpPr>
            <p:cNvPr id="11311" name="Text Box 47">
              <a:extLst>
                <a:ext uri="{FF2B5EF4-FFF2-40B4-BE49-F238E27FC236}">
                  <a16:creationId xmlns:a16="http://schemas.microsoft.com/office/drawing/2014/main" id="{52CBA364-07C3-9EC2-52D3-828C60CAE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8" y="1888"/>
              <a:ext cx="10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000">
                  <a:latin typeface="Times New Roman" charset="0"/>
                  <a:ea typeface="楷体_GB2312" charset="0"/>
                </a:rPr>
                <a:t>用入射角表示</a:t>
              </a:r>
            </a:p>
          </p:txBody>
        </p:sp>
      </p:grpSp>
      <p:sp>
        <p:nvSpPr>
          <p:cNvPr id="11312" name="AutoShape 48">
            <a:extLst>
              <a:ext uri="{FF2B5EF4-FFF2-40B4-BE49-F238E27FC236}">
                <a16:creationId xmlns:a16="http://schemas.microsoft.com/office/drawing/2014/main" id="{A1B93EDE-DA38-8B37-CAF6-7C86AB7F8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088" y="2060575"/>
            <a:ext cx="2224087" cy="690563"/>
          </a:xfrm>
          <a:prstGeom prst="wedgeRoundRectCallout">
            <a:avLst>
              <a:gd name="adj1" fmla="val -69699"/>
              <a:gd name="adj2" fmla="val 56435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/>
              <a:t>会分析有没有</a:t>
            </a:r>
          </a:p>
          <a:p>
            <a:pPr algn="ctr" eaLnBrk="1" hangingPunct="1"/>
            <a:r>
              <a:rPr lang="zh-CN" altLang="en-US" sz="2000"/>
              <a:t>半波损失！</a:t>
            </a:r>
          </a:p>
        </p:txBody>
      </p:sp>
      <p:sp>
        <p:nvSpPr>
          <p:cNvPr id="11315" name="AutoShape 51">
            <a:extLst>
              <a:ext uri="{FF2B5EF4-FFF2-40B4-BE49-F238E27FC236}">
                <a16:creationId xmlns:a16="http://schemas.microsoft.com/office/drawing/2014/main" id="{2F7B0BB4-8110-0617-2669-D4BF1D1A6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1484313"/>
            <a:ext cx="2246313" cy="468312"/>
          </a:xfrm>
          <a:prstGeom prst="wedgeRoundRectCallout">
            <a:avLst>
              <a:gd name="adj1" fmla="val -24769"/>
              <a:gd name="adj2" fmla="val 24917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/>
              <a:t>干涉装置、图案</a:t>
            </a:r>
          </a:p>
        </p:txBody>
      </p:sp>
      <p:sp>
        <p:nvSpPr>
          <p:cNvPr id="39" name="Text Box 33">
            <a:extLst>
              <a:ext uri="{FF2B5EF4-FFF2-40B4-BE49-F238E27FC236}">
                <a16:creationId xmlns:a16="http://schemas.microsoft.com/office/drawing/2014/main" id="{9D401168-A307-1B1A-853C-2FB06D47D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401" y="4784727"/>
            <a:ext cx="15092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薄膜干涉</a:t>
            </a:r>
          </a:p>
        </p:txBody>
      </p:sp>
      <p:sp>
        <p:nvSpPr>
          <p:cNvPr id="41" name="Text Box 34">
            <a:extLst>
              <a:ext uri="{FF2B5EF4-FFF2-40B4-BE49-F238E27FC236}">
                <a16:creationId xmlns:a16="http://schemas.microsoft.com/office/drawing/2014/main" id="{C1D66A02-5D92-BEE5-889D-2E6D42DF0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32" y="5168901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迈克耳孙干涉仪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12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" name="Rectangle 40">
            <a:extLst>
              <a:ext uri="{FF2B5EF4-FFF2-40B4-BE49-F238E27FC236}">
                <a16:creationId xmlns:a16="http://schemas.microsoft.com/office/drawing/2014/main" id="{01CBA465-2551-9A5D-D15E-532191079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76250"/>
            <a:ext cx="2160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劈尖干涉</a:t>
            </a:r>
          </a:p>
        </p:txBody>
      </p:sp>
      <p:grpSp>
        <p:nvGrpSpPr>
          <p:cNvPr id="5169" name="Group 49">
            <a:extLst>
              <a:ext uri="{FF2B5EF4-FFF2-40B4-BE49-F238E27FC236}">
                <a16:creationId xmlns:a16="http://schemas.microsoft.com/office/drawing/2014/main" id="{805B71BA-470A-D000-2766-C05E4C627428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4797425"/>
            <a:ext cx="6742112" cy="406400"/>
            <a:chOff x="748" y="1933"/>
            <a:chExt cx="4140" cy="288"/>
          </a:xfrm>
        </p:grpSpPr>
        <p:graphicFrame>
          <p:nvGraphicFramePr>
            <p:cNvPr id="29809" name="Object 50">
              <a:extLst>
                <a:ext uri="{FF2B5EF4-FFF2-40B4-BE49-F238E27FC236}">
                  <a16:creationId xmlns:a16="http://schemas.microsoft.com/office/drawing/2014/main" id="{EB458070-06E5-248E-D68B-580B7A8F44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8" y="1933"/>
            <a:ext cx="2144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403600" imgH="444500" progId="Equation.3">
                    <p:embed/>
                  </p:oleObj>
                </mc:Choice>
                <mc:Fallback>
                  <p:oleObj name="Equation" r:id="rId2" imgW="3403600" imgH="444500" progId="Equation.3">
                    <p:embed/>
                    <p:pic>
                      <p:nvPicPr>
                        <p:cNvPr id="29809" name="Object 50">
                          <a:extLst>
                            <a:ext uri="{FF2B5EF4-FFF2-40B4-BE49-F238E27FC236}">
                              <a16:creationId xmlns:a16="http://schemas.microsoft.com/office/drawing/2014/main" id="{EB458070-06E5-248E-D68B-580B7A8F44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1933"/>
                          <a:ext cx="2144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810" name="Object 51">
              <a:extLst>
                <a:ext uri="{FF2B5EF4-FFF2-40B4-BE49-F238E27FC236}">
                  <a16:creationId xmlns:a16="http://schemas.microsoft.com/office/drawing/2014/main" id="{3B8EAC1E-2B42-E249-D19A-E683E1A6D0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1" y="1937"/>
            <a:ext cx="166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654300" imgH="444500" progId="Equation.3">
                    <p:embed/>
                  </p:oleObj>
                </mc:Choice>
                <mc:Fallback>
                  <p:oleObj name="Equation" r:id="rId4" imgW="2654300" imgH="444500" progId="Equation.3">
                    <p:embed/>
                    <p:pic>
                      <p:nvPicPr>
                        <p:cNvPr id="29810" name="Object 51">
                          <a:extLst>
                            <a:ext uri="{FF2B5EF4-FFF2-40B4-BE49-F238E27FC236}">
                              <a16:creationId xmlns:a16="http://schemas.microsoft.com/office/drawing/2014/main" id="{3B8EAC1E-2B42-E249-D19A-E683E1A6D0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1" y="1937"/>
                          <a:ext cx="1667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72" name="Object 52">
            <a:extLst>
              <a:ext uri="{FF2B5EF4-FFF2-40B4-BE49-F238E27FC236}">
                <a16:creationId xmlns:a16="http://schemas.microsoft.com/office/drawing/2014/main" id="{870E3FE4-80B4-07CD-B9FE-BD33B2FD6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5876925"/>
          <a:ext cx="1179512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336" imgH="431613" progId="Equation.3">
                  <p:embed/>
                </p:oleObj>
              </mc:Choice>
              <mc:Fallback>
                <p:oleObj name="Equation" r:id="rId6" imgW="609336" imgH="431613" progId="Equation.3">
                  <p:embed/>
                  <p:pic>
                    <p:nvPicPr>
                      <p:cNvPr id="5172" name="Object 52">
                        <a:extLst>
                          <a:ext uri="{FF2B5EF4-FFF2-40B4-BE49-F238E27FC236}">
                            <a16:creationId xmlns:a16="http://schemas.microsoft.com/office/drawing/2014/main" id="{870E3FE4-80B4-07CD-B9FE-BD33B2FD6F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876925"/>
                        <a:ext cx="1179512" cy="7985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3" name="Object 53">
            <a:extLst>
              <a:ext uri="{FF2B5EF4-FFF2-40B4-BE49-F238E27FC236}">
                <a16:creationId xmlns:a16="http://schemas.microsoft.com/office/drawing/2014/main" id="{EB660BE1-D039-2F2C-6D8B-38F45CD77E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5805488"/>
          <a:ext cx="24399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3000" imgH="431800" progId="Equation.3">
                  <p:embed/>
                </p:oleObj>
              </mc:Choice>
              <mc:Fallback>
                <p:oleObj name="Equation" r:id="rId8" imgW="1143000" imgH="431800" progId="Equation.3">
                  <p:embed/>
                  <p:pic>
                    <p:nvPicPr>
                      <p:cNvPr id="5173" name="Object 53">
                        <a:extLst>
                          <a:ext uri="{FF2B5EF4-FFF2-40B4-BE49-F238E27FC236}">
                            <a16:creationId xmlns:a16="http://schemas.microsoft.com/office/drawing/2014/main" id="{EB660BE1-D039-2F2C-6D8B-38F45CD77E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805488"/>
                        <a:ext cx="2439988" cy="8890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99" name="Group 179">
            <a:extLst>
              <a:ext uri="{FF2B5EF4-FFF2-40B4-BE49-F238E27FC236}">
                <a16:creationId xmlns:a16="http://schemas.microsoft.com/office/drawing/2014/main" id="{560D7DE7-8563-CD0E-C8A0-EF0DF746C302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2492375"/>
            <a:ext cx="6608763" cy="1512888"/>
            <a:chOff x="476" y="1706"/>
            <a:chExt cx="4163" cy="953"/>
          </a:xfrm>
        </p:grpSpPr>
        <p:grpSp>
          <p:nvGrpSpPr>
            <p:cNvPr id="29801" name="Group 42">
              <a:extLst>
                <a:ext uri="{FF2B5EF4-FFF2-40B4-BE49-F238E27FC236}">
                  <a16:creationId xmlns:a16="http://schemas.microsoft.com/office/drawing/2014/main" id="{ECA3A8B0-9C52-6CDC-173B-573844E485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7" y="1706"/>
              <a:ext cx="3982" cy="953"/>
              <a:chOff x="703" y="527"/>
              <a:chExt cx="4133" cy="1151"/>
            </a:xfrm>
          </p:grpSpPr>
          <p:graphicFrame>
            <p:nvGraphicFramePr>
              <p:cNvPr id="29803" name="Object 43">
                <a:extLst>
                  <a:ext uri="{FF2B5EF4-FFF2-40B4-BE49-F238E27FC236}">
                    <a16:creationId xmlns:a16="http://schemas.microsoft.com/office/drawing/2014/main" id="{30E3892D-9FD0-5377-436D-6022C8AC5C9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03" y="527"/>
              <a:ext cx="1317" cy="5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2082800" imgH="825500" progId="Equation.3">
                      <p:embed/>
                    </p:oleObj>
                  </mc:Choice>
                  <mc:Fallback>
                    <p:oleObj name="公式" r:id="rId10" imgW="2082800" imgH="825500" progId="Equation.3">
                      <p:embed/>
                      <p:pic>
                        <p:nvPicPr>
                          <p:cNvPr id="29803" name="Object 43">
                            <a:extLst>
                              <a:ext uri="{FF2B5EF4-FFF2-40B4-BE49-F238E27FC236}">
                                <a16:creationId xmlns:a16="http://schemas.microsoft.com/office/drawing/2014/main" id="{30E3892D-9FD0-5377-436D-6022C8AC5C9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3" y="527"/>
                            <a:ext cx="1317" cy="5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804" name="Object 44">
                <a:extLst>
                  <a:ext uri="{FF2B5EF4-FFF2-40B4-BE49-F238E27FC236}">
                    <a16:creationId xmlns:a16="http://schemas.microsoft.com/office/drawing/2014/main" id="{AEA57DD9-32AF-FFD8-44E2-21AD2BDF901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31" y="663"/>
              <a:ext cx="108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727200" imgH="368300" progId="Equation.3">
                      <p:embed/>
                    </p:oleObj>
                  </mc:Choice>
                  <mc:Fallback>
                    <p:oleObj name="公式" r:id="rId12" imgW="1727200" imgH="368300" progId="Equation.3">
                      <p:embed/>
                      <p:pic>
                        <p:nvPicPr>
                          <p:cNvPr id="29804" name="Object 44">
                            <a:extLst>
                              <a:ext uri="{FF2B5EF4-FFF2-40B4-BE49-F238E27FC236}">
                                <a16:creationId xmlns:a16="http://schemas.microsoft.com/office/drawing/2014/main" id="{AEA57DD9-32AF-FFD8-44E2-21AD2BDF901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1" y="663"/>
                            <a:ext cx="108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805" name="Object 45">
                <a:extLst>
                  <a:ext uri="{FF2B5EF4-FFF2-40B4-BE49-F238E27FC236}">
                    <a16:creationId xmlns:a16="http://schemas.microsoft.com/office/drawing/2014/main" id="{32BD6522-2E45-960D-2BBE-F1A3D301B86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03" y="1162"/>
              <a:ext cx="1936" cy="5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3073400" imgH="825500" progId="Equation.3">
                      <p:embed/>
                    </p:oleObj>
                  </mc:Choice>
                  <mc:Fallback>
                    <p:oleObj name="公式" r:id="rId14" imgW="3073400" imgH="825500" progId="Equation.3">
                      <p:embed/>
                      <p:pic>
                        <p:nvPicPr>
                          <p:cNvPr id="29805" name="Object 45">
                            <a:extLst>
                              <a:ext uri="{FF2B5EF4-FFF2-40B4-BE49-F238E27FC236}">
                                <a16:creationId xmlns:a16="http://schemas.microsoft.com/office/drawing/2014/main" id="{32BD6522-2E45-960D-2BBE-F1A3D301B86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3" y="1162"/>
                            <a:ext cx="1936" cy="5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806" name="Object 46">
                <a:extLst>
                  <a:ext uri="{FF2B5EF4-FFF2-40B4-BE49-F238E27FC236}">
                    <a16:creationId xmlns:a16="http://schemas.microsoft.com/office/drawing/2014/main" id="{C53B5977-6348-CD73-4694-8052B23F27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21" y="1344"/>
              <a:ext cx="109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1727200" imgH="368300" progId="Equation.3">
                      <p:embed/>
                    </p:oleObj>
                  </mc:Choice>
                  <mc:Fallback>
                    <p:oleObj name="公式" r:id="rId16" imgW="1727200" imgH="368300" progId="Equation.3">
                      <p:embed/>
                      <p:pic>
                        <p:nvPicPr>
                          <p:cNvPr id="29806" name="Object 46">
                            <a:extLst>
                              <a:ext uri="{FF2B5EF4-FFF2-40B4-BE49-F238E27FC236}">
                                <a16:creationId xmlns:a16="http://schemas.microsoft.com/office/drawing/2014/main" id="{C53B5977-6348-CD73-4694-8052B23F27B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1" y="1344"/>
                            <a:ext cx="109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67" name="Rectangle 47">
                <a:extLst>
                  <a:ext uri="{FF2B5EF4-FFF2-40B4-BE49-F238E27FC236}">
                    <a16:creationId xmlns:a16="http://schemas.microsoft.com/office/drawing/2014/main" id="{146D0D16-E633-E22F-EB94-12C4165738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558"/>
                <a:ext cx="566" cy="3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2400"/>
                  <a:t>明纹</a:t>
                </a:r>
              </a:p>
            </p:txBody>
          </p:sp>
          <p:sp>
            <p:nvSpPr>
              <p:cNvPr id="5168" name="Rectangle 48">
                <a:extLst>
                  <a:ext uri="{FF2B5EF4-FFF2-40B4-BE49-F238E27FC236}">
                    <a16:creationId xmlns:a16="http://schemas.microsoft.com/office/drawing/2014/main" id="{97B1AA3E-F040-B88F-AE9D-59D96CA6E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7" y="1261"/>
                <a:ext cx="579" cy="3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sz="2400"/>
                  <a:t>暗纹</a:t>
                </a:r>
                <a:r>
                  <a:rPr lang="zh-CN" altLang="en-US" b="0">
                    <a:ea typeface="宋体" panose="02010600030101010101" pitchFamily="2" charset="-122"/>
                  </a:rPr>
                  <a:t> </a:t>
                </a:r>
              </a:p>
            </p:txBody>
          </p:sp>
        </p:grpSp>
        <p:sp>
          <p:nvSpPr>
            <p:cNvPr id="5174" name="AutoShape 54">
              <a:extLst>
                <a:ext uri="{FF2B5EF4-FFF2-40B4-BE49-F238E27FC236}">
                  <a16:creationId xmlns:a16="http://schemas.microsoft.com/office/drawing/2014/main" id="{E1E35FC3-BCE3-7AC4-64AA-85697D00E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888"/>
              <a:ext cx="145" cy="625"/>
            </a:xfrm>
            <a:prstGeom prst="leftBrace">
              <a:avLst>
                <a:gd name="adj1" fmla="val 3592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</p:grpSp>
      <p:sp>
        <p:nvSpPr>
          <p:cNvPr id="5175" name="AutoShape 55">
            <a:extLst>
              <a:ext uri="{FF2B5EF4-FFF2-40B4-BE49-F238E27FC236}">
                <a16:creationId xmlns:a16="http://schemas.microsoft.com/office/drawing/2014/main" id="{B0E324C8-2D8E-C939-692F-752A5C3B0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5445125"/>
            <a:ext cx="3455987" cy="935038"/>
          </a:xfrm>
          <a:prstGeom prst="wedgeRoundRectCallout">
            <a:avLst>
              <a:gd name="adj1" fmla="val -54088"/>
              <a:gd name="adj2" fmla="val 63750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会分析劈尖角度与条纹间距变化情况！</a:t>
            </a:r>
            <a:endParaRPr lang="zh-CN" altLang="en-US" sz="2400" b="0"/>
          </a:p>
        </p:txBody>
      </p:sp>
      <p:sp>
        <p:nvSpPr>
          <p:cNvPr id="5201" name="Rectangle 81">
            <a:extLst>
              <a:ext uri="{FF2B5EF4-FFF2-40B4-BE49-F238E27FC236}">
                <a16:creationId xmlns:a16="http://schemas.microsoft.com/office/drawing/2014/main" id="{72DDE28A-7B12-7078-0F86-6AAD4A7C4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149725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明、暗条纹的位置：</a:t>
            </a:r>
          </a:p>
        </p:txBody>
      </p:sp>
      <p:grpSp>
        <p:nvGrpSpPr>
          <p:cNvPr id="29704" name="Group 82">
            <a:extLst>
              <a:ext uri="{FF2B5EF4-FFF2-40B4-BE49-F238E27FC236}">
                <a16:creationId xmlns:a16="http://schemas.microsoft.com/office/drawing/2014/main" id="{F6571228-F4A2-9921-8DEF-2591C328AFDA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1125538"/>
            <a:ext cx="2190750" cy="1079500"/>
            <a:chOff x="2679" y="2197"/>
            <a:chExt cx="2189" cy="1315"/>
          </a:xfrm>
        </p:grpSpPr>
        <p:sp>
          <p:nvSpPr>
            <p:cNvPr id="29770" name="Line 83">
              <a:extLst>
                <a:ext uri="{FF2B5EF4-FFF2-40B4-BE49-F238E27FC236}">
                  <a16:creationId xmlns:a16="http://schemas.microsoft.com/office/drawing/2014/main" id="{FC27C824-6227-EB65-0B15-DF4AB0D23A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26" y="2867"/>
              <a:ext cx="462" cy="4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1" name="Line 84">
              <a:extLst>
                <a:ext uri="{FF2B5EF4-FFF2-40B4-BE49-F238E27FC236}">
                  <a16:creationId xmlns:a16="http://schemas.microsoft.com/office/drawing/2014/main" id="{5821F93D-A60F-41E5-E893-A0E750954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340"/>
              <a:ext cx="15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2" name="Line 85">
              <a:extLst>
                <a:ext uri="{FF2B5EF4-FFF2-40B4-BE49-F238E27FC236}">
                  <a16:creationId xmlns:a16="http://schemas.microsoft.com/office/drawing/2014/main" id="{814C558B-6D87-2128-9351-69A4AFCEA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8" y="2678"/>
              <a:ext cx="1572" cy="6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3" name="Line 86">
              <a:extLst>
                <a:ext uri="{FF2B5EF4-FFF2-40B4-BE49-F238E27FC236}">
                  <a16:creationId xmlns:a16="http://schemas.microsoft.com/office/drawing/2014/main" id="{D89B975C-DA44-444A-C92C-E3F9CD4023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36" y="2394"/>
              <a:ext cx="462" cy="4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4" name="Line 87">
              <a:extLst>
                <a:ext uri="{FF2B5EF4-FFF2-40B4-BE49-F238E27FC236}">
                  <a16:creationId xmlns:a16="http://schemas.microsoft.com/office/drawing/2014/main" id="{39AA283F-AA20-4753-F601-0E3A6CD6DA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88" y="2703"/>
              <a:ext cx="463" cy="4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5" name="Line 88">
              <a:extLst>
                <a:ext uri="{FF2B5EF4-FFF2-40B4-BE49-F238E27FC236}">
                  <a16:creationId xmlns:a16="http://schemas.microsoft.com/office/drawing/2014/main" id="{12537C9F-3DFB-35F1-03F3-E36FA88555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96" y="2787"/>
              <a:ext cx="462" cy="4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6" name="Line 89">
              <a:extLst>
                <a:ext uri="{FF2B5EF4-FFF2-40B4-BE49-F238E27FC236}">
                  <a16:creationId xmlns:a16="http://schemas.microsoft.com/office/drawing/2014/main" id="{EBE4CE79-0751-684E-9DCF-01C86DA0B6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51" y="2476"/>
              <a:ext cx="462" cy="4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7" name="Line 90">
              <a:extLst>
                <a:ext uri="{FF2B5EF4-FFF2-40B4-BE49-F238E27FC236}">
                  <a16:creationId xmlns:a16="http://schemas.microsoft.com/office/drawing/2014/main" id="{2E16D144-4585-7EC5-FC97-8B49763F4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6" y="2547"/>
              <a:ext cx="462" cy="4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8" name="Line 91">
              <a:extLst>
                <a:ext uri="{FF2B5EF4-FFF2-40B4-BE49-F238E27FC236}">
                  <a16:creationId xmlns:a16="http://schemas.microsoft.com/office/drawing/2014/main" id="{AF78183D-C715-53C9-FD55-84A3D1314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73" y="2629"/>
              <a:ext cx="462" cy="4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79" name="Line 92">
              <a:extLst>
                <a:ext uri="{FF2B5EF4-FFF2-40B4-BE49-F238E27FC236}">
                  <a16:creationId xmlns:a16="http://schemas.microsoft.com/office/drawing/2014/main" id="{362535B4-0B0D-DF27-D14E-DC8B611BA4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6" y="2205"/>
              <a:ext cx="1572" cy="6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0" name="Line 93">
              <a:extLst>
                <a:ext uri="{FF2B5EF4-FFF2-40B4-BE49-F238E27FC236}">
                  <a16:creationId xmlns:a16="http://schemas.microsoft.com/office/drawing/2014/main" id="{0CCF5ACF-8EB4-72E8-3037-9EC2D24EE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0" y="2678"/>
              <a:ext cx="0" cy="6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1" name="Line 94">
              <a:extLst>
                <a:ext uri="{FF2B5EF4-FFF2-40B4-BE49-F238E27FC236}">
                  <a16:creationId xmlns:a16="http://schemas.microsoft.com/office/drawing/2014/main" id="{1B9EBF3D-E194-6397-4EDF-614636DE46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06" y="2197"/>
              <a:ext cx="462" cy="4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2" name="Line 95">
              <a:extLst>
                <a:ext uri="{FF2B5EF4-FFF2-40B4-BE49-F238E27FC236}">
                  <a16:creationId xmlns:a16="http://schemas.microsoft.com/office/drawing/2014/main" id="{9DF29971-FADF-966E-0A77-E29FA9D44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82" y="2299"/>
              <a:ext cx="463" cy="4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3" name="Line 96">
              <a:extLst>
                <a:ext uri="{FF2B5EF4-FFF2-40B4-BE49-F238E27FC236}">
                  <a16:creationId xmlns:a16="http://schemas.microsoft.com/office/drawing/2014/main" id="{081DA918-B5C3-449A-F75F-EE9A167E0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8" y="3029"/>
              <a:ext cx="462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4" name="Line 97">
              <a:extLst>
                <a:ext uri="{FF2B5EF4-FFF2-40B4-BE49-F238E27FC236}">
                  <a16:creationId xmlns:a16="http://schemas.microsoft.com/office/drawing/2014/main" id="{B4AAE146-2899-2C3D-BDA1-76E8061F98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8" y="2867"/>
              <a:ext cx="92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5" name="Line 98">
              <a:extLst>
                <a:ext uri="{FF2B5EF4-FFF2-40B4-BE49-F238E27FC236}">
                  <a16:creationId xmlns:a16="http://schemas.microsoft.com/office/drawing/2014/main" id="{A523E16B-D132-8D57-77C4-55AC0FBC09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466" y="2438"/>
              <a:ext cx="75" cy="8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6" name="Line 99">
              <a:extLst>
                <a:ext uri="{FF2B5EF4-FFF2-40B4-BE49-F238E27FC236}">
                  <a16:creationId xmlns:a16="http://schemas.microsoft.com/office/drawing/2014/main" id="{CA248F27-AB91-B8B8-BA9E-14C4B89218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3843" y="2283"/>
              <a:ext cx="76" cy="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7" name="Line 100">
              <a:extLst>
                <a:ext uri="{FF2B5EF4-FFF2-40B4-BE49-F238E27FC236}">
                  <a16:creationId xmlns:a16="http://schemas.microsoft.com/office/drawing/2014/main" id="{8A7BB1F9-749E-B71D-1F40-5318939937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1774" flipV="1">
              <a:off x="3535" y="2329"/>
              <a:ext cx="338" cy="1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arrow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8" name="Line 101">
              <a:extLst>
                <a:ext uri="{FF2B5EF4-FFF2-40B4-BE49-F238E27FC236}">
                  <a16:creationId xmlns:a16="http://schemas.microsoft.com/office/drawing/2014/main" id="{72A592AF-2DB4-DC46-BAD8-0598BE2FF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4" y="2866"/>
              <a:ext cx="0" cy="17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arrow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89" name="Freeform 102">
              <a:extLst>
                <a:ext uri="{FF2B5EF4-FFF2-40B4-BE49-F238E27FC236}">
                  <a16:creationId xmlns:a16="http://schemas.microsoft.com/office/drawing/2014/main" id="{0C7363C1-3432-2096-9B2F-A8420128B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0" y="3193"/>
              <a:ext cx="67" cy="137"/>
            </a:xfrm>
            <a:custGeom>
              <a:avLst/>
              <a:gdLst>
                <a:gd name="T0" fmla="*/ 0 w 129"/>
                <a:gd name="T1" fmla="*/ 0 h 225"/>
                <a:gd name="T2" fmla="*/ 47 w 129"/>
                <a:gd name="T3" fmla="*/ 27 h 225"/>
                <a:gd name="T4" fmla="*/ 62 w 129"/>
                <a:gd name="T5" fmla="*/ 137 h 2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9" h="225">
                  <a:moveTo>
                    <a:pt x="0" y="0"/>
                  </a:moveTo>
                  <a:cubicBezTo>
                    <a:pt x="25" y="8"/>
                    <a:pt x="75" y="21"/>
                    <a:pt x="90" y="45"/>
                  </a:cubicBezTo>
                  <a:cubicBezTo>
                    <a:pt x="129" y="108"/>
                    <a:pt x="120" y="156"/>
                    <a:pt x="120" y="225"/>
                  </a:cubicBezTo>
                </a:path>
              </a:pathLst>
            </a:cu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0" name="Text Box 103">
              <a:extLst>
                <a:ext uri="{FF2B5EF4-FFF2-40B4-BE49-F238E27FC236}">
                  <a16:creationId xmlns:a16="http://schemas.microsoft.com/office/drawing/2014/main" id="{03FF39E5-B82C-96D7-D0EA-42EE00684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1" y="3098"/>
              <a:ext cx="240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b="0">
                <a:ea typeface="宋体" panose="02010600030101010101" pitchFamily="2" charset="-122"/>
              </a:endParaRPr>
            </a:p>
          </p:txBody>
        </p:sp>
        <p:sp>
          <p:nvSpPr>
            <p:cNvPr id="29791" name="Text Box 104">
              <a:extLst>
                <a:ext uri="{FF2B5EF4-FFF2-40B4-BE49-F238E27FC236}">
                  <a16:creationId xmlns:a16="http://schemas.microsoft.com/office/drawing/2014/main" id="{34308012-7DD6-89A9-25C2-96FBF014F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2202"/>
              <a:ext cx="271" cy="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b="0">
                <a:ea typeface="宋体" panose="02010600030101010101" pitchFamily="2" charset="-122"/>
              </a:endParaRPr>
            </a:p>
          </p:txBody>
        </p:sp>
        <p:sp>
          <p:nvSpPr>
            <p:cNvPr id="29792" name="Text Box 105">
              <a:extLst>
                <a:ext uri="{FF2B5EF4-FFF2-40B4-BE49-F238E27FC236}">
                  <a16:creationId xmlns:a16="http://schemas.microsoft.com/office/drawing/2014/main" id="{476A9071-3DD2-199A-8B3F-A0C8F79D2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7" y="2706"/>
              <a:ext cx="343" cy="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b="0">
                <a:ea typeface="宋体" panose="02010600030101010101" pitchFamily="2" charset="-122"/>
              </a:endParaRPr>
            </a:p>
          </p:txBody>
        </p:sp>
        <p:sp>
          <p:nvSpPr>
            <p:cNvPr id="29793" name="Line 106">
              <a:extLst>
                <a:ext uri="{FF2B5EF4-FFF2-40B4-BE49-F238E27FC236}">
                  <a16:creationId xmlns:a16="http://schemas.microsoft.com/office/drawing/2014/main" id="{FF2738C6-0CFC-4A28-0539-D1117F123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8" y="3023"/>
              <a:ext cx="0" cy="31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arrow" w="sm" len="sm"/>
              <a:tailEnd type="arrow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4" name="Text Box 107">
              <a:extLst>
                <a:ext uri="{FF2B5EF4-FFF2-40B4-BE49-F238E27FC236}">
                  <a16:creationId xmlns:a16="http://schemas.microsoft.com/office/drawing/2014/main" id="{CFF11354-6E28-BDB3-89A7-8055B530F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8" y="3038"/>
              <a:ext cx="271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b="0">
                <a:ea typeface="宋体" panose="02010600030101010101" pitchFamily="2" charset="-122"/>
              </a:endParaRPr>
            </a:p>
          </p:txBody>
        </p:sp>
        <p:graphicFrame>
          <p:nvGraphicFramePr>
            <p:cNvPr id="29795" name="Object 108">
              <a:extLst>
                <a:ext uri="{FF2B5EF4-FFF2-40B4-BE49-F238E27FC236}">
                  <a16:creationId xmlns:a16="http://schemas.microsoft.com/office/drawing/2014/main" id="{7FEFC5BE-3782-21E5-E388-E6061BCFE5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8" y="3357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91847" imgH="317225" progId="Equation.3">
                    <p:embed/>
                  </p:oleObj>
                </mc:Choice>
                <mc:Fallback>
                  <p:oleObj name="公式" r:id="rId18" imgW="291847" imgH="317225" progId="Equation.3">
                    <p:embed/>
                    <p:pic>
                      <p:nvPicPr>
                        <p:cNvPr id="29795" name="Object 108">
                          <a:extLst>
                            <a:ext uri="{FF2B5EF4-FFF2-40B4-BE49-F238E27FC236}">
                              <a16:creationId xmlns:a16="http://schemas.microsoft.com/office/drawing/2014/main" id="{7FEFC5BE-3782-21E5-E388-E6061BCFE5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8" y="3357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96" name="Object 109">
              <a:extLst>
                <a:ext uri="{FF2B5EF4-FFF2-40B4-BE49-F238E27FC236}">
                  <a16:creationId xmlns:a16="http://schemas.microsoft.com/office/drawing/2014/main" id="{5ADE8F27-A2CA-9424-E953-E3DB27BB07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79" y="2731"/>
            <a:ext cx="17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80835" imgH="330057" progId="Equation.3">
                    <p:embed/>
                  </p:oleObj>
                </mc:Choice>
                <mc:Fallback>
                  <p:oleObj name="公式" r:id="rId20" imgW="380835" imgH="330057" progId="Equation.3">
                    <p:embed/>
                    <p:pic>
                      <p:nvPicPr>
                        <p:cNvPr id="29796" name="Object 109">
                          <a:extLst>
                            <a:ext uri="{FF2B5EF4-FFF2-40B4-BE49-F238E27FC236}">
                              <a16:creationId xmlns:a16="http://schemas.microsoft.com/office/drawing/2014/main" id="{5ADE8F27-A2CA-9424-E953-E3DB27BB07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9" y="2731"/>
                          <a:ext cx="17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97" name="Object 110">
              <a:extLst>
                <a:ext uri="{FF2B5EF4-FFF2-40B4-BE49-F238E27FC236}">
                  <a16:creationId xmlns:a16="http://schemas.microsoft.com/office/drawing/2014/main" id="{D92FFC2E-3D6B-6AF8-1C6C-2AE17E6FCB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2" y="3168"/>
            <a:ext cx="129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241091" imgH="317225" progId="Equation.3">
                    <p:embed/>
                  </p:oleObj>
                </mc:Choice>
                <mc:Fallback>
                  <p:oleObj name="公式" r:id="rId22" imgW="241091" imgH="317225" progId="Equation.3">
                    <p:embed/>
                    <p:pic>
                      <p:nvPicPr>
                        <p:cNvPr id="29797" name="Object 110">
                          <a:extLst>
                            <a:ext uri="{FF2B5EF4-FFF2-40B4-BE49-F238E27FC236}">
                              <a16:creationId xmlns:a16="http://schemas.microsoft.com/office/drawing/2014/main" id="{D92FFC2E-3D6B-6AF8-1C6C-2AE17E6FCB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3168"/>
                          <a:ext cx="129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98" name="Object 111">
              <a:extLst>
                <a:ext uri="{FF2B5EF4-FFF2-40B4-BE49-F238E27FC236}">
                  <a16:creationId xmlns:a16="http://schemas.microsoft.com/office/drawing/2014/main" id="{81E50053-6370-51B2-A8BD-6377311986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76" y="2214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80670" imgH="317225" progId="Equation.3">
                    <p:embed/>
                  </p:oleObj>
                </mc:Choice>
                <mc:Fallback>
                  <p:oleObj name="公式" r:id="rId24" imgW="380670" imgH="317225" progId="Equation.3">
                    <p:embed/>
                    <p:pic>
                      <p:nvPicPr>
                        <p:cNvPr id="29798" name="Object 111">
                          <a:extLst>
                            <a:ext uri="{FF2B5EF4-FFF2-40B4-BE49-F238E27FC236}">
                              <a16:creationId xmlns:a16="http://schemas.microsoft.com/office/drawing/2014/main" id="{81E50053-6370-51B2-A8BD-63773119869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6" y="2214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99" name="Object 112">
              <a:extLst>
                <a:ext uri="{FF2B5EF4-FFF2-40B4-BE49-F238E27FC236}">
                  <a16:creationId xmlns:a16="http://schemas.microsoft.com/office/drawing/2014/main" id="{C7CE4482-5F01-F54A-05E0-97F8DAB83D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1" y="3049"/>
            <a:ext cx="20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317225" imgH="431425" progId="Equation.3">
                    <p:embed/>
                  </p:oleObj>
                </mc:Choice>
                <mc:Fallback>
                  <p:oleObj name="公式" r:id="rId26" imgW="317225" imgH="431425" progId="Equation.3">
                    <p:embed/>
                    <p:pic>
                      <p:nvPicPr>
                        <p:cNvPr id="29799" name="Object 112">
                          <a:extLst>
                            <a:ext uri="{FF2B5EF4-FFF2-40B4-BE49-F238E27FC236}">
                              <a16:creationId xmlns:a16="http://schemas.microsoft.com/office/drawing/2014/main" id="{C7CE4482-5F01-F54A-05E0-97F8DAB83D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1" y="3049"/>
                          <a:ext cx="20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800" name="Object 113">
              <a:extLst>
                <a:ext uri="{FF2B5EF4-FFF2-40B4-BE49-F238E27FC236}">
                  <a16:creationId xmlns:a16="http://schemas.microsoft.com/office/drawing/2014/main" id="{267CB677-B471-7321-0194-9CF75743F3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99" y="2786"/>
            <a:ext cx="32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571500" imgH="914400" progId="Equation.3">
                    <p:embed/>
                  </p:oleObj>
                </mc:Choice>
                <mc:Fallback>
                  <p:oleObj name="Equation" r:id="rId28" imgW="571500" imgH="914400" progId="Equation.3">
                    <p:embed/>
                    <p:pic>
                      <p:nvPicPr>
                        <p:cNvPr id="29800" name="Object 113">
                          <a:extLst>
                            <a:ext uri="{FF2B5EF4-FFF2-40B4-BE49-F238E27FC236}">
                              <a16:creationId xmlns:a16="http://schemas.microsoft.com/office/drawing/2014/main" id="{267CB677-B471-7321-0194-9CF75743F3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9" y="2786"/>
                          <a:ext cx="32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705" name="Group 114">
            <a:extLst>
              <a:ext uri="{FF2B5EF4-FFF2-40B4-BE49-F238E27FC236}">
                <a16:creationId xmlns:a16="http://schemas.microsoft.com/office/drawing/2014/main" id="{50AFD578-F574-31D7-B860-B1413F1F2A05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188913"/>
            <a:ext cx="2087562" cy="2322512"/>
            <a:chOff x="930" y="1933"/>
            <a:chExt cx="1533" cy="1763"/>
          </a:xfrm>
        </p:grpSpPr>
        <p:sp>
          <p:nvSpPr>
            <p:cNvPr id="29712" name="Rectangle 115">
              <a:extLst>
                <a:ext uri="{FF2B5EF4-FFF2-40B4-BE49-F238E27FC236}">
                  <a16:creationId xmlns:a16="http://schemas.microsoft.com/office/drawing/2014/main" id="{ADD51F2E-19C0-756E-9598-F549D526FBA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251" y="3405"/>
              <a:ext cx="792" cy="41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3" name="Line 116">
              <a:extLst>
                <a:ext uri="{FF2B5EF4-FFF2-40B4-BE49-F238E27FC236}">
                  <a16:creationId xmlns:a16="http://schemas.microsoft.com/office/drawing/2014/main" id="{D9FCF77E-0FAC-1140-BEEB-67234A869F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3" y="3223"/>
              <a:ext cx="216" cy="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Line 117">
              <a:extLst>
                <a:ext uri="{FF2B5EF4-FFF2-40B4-BE49-F238E27FC236}">
                  <a16:creationId xmlns:a16="http://schemas.microsoft.com/office/drawing/2014/main" id="{1FA7FD0B-FC03-15C5-B042-D490DDACBA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9" y="3264"/>
              <a:ext cx="210" cy="18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118">
              <a:extLst>
                <a:ext uri="{FF2B5EF4-FFF2-40B4-BE49-F238E27FC236}">
                  <a16:creationId xmlns:a16="http://schemas.microsoft.com/office/drawing/2014/main" id="{E10298FE-9CCD-90DA-A624-95100458A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5" y="3223"/>
              <a:ext cx="0" cy="4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Rectangle 119">
              <a:extLst>
                <a:ext uri="{FF2B5EF4-FFF2-40B4-BE49-F238E27FC236}">
                  <a16:creationId xmlns:a16="http://schemas.microsoft.com/office/drawing/2014/main" id="{39197F90-1B14-7B97-B442-0241A2CCA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" y="3279"/>
              <a:ext cx="144" cy="120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17" name="Line 120">
              <a:extLst>
                <a:ext uri="{FF2B5EF4-FFF2-40B4-BE49-F238E27FC236}">
                  <a16:creationId xmlns:a16="http://schemas.microsoft.com/office/drawing/2014/main" id="{5861BBC6-2177-F2E8-C32E-AFCD9C590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3" y="3367"/>
              <a:ext cx="0" cy="4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Line 121">
              <a:extLst>
                <a:ext uri="{FF2B5EF4-FFF2-40B4-BE49-F238E27FC236}">
                  <a16:creationId xmlns:a16="http://schemas.microsoft.com/office/drawing/2014/main" id="{49C908B3-58C9-2142-6744-B8F530484F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9" y="3180"/>
              <a:ext cx="216" cy="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122">
              <a:extLst>
                <a:ext uri="{FF2B5EF4-FFF2-40B4-BE49-F238E27FC236}">
                  <a16:creationId xmlns:a16="http://schemas.microsoft.com/office/drawing/2014/main" id="{33CB9EC9-EBE2-90F0-E492-94CCB2EA4B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5" y="3221"/>
              <a:ext cx="210" cy="18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Line 123">
              <a:extLst>
                <a:ext uri="{FF2B5EF4-FFF2-40B4-BE49-F238E27FC236}">
                  <a16:creationId xmlns:a16="http://schemas.microsoft.com/office/drawing/2014/main" id="{90497B0E-63F1-3E21-DCB8-10EA14B9A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5" y="3181"/>
              <a:ext cx="0" cy="4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Line 124">
              <a:extLst>
                <a:ext uri="{FF2B5EF4-FFF2-40B4-BE49-F238E27FC236}">
                  <a16:creationId xmlns:a16="http://schemas.microsoft.com/office/drawing/2014/main" id="{FAF57F56-DA09-864F-6C1A-F8C707FA6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57" y="3279"/>
              <a:ext cx="792" cy="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2" name="Line 125">
              <a:extLst>
                <a:ext uri="{FF2B5EF4-FFF2-40B4-BE49-F238E27FC236}">
                  <a16:creationId xmlns:a16="http://schemas.microsoft.com/office/drawing/2014/main" id="{9070AAE5-6BCD-8899-8A4C-9B0133850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57" y="3249"/>
              <a:ext cx="792" cy="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3" name="Line 126">
              <a:extLst>
                <a:ext uri="{FF2B5EF4-FFF2-40B4-BE49-F238E27FC236}">
                  <a16:creationId xmlns:a16="http://schemas.microsoft.com/office/drawing/2014/main" id="{3A05884E-6538-9DD8-9A0F-FC20B728B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1" y="3248"/>
              <a:ext cx="0" cy="4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4" name="Line 127">
              <a:extLst>
                <a:ext uri="{FF2B5EF4-FFF2-40B4-BE49-F238E27FC236}">
                  <a16:creationId xmlns:a16="http://schemas.microsoft.com/office/drawing/2014/main" id="{C2B654D1-8A72-1B03-5F47-64538C7066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67" y="3057"/>
              <a:ext cx="792" cy="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5" name="Line 128">
              <a:extLst>
                <a:ext uri="{FF2B5EF4-FFF2-40B4-BE49-F238E27FC236}">
                  <a16:creationId xmlns:a16="http://schemas.microsoft.com/office/drawing/2014/main" id="{5D000649-D974-5102-CD7C-24380981F5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50" y="3056"/>
              <a:ext cx="216" cy="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6" name="Line 129">
              <a:extLst>
                <a:ext uri="{FF2B5EF4-FFF2-40B4-BE49-F238E27FC236}">
                  <a16:creationId xmlns:a16="http://schemas.microsoft.com/office/drawing/2014/main" id="{2E485360-CEED-E4BE-06E4-24CBDC187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9" y="2468"/>
              <a:ext cx="288" cy="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7" name="Line 130">
              <a:extLst>
                <a:ext uri="{FF2B5EF4-FFF2-40B4-BE49-F238E27FC236}">
                  <a16:creationId xmlns:a16="http://schemas.microsoft.com/office/drawing/2014/main" id="{5CE5A427-A0E3-A59C-55BD-999E02B00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3" y="2444"/>
              <a:ext cx="288" cy="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Line 131">
              <a:extLst>
                <a:ext uri="{FF2B5EF4-FFF2-40B4-BE49-F238E27FC236}">
                  <a16:creationId xmlns:a16="http://schemas.microsoft.com/office/drawing/2014/main" id="{00B8D24A-A46A-CF52-C3A1-C19FD4C40D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717" y="2448"/>
              <a:ext cx="20" cy="1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9" name="Line 132">
              <a:extLst>
                <a:ext uri="{FF2B5EF4-FFF2-40B4-BE49-F238E27FC236}">
                  <a16:creationId xmlns:a16="http://schemas.microsoft.com/office/drawing/2014/main" id="{9931AB33-DC7A-1D03-E96E-EBBE114EA8E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011" y="2753"/>
              <a:ext cx="20" cy="1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0" name="Line 133">
              <a:extLst>
                <a:ext uri="{FF2B5EF4-FFF2-40B4-BE49-F238E27FC236}">
                  <a16:creationId xmlns:a16="http://schemas.microsoft.com/office/drawing/2014/main" id="{E9945F0E-A233-A874-E762-47FDCB4E7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7" y="2619"/>
              <a:ext cx="75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1" name="Oval 134">
              <a:extLst>
                <a:ext uri="{FF2B5EF4-FFF2-40B4-BE49-F238E27FC236}">
                  <a16:creationId xmlns:a16="http://schemas.microsoft.com/office/drawing/2014/main" id="{017CE27D-9BA2-C27A-7F7E-9BFEB4B64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7" y="2446"/>
              <a:ext cx="72" cy="324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32" name="Line 135">
              <a:extLst>
                <a:ext uri="{FF2B5EF4-FFF2-40B4-BE49-F238E27FC236}">
                  <a16:creationId xmlns:a16="http://schemas.microsoft.com/office/drawing/2014/main" id="{C6736BA5-FFA9-46AF-D978-1FACA48551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7" y="2494"/>
              <a:ext cx="216" cy="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3" name="Line 136">
              <a:extLst>
                <a:ext uri="{FF2B5EF4-FFF2-40B4-BE49-F238E27FC236}">
                  <a16:creationId xmlns:a16="http://schemas.microsoft.com/office/drawing/2014/main" id="{1C461D47-2EB0-DFDF-BD15-A3BCB3D07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3" y="2494"/>
              <a:ext cx="43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Line 137">
              <a:extLst>
                <a:ext uri="{FF2B5EF4-FFF2-40B4-BE49-F238E27FC236}">
                  <a16:creationId xmlns:a16="http://schemas.microsoft.com/office/drawing/2014/main" id="{094A470C-27C2-9C1E-DA9A-810BB523A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7" y="2619"/>
              <a:ext cx="216" cy="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138">
              <a:extLst>
                <a:ext uri="{FF2B5EF4-FFF2-40B4-BE49-F238E27FC236}">
                  <a16:creationId xmlns:a16="http://schemas.microsoft.com/office/drawing/2014/main" id="{59140F2B-F0BC-9D7C-1397-96F477ABF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3" y="2744"/>
              <a:ext cx="64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Line 139">
              <a:extLst>
                <a:ext uri="{FF2B5EF4-FFF2-40B4-BE49-F238E27FC236}">
                  <a16:creationId xmlns:a16="http://schemas.microsoft.com/office/drawing/2014/main" id="{EE9B3775-771B-925C-BD69-3050C5E11A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1" y="2744"/>
              <a:ext cx="0" cy="49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7" name="Line 140">
              <a:extLst>
                <a:ext uri="{FF2B5EF4-FFF2-40B4-BE49-F238E27FC236}">
                  <a16:creationId xmlns:a16="http://schemas.microsoft.com/office/drawing/2014/main" id="{A68F7F5F-FCEF-F334-2258-8F09D0F52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7" y="2625"/>
              <a:ext cx="0" cy="58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8" name="Line 141">
              <a:extLst>
                <a:ext uri="{FF2B5EF4-FFF2-40B4-BE49-F238E27FC236}">
                  <a16:creationId xmlns:a16="http://schemas.microsoft.com/office/drawing/2014/main" id="{B7F325EC-9916-10C8-F06F-4A7004CB2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9" y="2494"/>
              <a:ext cx="0" cy="6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9" name="Line 142">
              <a:extLst>
                <a:ext uri="{FF2B5EF4-FFF2-40B4-BE49-F238E27FC236}">
                  <a16:creationId xmlns:a16="http://schemas.microsoft.com/office/drawing/2014/main" id="{9402B656-436D-8A0C-4B70-73BDB099C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3" y="1933"/>
              <a:ext cx="0" cy="35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Line 143">
              <a:extLst>
                <a:ext uri="{FF2B5EF4-FFF2-40B4-BE49-F238E27FC236}">
                  <a16:creationId xmlns:a16="http://schemas.microsoft.com/office/drawing/2014/main" id="{0455EF09-BEFF-457A-2457-EA51B3F77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3" y="1933"/>
              <a:ext cx="0" cy="35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1" name="Oval 144">
              <a:extLst>
                <a:ext uri="{FF2B5EF4-FFF2-40B4-BE49-F238E27FC236}">
                  <a16:creationId xmlns:a16="http://schemas.microsoft.com/office/drawing/2014/main" id="{D88F8D87-9018-CD6C-B9D0-EA526487D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3" y="2243"/>
              <a:ext cx="360" cy="6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742" name="Line 145">
              <a:extLst>
                <a:ext uri="{FF2B5EF4-FFF2-40B4-BE49-F238E27FC236}">
                  <a16:creationId xmlns:a16="http://schemas.microsoft.com/office/drawing/2014/main" id="{82E668D0-2BFF-EACC-775E-054B69513D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9" y="2307"/>
              <a:ext cx="0" cy="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Line 146">
              <a:extLst>
                <a:ext uri="{FF2B5EF4-FFF2-40B4-BE49-F238E27FC236}">
                  <a16:creationId xmlns:a16="http://schemas.microsoft.com/office/drawing/2014/main" id="{B6894200-5E39-336B-0DF2-5C23B52E39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7" y="2307"/>
              <a:ext cx="0" cy="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4" name="Line 147">
              <a:extLst>
                <a:ext uri="{FF2B5EF4-FFF2-40B4-BE49-F238E27FC236}">
                  <a16:creationId xmlns:a16="http://schemas.microsoft.com/office/drawing/2014/main" id="{D5826EB8-22F1-925C-E3B9-485321162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1" y="2307"/>
              <a:ext cx="0" cy="4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5" name="Line 148">
              <a:extLst>
                <a:ext uri="{FF2B5EF4-FFF2-40B4-BE49-F238E27FC236}">
                  <a16:creationId xmlns:a16="http://schemas.microsoft.com/office/drawing/2014/main" id="{83C2DEF1-1E88-D094-9B36-92E8685F8B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172" y="2512"/>
              <a:ext cx="127" cy="6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6" name="Line 149">
              <a:extLst>
                <a:ext uri="{FF2B5EF4-FFF2-40B4-BE49-F238E27FC236}">
                  <a16:creationId xmlns:a16="http://schemas.microsoft.com/office/drawing/2014/main" id="{E56C693E-2D58-FC53-250F-3CCCCD076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7" y="2619"/>
              <a:ext cx="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7" name="Line 150">
              <a:extLst>
                <a:ext uri="{FF2B5EF4-FFF2-40B4-BE49-F238E27FC236}">
                  <a16:creationId xmlns:a16="http://schemas.microsoft.com/office/drawing/2014/main" id="{DA14BDFA-321B-9039-2457-87BC71326D8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79" y="2660"/>
              <a:ext cx="98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151">
              <a:extLst>
                <a:ext uri="{FF2B5EF4-FFF2-40B4-BE49-F238E27FC236}">
                  <a16:creationId xmlns:a16="http://schemas.microsoft.com/office/drawing/2014/main" id="{1B5C9A18-F8D7-0D24-8CF5-E223A0D1D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619"/>
              <a:ext cx="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Line 152">
              <a:extLst>
                <a:ext uri="{FF2B5EF4-FFF2-40B4-BE49-F238E27FC236}">
                  <a16:creationId xmlns:a16="http://schemas.microsoft.com/office/drawing/2014/main" id="{DD594702-75CC-6087-C5EC-DA41717CD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5" y="2744"/>
              <a:ext cx="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0" name="Line 153">
              <a:extLst>
                <a:ext uri="{FF2B5EF4-FFF2-40B4-BE49-F238E27FC236}">
                  <a16:creationId xmlns:a16="http://schemas.microsoft.com/office/drawing/2014/main" id="{88E9A82F-7FF8-3B63-4D5B-75B7B7F1E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5" y="2494"/>
              <a:ext cx="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Line 154">
              <a:extLst>
                <a:ext uri="{FF2B5EF4-FFF2-40B4-BE49-F238E27FC236}">
                  <a16:creationId xmlns:a16="http://schemas.microsoft.com/office/drawing/2014/main" id="{0A18CA4A-9EFA-676E-5D7E-DE3C47982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7" y="2758"/>
              <a:ext cx="0" cy="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2" name="Line 155">
              <a:extLst>
                <a:ext uri="{FF2B5EF4-FFF2-40B4-BE49-F238E27FC236}">
                  <a16:creationId xmlns:a16="http://schemas.microsoft.com/office/drawing/2014/main" id="{3566D205-B876-BED6-752E-DD43F3F25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9" y="2692"/>
              <a:ext cx="0" cy="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3" name="Line 156">
              <a:extLst>
                <a:ext uri="{FF2B5EF4-FFF2-40B4-BE49-F238E27FC236}">
                  <a16:creationId xmlns:a16="http://schemas.microsoft.com/office/drawing/2014/main" id="{E051B26C-1079-6A21-1396-C89ECBE61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1" y="2806"/>
              <a:ext cx="0" cy="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4" name="Line 157">
              <a:extLst>
                <a:ext uri="{FF2B5EF4-FFF2-40B4-BE49-F238E27FC236}">
                  <a16:creationId xmlns:a16="http://schemas.microsoft.com/office/drawing/2014/main" id="{F398A8AD-B1FE-32F8-3F3D-0C4AEA2C7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7" y="2982"/>
              <a:ext cx="0" cy="12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5" name="Line 158">
              <a:extLst>
                <a:ext uri="{FF2B5EF4-FFF2-40B4-BE49-F238E27FC236}">
                  <a16:creationId xmlns:a16="http://schemas.microsoft.com/office/drawing/2014/main" id="{B97E6035-D06E-A5A2-3C64-DBF8F6FBF3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1" y="3038"/>
              <a:ext cx="0" cy="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6" name="Line 159">
              <a:extLst>
                <a:ext uri="{FF2B5EF4-FFF2-40B4-BE49-F238E27FC236}">
                  <a16:creationId xmlns:a16="http://schemas.microsoft.com/office/drawing/2014/main" id="{D9EE83F8-34F5-D748-9147-DF8C5A8392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9" y="2931"/>
              <a:ext cx="0" cy="1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7" name="Text Box 160">
              <a:extLst>
                <a:ext uri="{FF2B5EF4-FFF2-40B4-BE49-F238E27FC236}">
                  <a16:creationId xmlns:a16="http://schemas.microsoft.com/office/drawing/2014/main" id="{D5DCFF0B-F728-CB83-02F8-2CD738DD7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2481"/>
              <a:ext cx="216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i="1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29758" name="Text Box 161">
              <a:extLst>
                <a:ext uri="{FF2B5EF4-FFF2-40B4-BE49-F238E27FC236}">
                  <a16:creationId xmlns:a16="http://schemas.microsoft.com/office/drawing/2014/main" id="{7347CA95-58CC-CA16-4066-3083E1BDB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2" y="2228"/>
              <a:ext cx="216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i="1">
                  <a:ea typeface="宋体" panose="02010600030101010101" pitchFamily="2" charset="-122"/>
                </a:rPr>
                <a:t>L</a:t>
              </a:r>
            </a:p>
          </p:txBody>
        </p:sp>
        <p:sp>
          <p:nvSpPr>
            <p:cNvPr id="29759" name="Text Box 162">
              <a:extLst>
                <a:ext uri="{FF2B5EF4-FFF2-40B4-BE49-F238E27FC236}">
                  <a16:creationId xmlns:a16="http://schemas.microsoft.com/office/drawing/2014/main" id="{36290AD3-34E2-DA5D-D5B8-991A37570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2" y="2543"/>
              <a:ext cx="2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i="1"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29760" name="Text Box 163">
              <a:extLst>
                <a:ext uri="{FF2B5EF4-FFF2-40B4-BE49-F238E27FC236}">
                  <a16:creationId xmlns:a16="http://schemas.microsoft.com/office/drawing/2014/main" id="{B85DAFED-583B-D592-EE71-27A700147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" y="2018"/>
              <a:ext cx="216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29761" name="Text Box 164">
              <a:extLst>
                <a:ext uri="{FF2B5EF4-FFF2-40B4-BE49-F238E27FC236}">
                  <a16:creationId xmlns:a16="http://schemas.microsoft.com/office/drawing/2014/main" id="{2D3DC3DB-7868-ADFC-4450-76CE83866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8" y="3069"/>
              <a:ext cx="211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b="0">
                <a:ea typeface="宋体" panose="02010600030101010101" pitchFamily="2" charset="-122"/>
              </a:endParaRPr>
            </a:p>
          </p:txBody>
        </p:sp>
        <p:sp>
          <p:nvSpPr>
            <p:cNvPr id="29762" name="Text Box 165">
              <a:extLst>
                <a:ext uri="{FF2B5EF4-FFF2-40B4-BE49-F238E27FC236}">
                  <a16:creationId xmlns:a16="http://schemas.microsoft.com/office/drawing/2014/main" id="{07C2708C-9E6D-7E96-DFD1-4597177AB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8" y="3414"/>
              <a:ext cx="21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b="0">
                <a:ea typeface="宋体" panose="02010600030101010101" pitchFamily="2" charset="-122"/>
              </a:endParaRPr>
            </a:p>
          </p:txBody>
        </p:sp>
        <p:sp>
          <p:nvSpPr>
            <p:cNvPr id="29763" name="Text Box 166">
              <a:extLst>
                <a:ext uri="{FF2B5EF4-FFF2-40B4-BE49-F238E27FC236}">
                  <a16:creationId xmlns:a16="http://schemas.microsoft.com/office/drawing/2014/main" id="{9F8123F2-E507-8A83-B77A-DD6C4F6093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8" y="3402"/>
              <a:ext cx="20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b="0">
                <a:ea typeface="宋体" panose="02010600030101010101" pitchFamily="2" charset="-122"/>
              </a:endParaRPr>
            </a:p>
          </p:txBody>
        </p:sp>
        <p:sp>
          <p:nvSpPr>
            <p:cNvPr id="29764" name="Text Box 167">
              <a:extLst>
                <a:ext uri="{FF2B5EF4-FFF2-40B4-BE49-F238E27FC236}">
                  <a16:creationId xmlns:a16="http://schemas.microsoft.com/office/drawing/2014/main" id="{D5E8896D-3A4B-2060-49C3-C329D1824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3063"/>
              <a:ext cx="19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b="0">
                <a:ea typeface="宋体" panose="02010600030101010101" pitchFamily="2" charset="-122"/>
              </a:endParaRPr>
            </a:p>
          </p:txBody>
        </p:sp>
        <p:sp>
          <p:nvSpPr>
            <p:cNvPr id="29765" name="Text Box 168">
              <a:extLst>
                <a:ext uri="{FF2B5EF4-FFF2-40B4-BE49-F238E27FC236}">
                  <a16:creationId xmlns:a16="http://schemas.microsoft.com/office/drawing/2014/main" id="{F3A3A8B9-BC97-0301-B4E7-B96A53055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2" y="2736"/>
              <a:ext cx="211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 b="0">
                <a:ea typeface="宋体" panose="02010600030101010101" pitchFamily="2" charset="-122"/>
              </a:endParaRPr>
            </a:p>
          </p:txBody>
        </p:sp>
        <p:graphicFrame>
          <p:nvGraphicFramePr>
            <p:cNvPr id="29766" name="Object 169">
              <a:extLst>
                <a:ext uri="{FF2B5EF4-FFF2-40B4-BE49-F238E27FC236}">
                  <a16:creationId xmlns:a16="http://schemas.microsoft.com/office/drawing/2014/main" id="{FAB36CDA-0592-7249-607C-5E2108919D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69" y="3086"/>
            <a:ext cx="159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368300" imgH="419100" progId="Equation.3">
                    <p:embed/>
                  </p:oleObj>
                </mc:Choice>
                <mc:Fallback>
                  <p:oleObj name="公式" r:id="rId30" imgW="368300" imgH="419100" progId="Equation.3">
                    <p:embed/>
                    <p:pic>
                      <p:nvPicPr>
                        <p:cNvPr id="29766" name="Object 169">
                          <a:extLst>
                            <a:ext uri="{FF2B5EF4-FFF2-40B4-BE49-F238E27FC236}">
                              <a16:creationId xmlns:a16="http://schemas.microsoft.com/office/drawing/2014/main" id="{FAB36CDA-0592-7249-607C-5E2108919D0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9" y="3086"/>
                          <a:ext cx="159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67" name="Object 170">
              <a:extLst>
                <a:ext uri="{FF2B5EF4-FFF2-40B4-BE49-F238E27FC236}">
                  <a16:creationId xmlns:a16="http://schemas.microsoft.com/office/drawing/2014/main" id="{111288B9-EFC5-9D45-2CC4-FADB0F85D0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4" y="3440"/>
            <a:ext cx="170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393529" imgH="418918" progId="Equation.3">
                    <p:embed/>
                  </p:oleObj>
                </mc:Choice>
                <mc:Fallback>
                  <p:oleObj name="公式" r:id="rId32" imgW="393529" imgH="418918" progId="Equation.3">
                    <p:embed/>
                    <p:pic>
                      <p:nvPicPr>
                        <p:cNvPr id="29767" name="Object 170">
                          <a:extLst>
                            <a:ext uri="{FF2B5EF4-FFF2-40B4-BE49-F238E27FC236}">
                              <a16:creationId xmlns:a16="http://schemas.microsoft.com/office/drawing/2014/main" id="{111288B9-EFC5-9D45-2CC4-FADB0F85D0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4" y="3440"/>
                          <a:ext cx="170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68" name="Object 171">
              <a:extLst>
                <a:ext uri="{FF2B5EF4-FFF2-40B4-BE49-F238E27FC236}">
                  <a16:creationId xmlns:a16="http://schemas.microsoft.com/office/drawing/2014/main" id="{AEDDE3EF-0961-A7B7-474E-7CB9019884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1" y="3058"/>
            <a:ext cx="134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291847" imgH="317225" progId="Equation.3">
                    <p:embed/>
                  </p:oleObj>
                </mc:Choice>
                <mc:Fallback>
                  <p:oleObj name="公式" r:id="rId34" imgW="291847" imgH="317225" progId="Equation.3">
                    <p:embed/>
                    <p:pic>
                      <p:nvPicPr>
                        <p:cNvPr id="29768" name="Object 171">
                          <a:extLst>
                            <a:ext uri="{FF2B5EF4-FFF2-40B4-BE49-F238E27FC236}">
                              <a16:creationId xmlns:a16="http://schemas.microsoft.com/office/drawing/2014/main" id="{AEDDE3EF-0961-A7B7-474E-7CB9019884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1" y="3058"/>
                          <a:ext cx="134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69" name="Object 172">
              <a:extLst>
                <a:ext uri="{FF2B5EF4-FFF2-40B4-BE49-F238E27FC236}">
                  <a16:creationId xmlns:a16="http://schemas.microsoft.com/office/drawing/2014/main" id="{6D951B83-D3E9-11BC-88FE-4A334EE49F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8" y="3461"/>
            <a:ext cx="17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380835" imgH="330057" progId="Equation.3">
                    <p:embed/>
                  </p:oleObj>
                </mc:Choice>
                <mc:Fallback>
                  <p:oleObj name="公式" r:id="rId35" imgW="380835" imgH="330057" progId="Equation.3">
                    <p:embed/>
                    <p:pic>
                      <p:nvPicPr>
                        <p:cNvPr id="29769" name="Object 172">
                          <a:extLst>
                            <a:ext uri="{FF2B5EF4-FFF2-40B4-BE49-F238E27FC236}">
                              <a16:creationId xmlns:a16="http://schemas.microsoft.com/office/drawing/2014/main" id="{6D951B83-D3E9-11BC-88FE-4A334EE49F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" y="3461"/>
                          <a:ext cx="17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98" name="Group 178">
            <a:extLst>
              <a:ext uri="{FF2B5EF4-FFF2-40B4-BE49-F238E27FC236}">
                <a16:creationId xmlns:a16="http://schemas.microsoft.com/office/drawing/2014/main" id="{41B9552A-03BC-5BD5-AC07-145DF183F8F1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1484313"/>
            <a:ext cx="3600450" cy="817562"/>
            <a:chOff x="477" y="981"/>
            <a:chExt cx="2144" cy="515"/>
          </a:xfrm>
        </p:grpSpPr>
        <p:graphicFrame>
          <p:nvGraphicFramePr>
            <p:cNvPr id="29710" name="Object 176">
              <a:extLst>
                <a:ext uri="{FF2B5EF4-FFF2-40B4-BE49-F238E27FC236}">
                  <a16:creationId xmlns:a16="http://schemas.microsoft.com/office/drawing/2014/main" id="{24AAF9E9-04A7-11D5-7C70-526C7342EE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9" y="981"/>
            <a:ext cx="1192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1892300" imgH="825500" progId="Equation.3">
                    <p:embed/>
                  </p:oleObj>
                </mc:Choice>
                <mc:Fallback>
                  <p:oleObj name="公式" r:id="rId36" imgW="1892300" imgH="825500" progId="Equation.3">
                    <p:embed/>
                    <p:pic>
                      <p:nvPicPr>
                        <p:cNvPr id="29710" name="Object 176">
                          <a:extLst>
                            <a:ext uri="{FF2B5EF4-FFF2-40B4-BE49-F238E27FC236}">
                              <a16:creationId xmlns:a16="http://schemas.microsoft.com/office/drawing/2014/main" id="{24AAF9E9-04A7-11D5-7C70-526C7342EE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981"/>
                          <a:ext cx="1192" cy="5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97" name="Text Box 177">
              <a:extLst>
                <a:ext uri="{FF2B5EF4-FFF2-40B4-BE49-F238E27FC236}">
                  <a16:creationId xmlns:a16="http://schemas.microsoft.com/office/drawing/2014/main" id="{DC270CF0-0D98-F47C-7932-4844F687E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" y="1072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latin typeface="Times New Roman" charset="0"/>
                  <a:ea typeface="楷体_GB2312" charset="0"/>
                </a:rPr>
                <a:t>光程差</a:t>
              </a:r>
            </a:p>
          </p:txBody>
        </p:sp>
      </p:grpSp>
      <p:sp>
        <p:nvSpPr>
          <p:cNvPr id="5300" name="Rectangle 180">
            <a:extLst>
              <a:ext uri="{FF2B5EF4-FFF2-40B4-BE49-F238E27FC236}">
                <a16:creationId xmlns:a16="http://schemas.microsoft.com/office/drawing/2014/main" id="{2ED1ECE4-0BDE-7460-0DD1-2F2665A98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300663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明、暗条纹的间距：</a:t>
            </a:r>
          </a:p>
        </p:txBody>
      </p:sp>
      <p:sp>
        <p:nvSpPr>
          <p:cNvPr id="5301" name="AutoShape 181">
            <a:extLst>
              <a:ext uri="{FF2B5EF4-FFF2-40B4-BE49-F238E27FC236}">
                <a16:creationId xmlns:a16="http://schemas.microsoft.com/office/drawing/2014/main" id="{D5CE85ED-A331-836A-FB83-13743C03A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6075" y="549275"/>
            <a:ext cx="2447925" cy="503238"/>
          </a:xfrm>
          <a:prstGeom prst="wedgeRoundRectCallout">
            <a:avLst>
              <a:gd name="adj1" fmla="val -38329"/>
              <a:gd name="adj2" fmla="val 176185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明条纹</a:t>
            </a:r>
            <a:r>
              <a:rPr lang="en-US" alt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or</a:t>
            </a:r>
            <a:r>
              <a:rPr lang="zh-CN" altLang="en-US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暗条纹！</a:t>
            </a:r>
            <a:endParaRPr lang="zh-CN" altLang="en-US" sz="2000" b="0"/>
          </a:p>
        </p:txBody>
      </p:sp>
      <p:sp>
        <p:nvSpPr>
          <p:cNvPr id="5302" name="Rectangle 182">
            <a:extLst>
              <a:ext uri="{FF2B5EF4-FFF2-40B4-BE49-F238E27FC236}">
                <a16:creationId xmlns:a16="http://schemas.microsoft.com/office/drawing/2014/main" id="{A42340C8-2036-C767-5BED-1645CFDF4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4221163"/>
            <a:ext cx="3779837" cy="466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能确定明暗条纹的位置！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75" grpId="0" animBg="1" autoUpdateAnimBg="0"/>
      <p:bldP spid="5201" grpId="0"/>
      <p:bldP spid="5300" grpId="0"/>
      <p:bldP spid="5301" grpId="0" animBg="1" autoUpdateAnimBg="0"/>
      <p:bldP spid="53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E00C05B-37B9-4944-FDE7-C3E3C07DB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400" y="5141913"/>
            <a:ext cx="792163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55301" name="Rectangle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6A4B505-492B-97C5-67BB-7E9C06998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5157788"/>
            <a:ext cx="792162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55302" name="Rectangle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654808BE-F5F0-8A1C-AA55-01132345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7375" y="5157788"/>
            <a:ext cx="792163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55303" name="Rectangle 7">
            <a:hlinkClick r:id="" action="ppaction://hlinkshowjump?jump=endshow"/>
            <a:extLst>
              <a:ext uri="{FF2B5EF4-FFF2-40B4-BE49-F238E27FC236}">
                <a16:creationId xmlns:a16="http://schemas.microsoft.com/office/drawing/2014/main" id="{9C3DF8BA-7765-DA0A-714E-5AA5D7673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5156200"/>
            <a:ext cx="792163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55304" name="Rectangle 8">
            <a:extLst>
              <a:ext uri="{FF2B5EF4-FFF2-40B4-BE49-F238E27FC236}">
                <a16:creationId xmlns:a16="http://schemas.microsoft.com/office/drawing/2014/main" id="{78A4BFEB-1B01-C1DF-CA2A-EBDDF4B1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04813"/>
            <a:ext cx="263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牛顿环干涉</a:t>
            </a:r>
          </a:p>
        </p:txBody>
      </p:sp>
      <p:grpSp>
        <p:nvGrpSpPr>
          <p:cNvPr id="55305" name="Group 9">
            <a:extLst>
              <a:ext uri="{FF2B5EF4-FFF2-40B4-BE49-F238E27FC236}">
                <a16:creationId xmlns:a16="http://schemas.microsoft.com/office/drawing/2014/main" id="{8EAEDCA8-B996-FED3-0C33-2EE7BF572FD1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205038"/>
            <a:ext cx="5492750" cy="1295400"/>
            <a:chOff x="657" y="2523"/>
            <a:chExt cx="3269" cy="629"/>
          </a:xfrm>
        </p:grpSpPr>
        <p:graphicFrame>
          <p:nvGraphicFramePr>
            <p:cNvPr id="30793" name="Object 10">
              <a:extLst>
                <a:ext uri="{FF2B5EF4-FFF2-40B4-BE49-F238E27FC236}">
                  <a16:creationId xmlns:a16="http://schemas.microsoft.com/office/drawing/2014/main" id="{6C930C21-065A-B26F-F3DF-BEA0B71E69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" y="2523"/>
            <a:ext cx="92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765300" imgH="825500" progId="Equation.3">
                    <p:embed/>
                  </p:oleObj>
                </mc:Choice>
                <mc:Fallback>
                  <p:oleObj name="公式" r:id="rId2" imgW="1765300" imgH="825500" progId="Equation.3">
                    <p:embed/>
                    <p:pic>
                      <p:nvPicPr>
                        <p:cNvPr id="30793" name="Object 10">
                          <a:extLst>
                            <a:ext uri="{FF2B5EF4-FFF2-40B4-BE49-F238E27FC236}">
                              <a16:creationId xmlns:a16="http://schemas.microsoft.com/office/drawing/2014/main" id="{6C930C21-065A-B26F-F3DF-BEA0B71E69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2523"/>
                          <a:ext cx="92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94" name="Object 11">
              <a:extLst>
                <a:ext uri="{FF2B5EF4-FFF2-40B4-BE49-F238E27FC236}">
                  <a16:creationId xmlns:a16="http://schemas.microsoft.com/office/drawing/2014/main" id="{96D9ABC1-EFEC-5A8B-71F3-2B452B4800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5" y="2620"/>
            <a:ext cx="900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727200" imgH="368300" progId="Equation.3">
                    <p:embed/>
                  </p:oleObj>
                </mc:Choice>
                <mc:Fallback>
                  <p:oleObj name="公式" r:id="rId4" imgW="1727200" imgH="368300" progId="Equation.3">
                    <p:embed/>
                    <p:pic>
                      <p:nvPicPr>
                        <p:cNvPr id="30794" name="Object 11">
                          <a:extLst>
                            <a:ext uri="{FF2B5EF4-FFF2-40B4-BE49-F238E27FC236}">
                              <a16:creationId xmlns:a16="http://schemas.microsoft.com/office/drawing/2014/main" id="{96D9ABC1-EFEC-5A8B-71F3-2B452B4800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5" y="2620"/>
                          <a:ext cx="900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95" name="Object 12">
              <a:extLst>
                <a:ext uri="{FF2B5EF4-FFF2-40B4-BE49-F238E27FC236}">
                  <a16:creationId xmlns:a16="http://schemas.microsoft.com/office/drawing/2014/main" id="{DCCC33D9-A668-90AC-E058-968FB76355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0" y="2840"/>
            <a:ext cx="1448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768600" imgH="825500" progId="Equation.3">
                    <p:embed/>
                  </p:oleObj>
                </mc:Choice>
                <mc:Fallback>
                  <p:oleObj name="公式" r:id="rId6" imgW="2768600" imgH="825500" progId="Equation.3">
                    <p:embed/>
                    <p:pic>
                      <p:nvPicPr>
                        <p:cNvPr id="30795" name="Object 12">
                          <a:extLst>
                            <a:ext uri="{FF2B5EF4-FFF2-40B4-BE49-F238E27FC236}">
                              <a16:creationId xmlns:a16="http://schemas.microsoft.com/office/drawing/2014/main" id="{DCCC33D9-A668-90AC-E058-968FB76355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0" y="2840"/>
                          <a:ext cx="1448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96" name="Object 13">
              <a:extLst>
                <a:ext uri="{FF2B5EF4-FFF2-40B4-BE49-F238E27FC236}">
                  <a16:creationId xmlns:a16="http://schemas.microsoft.com/office/drawing/2014/main" id="{2CB11806-6FB3-FD44-81A8-69099A909C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87" y="2931"/>
            <a:ext cx="908" cy="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727200" imgH="368300" progId="Equation.3">
                    <p:embed/>
                  </p:oleObj>
                </mc:Choice>
                <mc:Fallback>
                  <p:oleObj name="公式" r:id="rId8" imgW="1727200" imgH="368300" progId="Equation.3">
                    <p:embed/>
                    <p:pic>
                      <p:nvPicPr>
                        <p:cNvPr id="30796" name="Object 13">
                          <a:extLst>
                            <a:ext uri="{FF2B5EF4-FFF2-40B4-BE49-F238E27FC236}">
                              <a16:creationId xmlns:a16="http://schemas.microsoft.com/office/drawing/2014/main" id="{2CB11806-6FB3-FD44-81A8-69099A909C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2931"/>
                          <a:ext cx="908" cy="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0" name="Rectangle 14">
              <a:extLst>
                <a:ext uri="{FF2B5EF4-FFF2-40B4-BE49-F238E27FC236}">
                  <a16:creationId xmlns:a16="http://schemas.microsoft.com/office/drawing/2014/main" id="{E3148018-B20F-3E5B-2A6F-80F78A709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" y="2564"/>
              <a:ext cx="474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/>
                <a:t>明纹</a:t>
              </a:r>
            </a:p>
          </p:txBody>
        </p:sp>
        <p:sp>
          <p:nvSpPr>
            <p:cNvPr id="55311" name="Rectangle 15">
              <a:extLst>
                <a:ext uri="{FF2B5EF4-FFF2-40B4-BE49-F238E27FC236}">
                  <a16:creationId xmlns:a16="http://schemas.microsoft.com/office/drawing/2014/main" id="{9C4F1CBD-F49D-38DA-55F2-A78EF8A46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6" y="2873"/>
              <a:ext cx="520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/>
                <a:t>暗纹</a:t>
              </a:r>
              <a:r>
                <a:rPr lang="zh-CN" altLang="en-US" sz="2400" b="0"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55312" name="AutoShape 16">
              <a:extLst>
                <a:ext uri="{FF2B5EF4-FFF2-40B4-BE49-F238E27FC236}">
                  <a16:creationId xmlns:a16="http://schemas.microsoft.com/office/drawing/2014/main" id="{0D187743-ACF9-F4F2-631D-CCF904C29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2659"/>
              <a:ext cx="136" cy="363"/>
            </a:xfrm>
            <a:prstGeom prst="leftBrace">
              <a:avLst>
                <a:gd name="adj1" fmla="val 2224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</p:grpSp>
      <p:sp>
        <p:nvSpPr>
          <p:cNvPr id="55313" name="AutoShape 17">
            <a:extLst>
              <a:ext uri="{FF2B5EF4-FFF2-40B4-BE49-F238E27FC236}">
                <a16:creationId xmlns:a16="http://schemas.microsoft.com/office/drawing/2014/main" id="{FD9D37B1-3D5B-A5DE-1877-3D3EB7BED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2708275"/>
            <a:ext cx="2881312" cy="576263"/>
          </a:xfrm>
          <a:prstGeom prst="wedgeRoundRectCallout">
            <a:avLst>
              <a:gd name="adj1" fmla="val -55287"/>
              <a:gd name="adj2" fmla="val 35125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中心为零级暗纹！</a:t>
            </a:r>
            <a:endParaRPr lang="zh-CN" altLang="en-US" sz="2400" b="0"/>
          </a:p>
        </p:txBody>
      </p:sp>
      <p:grpSp>
        <p:nvGrpSpPr>
          <p:cNvPr id="55314" name="Group 18">
            <a:extLst>
              <a:ext uri="{FF2B5EF4-FFF2-40B4-BE49-F238E27FC236}">
                <a16:creationId xmlns:a16="http://schemas.microsoft.com/office/drawing/2014/main" id="{16511EBA-F979-2CFB-87D6-1A26A568B1AC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789363"/>
            <a:ext cx="6192837" cy="1698625"/>
            <a:chOff x="249" y="3113"/>
            <a:chExt cx="3765" cy="1070"/>
          </a:xfrm>
        </p:grpSpPr>
        <p:graphicFrame>
          <p:nvGraphicFramePr>
            <p:cNvPr id="30783" name="Object 19">
              <a:extLst>
                <a:ext uri="{FF2B5EF4-FFF2-40B4-BE49-F238E27FC236}">
                  <a16:creationId xmlns:a16="http://schemas.microsoft.com/office/drawing/2014/main" id="{3124A2A4-23D1-887F-732B-BB28D1C566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9" y="3113"/>
            <a:ext cx="454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054100" imgH="876300" progId="Equation.3">
                    <p:embed/>
                  </p:oleObj>
                </mc:Choice>
                <mc:Fallback>
                  <p:oleObj name="公式" r:id="rId10" imgW="1054100" imgH="876300" progId="Equation.3">
                    <p:embed/>
                    <p:pic>
                      <p:nvPicPr>
                        <p:cNvPr id="30783" name="Object 19">
                          <a:extLst>
                            <a:ext uri="{FF2B5EF4-FFF2-40B4-BE49-F238E27FC236}">
                              <a16:creationId xmlns:a16="http://schemas.microsoft.com/office/drawing/2014/main" id="{3124A2A4-23D1-887F-732B-BB28D1C566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3113"/>
                          <a:ext cx="454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16" name="Text Box 20">
              <a:extLst>
                <a:ext uri="{FF2B5EF4-FFF2-40B4-BE49-F238E27FC236}">
                  <a16:creationId xmlns:a16="http://schemas.microsoft.com/office/drawing/2014/main" id="{6EEC53A6-EAC7-7FC7-708A-76120A081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3158"/>
              <a:ext cx="12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根据几何关系</a:t>
              </a:r>
            </a:p>
          </p:txBody>
        </p:sp>
        <p:grpSp>
          <p:nvGrpSpPr>
            <p:cNvPr id="30785" name="Group 21">
              <a:extLst>
                <a:ext uri="{FF2B5EF4-FFF2-40B4-BE49-F238E27FC236}">
                  <a16:creationId xmlns:a16="http://schemas.microsoft.com/office/drawing/2014/main" id="{40C86141-E901-3A15-3F34-B854BE4693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" y="3521"/>
              <a:ext cx="3039" cy="382"/>
              <a:chOff x="1082" y="572"/>
              <a:chExt cx="3068" cy="548"/>
            </a:xfrm>
          </p:grpSpPr>
          <p:graphicFrame>
            <p:nvGraphicFramePr>
              <p:cNvPr id="30791" name="Object 22">
                <a:extLst>
                  <a:ext uri="{FF2B5EF4-FFF2-40B4-BE49-F238E27FC236}">
                    <a16:creationId xmlns:a16="http://schemas.microsoft.com/office/drawing/2014/main" id="{24FF9016-9D82-DFFB-E3D9-AA4FDAC965F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82" y="572"/>
              <a:ext cx="1651" cy="5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628900" imgH="863600" progId="Equation.3">
                      <p:embed/>
                    </p:oleObj>
                  </mc:Choice>
                  <mc:Fallback>
                    <p:oleObj name="Equation" r:id="rId12" imgW="2628900" imgH="863600" progId="Equation.3">
                      <p:embed/>
                      <p:pic>
                        <p:nvPicPr>
                          <p:cNvPr id="30791" name="Object 22">
                            <a:extLst>
                              <a:ext uri="{FF2B5EF4-FFF2-40B4-BE49-F238E27FC236}">
                                <a16:creationId xmlns:a16="http://schemas.microsoft.com/office/drawing/2014/main" id="{24FF9016-9D82-DFFB-E3D9-AA4FDAC965F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82" y="572"/>
                            <a:ext cx="1651" cy="5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92" name="Object 23">
                <a:extLst>
                  <a:ext uri="{FF2B5EF4-FFF2-40B4-BE49-F238E27FC236}">
                    <a16:creationId xmlns:a16="http://schemas.microsoft.com/office/drawing/2014/main" id="{32C34805-07B2-F4E9-37FE-E5A3D7D39A6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67" y="756"/>
              <a:ext cx="108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1727200" imgH="368300" progId="Equation.3">
                      <p:embed/>
                    </p:oleObj>
                  </mc:Choice>
                  <mc:Fallback>
                    <p:oleObj name="公式" r:id="rId14" imgW="1727200" imgH="368300" progId="Equation.3">
                      <p:embed/>
                      <p:pic>
                        <p:nvPicPr>
                          <p:cNvPr id="30792" name="Object 23">
                            <a:extLst>
                              <a:ext uri="{FF2B5EF4-FFF2-40B4-BE49-F238E27FC236}">
                                <a16:creationId xmlns:a16="http://schemas.microsoft.com/office/drawing/2014/main" id="{32C34805-07B2-F4E9-37FE-E5A3D7D39A6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67" y="756"/>
                            <a:ext cx="108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0786" name="Group 24">
              <a:extLst>
                <a:ext uri="{FF2B5EF4-FFF2-40B4-BE49-F238E27FC236}">
                  <a16:creationId xmlns:a16="http://schemas.microsoft.com/office/drawing/2014/main" id="{88D9CC9D-B11B-26F4-9310-750DD98C99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5" y="3929"/>
              <a:ext cx="2948" cy="254"/>
              <a:chOff x="1107" y="1166"/>
              <a:chExt cx="3021" cy="300"/>
            </a:xfrm>
          </p:grpSpPr>
          <p:graphicFrame>
            <p:nvGraphicFramePr>
              <p:cNvPr id="30789" name="Object 25">
                <a:extLst>
                  <a:ext uri="{FF2B5EF4-FFF2-40B4-BE49-F238E27FC236}">
                    <a16:creationId xmlns:a16="http://schemas.microsoft.com/office/drawing/2014/main" id="{3D210FE4-2E78-952D-CE46-06DE8421BDD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07" y="1166"/>
              <a:ext cx="1048" cy="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663700" imgH="482600" progId="Equation.3">
                      <p:embed/>
                    </p:oleObj>
                  </mc:Choice>
                  <mc:Fallback>
                    <p:oleObj name="Equation" r:id="rId16" imgW="1663700" imgH="482600" progId="Equation.3">
                      <p:embed/>
                      <p:pic>
                        <p:nvPicPr>
                          <p:cNvPr id="30789" name="Object 25">
                            <a:extLst>
                              <a:ext uri="{FF2B5EF4-FFF2-40B4-BE49-F238E27FC236}">
                                <a16:creationId xmlns:a16="http://schemas.microsoft.com/office/drawing/2014/main" id="{3D210FE4-2E78-952D-CE46-06DE8421BDD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7" y="1166"/>
                            <a:ext cx="1048" cy="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90" name="Object 26">
                <a:extLst>
                  <a:ext uri="{FF2B5EF4-FFF2-40B4-BE49-F238E27FC236}">
                    <a16:creationId xmlns:a16="http://schemas.microsoft.com/office/drawing/2014/main" id="{03083DD1-7C7D-E58A-E255-C78F03355E2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35" y="1212"/>
              <a:ext cx="1093" cy="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1727200" imgH="368300" progId="Equation.3">
                      <p:embed/>
                    </p:oleObj>
                  </mc:Choice>
                  <mc:Fallback>
                    <p:oleObj name="公式" r:id="rId18" imgW="1727200" imgH="368300" progId="Equation.3">
                      <p:embed/>
                      <p:pic>
                        <p:nvPicPr>
                          <p:cNvPr id="30790" name="Object 26">
                            <a:extLst>
                              <a:ext uri="{FF2B5EF4-FFF2-40B4-BE49-F238E27FC236}">
                                <a16:creationId xmlns:a16="http://schemas.microsoft.com/office/drawing/2014/main" id="{03083DD1-7C7D-E58A-E255-C78F03355E2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35" y="1212"/>
                            <a:ext cx="1093" cy="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5323" name="AutoShape 27">
              <a:extLst>
                <a:ext uri="{FF2B5EF4-FFF2-40B4-BE49-F238E27FC236}">
                  <a16:creationId xmlns:a16="http://schemas.microsoft.com/office/drawing/2014/main" id="{5AB3A794-17CD-AE51-DBBC-A719B27C3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3702"/>
              <a:ext cx="136" cy="363"/>
            </a:xfrm>
            <a:prstGeom prst="leftBrace">
              <a:avLst>
                <a:gd name="adj1" fmla="val 2224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  <p:sp>
          <p:nvSpPr>
            <p:cNvPr id="55324" name="AutoShape 28">
              <a:extLst>
                <a:ext uri="{FF2B5EF4-FFF2-40B4-BE49-F238E27FC236}">
                  <a16:creationId xmlns:a16="http://schemas.microsoft.com/office/drawing/2014/main" id="{2662EEBD-7CBF-826C-1C9C-6248389CD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3748"/>
              <a:ext cx="180" cy="22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</p:grpSp>
      <p:sp>
        <p:nvSpPr>
          <p:cNvPr id="55325" name="AutoShape 29">
            <a:extLst>
              <a:ext uri="{FF2B5EF4-FFF2-40B4-BE49-F238E27FC236}">
                <a16:creationId xmlns:a16="http://schemas.microsoft.com/office/drawing/2014/main" id="{C4084CAE-2210-A203-6B5F-9F05E4E61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075" y="4465638"/>
            <a:ext cx="2701925" cy="863600"/>
          </a:xfrm>
          <a:prstGeom prst="wedgeRoundRectCallout">
            <a:avLst>
              <a:gd name="adj1" fmla="val -63278"/>
              <a:gd name="adj2" fmla="val 32537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会分析透镜抬高后，条纹如何变化！</a:t>
            </a:r>
            <a:endParaRPr lang="zh-CN" altLang="en-US" sz="2000" b="0"/>
          </a:p>
        </p:txBody>
      </p:sp>
      <p:sp>
        <p:nvSpPr>
          <p:cNvPr id="55326" name="Text Box 30">
            <a:hlinkClick r:id="" action="ppaction://noaction"/>
            <a:extLst>
              <a:ext uri="{FF2B5EF4-FFF2-40B4-BE49-F238E27FC236}">
                <a16:creationId xmlns:a16="http://schemas.microsoft.com/office/drawing/2014/main" id="{7B122E79-BE3A-37B7-73CF-2896C6E77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3878263"/>
            <a:ext cx="898525" cy="51911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effectLst>
                  <a:outerShdw blurRad="38100" dist="38100" dir="2700000" algn="tl">
                    <a:srgbClr val="FFFFFF"/>
                  </a:outerShdw>
                </a:effectLst>
              </a:rPr>
              <a:t>例题</a:t>
            </a:r>
          </a:p>
        </p:txBody>
      </p:sp>
      <p:grpSp>
        <p:nvGrpSpPr>
          <p:cNvPr id="55378" name="Group 82">
            <a:extLst>
              <a:ext uri="{FF2B5EF4-FFF2-40B4-BE49-F238E27FC236}">
                <a16:creationId xmlns:a16="http://schemas.microsoft.com/office/drawing/2014/main" id="{BA403C14-AB83-6C56-54DB-2764BA555B95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196975"/>
            <a:ext cx="3384550" cy="857250"/>
            <a:chOff x="521" y="754"/>
            <a:chExt cx="1906" cy="540"/>
          </a:xfrm>
        </p:grpSpPr>
        <p:graphicFrame>
          <p:nvGraphicFramePr>
            <p:cNvPr id="30781" name="Object 32">
              <a:extLst>
                <a:ext uri="{FF2B5EF4-FFF2-40B4-BE49-F238E27FC236}">
                  <a16:creationId xmlns:a16="http://schemas.microsoft.com/office/drawing/2014/main" id="{1A373FA4-C6E8-2AA0-0E71-93CB098242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754"/>
            <a:ext cx="953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685800" imgH="393700" progId="Equation.3">
                    <p:embed/>
                  </p:oleObj>
                </mc:Choice>
                <mc:Fallback>
                  <p:oleObj name="公式" r:id="rId20" imgW="685800" imgH="393700" progId="Equation.3">
                    <p:embed/>
                    <p:pic>
                      <p:nvPicPr>
                        <p:cNvPr id="30781" name="Object 32">
                          <a:extLst>
                            <a:ext uri="{FF2B5EF4-FFF2-40B4-BE49-F238E27FC236}">
                              <a16:creationId xmlns:a16="http://schemas.microsoft.com/office/drawing/2014/main" id="{1A373FA4-C6E8-2AA0-0E71-93CB098242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754"/>
                          <a:ext cx="953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29" name="Text Box 33">
              <a:extLst>
                <a:ext uri="{FF2B5EF4-FFF2-40B4-BE49-F238E27FC236}">
                  <a16:creationId xmlns:a16="http://schemas.microsoft.com/office/drawing/2014/main" id="{32C9C922-AAD0-47A0-2F2F-4A8BDB279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845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>
                  <a:latin typeface="Times New Roman" charset="0"/>
                  <a:ea typeface="楷体_GB2312" charset="0"/>
                </a:rPr>
                <a:t>光程差</a:t>
              </a:r>
            </a:p>
          </p:txBody>
        </p:sp>
      </p:grpSp>
      <p:grpSp>
        <p:nvGrpSpPr>
          <p:cNvPr id="30732" name="Group 34">
            <a:extLst>
              <a:ext uri="{FF2B5EF4-FFF2-40B4-BE49-F238E27FC236}">
                <a16:creationId xmlns:a16="http://schemas.microsoft.com/office/drawing/2014/main" id="{371F4B71-AE1A-217A-0900-66E32E7DF402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188913"/>
            <a:ext cx="3240087" cy="2205037"/>
            <a:chOff x="2051" y="845"/>
            <a:chExt cx="2734" cy="1881"/>
          </a:xfrm>
        </p:grpSpPr>
        <p:grpSp>
          <p:nvGrpSpPr>
            <p:cNvPr id="30734" name="Group 35">
              <a:extLst>
                <a:ext uri="{FF2B5EF4-FFF2-40B4-BE49-F238E27FC236}">
                  <a16:creationId xmlns:a16="http://schemas.microsoft.com/office/drawing/2014/main" id="{60C5DAA6-2F6B-1410-94D9-410F106B7F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1" y="845"/>
              <a:ext cx="2734" cy="1764"/>
              <a:chOff x="2051" y="845"/>
              <a:chExt cx="2734" cy="1764"/>
            </a:xfrm>
          </p:grpSpPr>
          <p:sp>
            <p:nvSpPr>
              <p:cNvPr id="30736" name="弧 36">
                <a:extLst>
                  <a:ext uri="{FF2B5EF4-FFF2-40B4-BE49-F238E27FC236}">
                    <a16:creationId xmlns:a16="http://schemas.microsoft.com/office/drawing/2014/main" id="{F13D0451-7626-629E-D764-F85DEAB1220C}"/>
                  </a:ext>
                </a:extLst>
              </p:cNvPr>
              <p:cNvSpPr>
                <a:spLocks/>
              </p:cNvSpPr>
              <p:nvPr/>
            </p:nvSpPr>
            <p:spPr bwMode="auto">
              <a:xfrm rot="9300000">
                <a:off x="2051" y="1714"/>
                <a:ext cx="902" cy="826"/>
              </a:xfrm>
              <a:custGeom>
                <a:avLst/>
                <a:gdLst>
                  <a:gd name="T0" fmla="*/ 0 w 18787"/>
                  <a:gd name="T1" fmla="*/ 0 h 21600"/>
                  <a:gd name="T2" fmla="*/ 902 w 18787"/>
                  <a:gd name="T3" fmla="*/ 411 h 21600"/>
                  <a:gd name="T4" fmla="*/ 5 w 18787"/>
                  <a:gd name="T5" fmla="*/ 82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787" h="21600" fill="none" extrusionOk="0">
                    <a:moveTo>
                      <a:pt x="0" y="0"/>
                    </a:moveTo>
                    <a:cubicBezTo>
                      <a:pt x="38" y="0"/>
                      <a:pt x="76" y="-1"/>
                      <a:pt x="114" y="-1"/>
                    </a:cubicBezTo>
                    <a:cubicBezTo>
                      <a:pt x="7807" y="-1"/>
                      <a:pt x="14920" y="4092"/>
                      <a:pt x="18787" y="10742"/>
                    </a:cubicBezTo>
                  </a:path>
                  <a:path w="18787" h="21600" stroke="0" extrusionOk="0">
                    <a:moveTo>
                      <a:pt x="0" y="0"/>
                    </a:moveTo>
                    <a:cubicBezTo>
                      <a:pt x="38" y="0"/>
                      <a:pt x="76" y="-1"/>
                      <a:pt x="114" y="-1"/>
                    </a:cubicBezTo>
                    <a:cubicBezTo>
                      <a:pt x="7807" y="-1"/>
                      <a:pt x="14920" y="4092"/>
                      <a:pt x="18787" y="10742"/>
                    </a:cubicBezTo>
                    <a:lnTo>
                      <a:pt x="114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7" name="Rectangle 37">
                <a:extLst>
                  <a:ext uri="{FF2B5EF4-FFF2-40B4-BE49-F238E27FC236}">
                    <a16:creationId xmlns:a16="http://schemas.microsoft.com/office/drawing/2014/main" id="{D20C9915-449B-ABF9-398E-DBB8EEA52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6" y="2438"/>
                <a:ext cx="1004" cy="9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38" name="Line 38">
                <a:extLst>
                  <a:ext uri="{FF2B5EF4-FFF2-40B4-BE49-F238E27FC236}">
                    <a16:creationId xmlns:a16="http://schemas.microsoft.com/office/drawing/2014/main" id="{820B4587-E4B8-E0AE-FC37-1272C30F1F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6" y="2311"/>
                <a:ext cx="1004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9" name="Rectangle 39">
                <a:extLst>
                  <a:ext uri="{FF2B5EF4-FFF2-40B4-BE49-F238E27FC236}">
                    <a16:creationId xmlns:a16="http://schemas.microsoft.com/office/drawing/2014/main" id="{81291CE8-7300-582F-995A-67A181F2B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2697523">
                <a:off x="2182" y="1764"/>
                <a:ext cx="783" cy="5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40" name="Oval 40">
                <a:extLst>
                  <a:ext uri="{FF2B5EF4-FFF2-40B4-BE49-F238E27FC236}">
                    <a16:creationId xmlns:a16="http://schemas.microsoft.com/office/drawing/2014/main" id="{B16269C2-76AE-80F4-993F-AEAC7AE4C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2" y="1564"/>
                <a:ext cx="107" cy="537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41" name="Line 41">
                <a:extLst>
                  <a:ext uri="{FF2B5EF4-FFF2-40B4-BE49-F238E27FC236}">
                    <a16:creationId xmlns:a16="http://schemas.microsoft.com/office/drawing/2014/main" id="{84927A32-4931-1F13-0B64-FC1EC161CB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03" y="2015"/>
                <a:ext cx="0" cy="42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2" name="Line 42">
                <a:extLst>
                  <a:ext uri="{FF2B5EF4-FFF2-40B4-BE49-F238E27FC236}">
                    <a16:creationId xmlns:a16="http://schemas.microsoft.com/office/drawing/2014/main" id="{2E58AF3E-B674-5B61-3BE9-9D64F901D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8" y="1654"/>
                <a:ext cx="0" cy="78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3" name="Line 43">
                <a:extLst>
                  <a:ext uri="{FF2B5EF4-FFF2-40B4-BE49-F238E27FC236}">
                    <a16:creationId xmlns:a16="http://schemas.microsoft.com/office/drawing/2014/main" id="{95152B19-2100-D703-D2E4-0B467958DB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4945282">
                <a:off x="2716" y="1623"/>
                <a:ext cx="72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4" name="Line 44">
                <a:extLst>
                  <a:ext uri="{FF2B5EF4-FFF2-40B4-BE49-F238E27FC236}">
                    <a16:creationId xmlns:a16="http://schemas.microsoft.com/office/drawing/2014/main" id="{45A6882A-D143-EC43-8861-586B7F2CD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4945282">
                <a:off x="2360" y="1966"/>
                <a:ext cx="72" cy="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5" name="Line 45">
                <a:extLst>
                  <a:ext uri="{FF2B5EF4-FFF2-40B4-BE49-F238E27FC236}">
                    <a16:creationId xmlns:a16="http://schemas.microsoft.com/office/drawing/2014/main" id="{224439D8-FC2D-1ED9-9B2C-9597D74C1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41" y="1282"/>
                <a:ext cx="0" cy="2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6" name="Line 46">
                <a:extLst>
                  <a:ext uri="{FF2B5EF4-FFF2-40B4-BE49-F238E27FC236}">
                    <a16:creationId xmlns:a16="http://schemas.microsoft.com/office/drawing/2014/main" id="{343C944B-440C-4B88-2751-68F1D3D42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7" y="1275"/>
                <a:ext cx="0" cy="65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7" name="Oval 47">
                <a:extLst>
                  <a:ext uri="{FF2B5EF4-FFF2-40B4-BE49-F238E27FC236}">
                    <a16:creationId xmlns:a16="http://schemas.microsoft.com/office/drawing/2014/main" id="{45FF4E7E-2E0D-1DFA-048D-08D7D5594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3" y="1261"/>
                <a:ext cx="425" cy="90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48" name="Line 48">
                <a:extLst>
                  <a:ext uri="{FF2B5EF4-FFF2-40B4-BE49-F238E27FC236}">
                    <a16:creationId xmlns:a16="http://schemas.microsoft.com/office/drawing/2014/main" id="{081A5AAA-1266-E018-E9CC-783E7D924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43" y="850"/>
                <a:ext cx="0" cy="44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49" name="Line 49">
                <a:extLst>
                  <a:ext uri="{FF2B5EF4-FFF2-40B4-BE49-F238E27FC236}">
                    <a16:creationId xmlns:a16="http://schemas.microsoft.com/office/drawing/2014/main" id="{C0A4118C-6227-0752-DD87-CE231879D2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68" y="850"/>
                <a:ext cx="0" cy="44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0" name="Freeform 50">
                <a:extLst>
                  <a:ext uri="{FF2B5EF4-FFF2-40B4-BE49-F238E27FC236}">
                    <a16:creationId xmlns:a16="http://schemas.microsoft.com/office/drawing/2014/main" id="{BDDEA005-4ED2-D4BC-BFFA-F69B24A4E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845"/>
                <a:ext cx="408" cy="60"/>
              </a:xfrm>
              <a:custGeom>
                <a:avLst/>
                <a:gdLst>
                  <a:gd name="T0" fmla="*/ 0 w 750"/>
                  <a:gd name="T1" fmla="*/ 0 h 105"/>
                  <a:gd name="T2" fmla="*/ 33 w 750"/>
                  <a:gd name="T3" fmla="*/ 9 h 105"/>
                  <a:gd name="T4" fmla="*/ 49 w 750"/>
                  <a:gd name="T5" fmla="*/ 34 h 105"/>
                  <a:gd name="T6" fmla="*/ 98 w 750"/>
                  <a:gd name="T7" fmla="*/ 60 h 105"/>
                  <a:gd name="T8" fmla="*/ 180 w 750"/>
                  <a:gd name="T9" fmla="*/ 9 h 105"/>
                  <a:gd name="T10" fmla="*/ 204 w 750"/>
                  <a:gd name="T11" fmla="*/ 34 h 105"/>
                  <a:gd name="T12" fmla="*/ 294 w 750"/>
                  <a:gd name="T13" fmla="*/ 17 h 105"/>
                  <a:gd name="T14" fmla="*/ 384 w 750"/>
                  <a:gd name="T15" fmla="*/ 34 h 105"/>
                  <a:gd name="T16" fmla="*/ 408 w 750"/>
                  <a:gd name="T17" fmla="*/ 9 h 10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50" h="105">
                    <a:moveTo>
                      <a:pt x="0" y="0"/>
                    </a:moveTo>
                    <a:cubicBezTo>
                      <a:pt x="20" y="5"/>
                      <a:pt x="43" y="4"/>
                      <a:pt x="60" y="15"/>
                    </a:cubicBezTo>
                    <a:cubicBezTo>
                      <a:pt x="75" y="25"/>
                      <a:pt x="77" y="47"/>
                      <a:pt x="90" y="60"/>
                    </a:cubicBezTo>
                    <a:cubicBezTo>
                      <a:pt x="119" y="89"/>
                      <a:pt x="143" y="93"/>
                      <a:pt x="180" y="105"/>
                    </a:cubicBezTo>
                    <a:cubicBezTo>
                      <a:pt x="260" y="89"/>
                      <a:pt x="285" y="82"/>
                      <a:pt x="330" y="15"/>
                    </a:cubicBezTo>
                    <a:cubicBezTo>
                      <a:pt x="345" y="30"/>
                      <a:pt x="354" y="56"/>
                      <a:pt x="375" y="60"/>
                    </a:cubicBezTo>
                    <a:cubicBezTo>
                      <a:pt x="405" y="66"/>
                      <a:pt x="501" y="40"/>
                      <a:pt x="540" y="30"/>
                    </a:cubicBezTo>
                    <a:cubicBezTo>
                      <a:pt x="618" y="69"/>
                      <a:pt x="620" y="81"/>
                      <a:pt x="705" y="60"/>
                    </a:cubicBezTo>
                    <a:cubicBezTo>
                      <a:pt x="738" y="11"/>
                      <a:pt x="717" y="15"/>
                      <a:pt x="750" y="15"/>
                    </a:cubicBez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1" name="Line 51">
                <a:extLst>
                  <a:ext uri="{FF2B5EF4-FFF2-40B4-BE49-F238E27FC236}">
                    <a16:creationId xmlns:a16="http://schemas.microsoft.com/office/drawing/2014/main" id="{43FC77F0-DB3A-A95E-F97E-6FE0AF9104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44" y="1070"/>
                <a:ext cx="106" cy="26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2" name="Line 52">
                <a:extLst>
                  <a:ext uri="{FF2B5EF4-FFF2-40B4-BE49-F238E27FC236}">
                    <a16:creationId xmlns:a16="http://schemas.microsoft.com/office/drawing/2014/main" id="{46DB2DF8-B9C0-41DC-54BA-21BF40E06D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7" y="1070"/>
                <a:ext cx="106" cy="26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3" name="Line 53">
                <a:extLst>
                  <a:ext uri="{FF2B5EF4-FFF2-40B4-BE49-F238E27FC236}">
                    <a16:creationId xmlns:a16="http://schemas.microsoft.com/office/drawing/2014/main" id="{15CB5D0D-9C32-5BF9-3161-0FB7E851ED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8" y="1893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4" name="Line 54">
                <a:extLst>
                  <a:ext uri="{FF2B5EF4-FFF2-40B4-BE49-F238E27FC236}">
                    <a16:creationId xmlns:a16="http://schemas.microsoft.com/office/drawing/2014/main" id="{24C7D84D-1389-A094-25EC-937434FA1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5" y="2091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5" name="Line 55">
                <a:extLst>
                  <a:ext uri="{FF2B5EF4-FFF2-40B4-BE49-F238E27FC236}">
                    <a16:creationId xmlns:a16="http://schemas.microsoft.com/office/drawing/2014/main" id="{049A1BD6-5F20-DF36-412F-BACD87893F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41" y="1373"/>
                <a:ext cx="0" cy="1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6" name="Line 56">
                <a:extLst>
                  <a:ext uri="{FF2B5EF4-FFF2-40B4-BE49-F238E27FC236}">
                    <a16:creationId xmlns:a16="http://schemas.microsoft.com/office/drawing/2014/main" id="{B9A2F264-06C8-E9E0-1F0E-A620C942A7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7" y="1382"/>
                <a:ext cx="0" cy="1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7" name="Line 57">
                <a:extLst>
                  <a:ext uri="{FF2B5EF4-FFF2-40B4-BE49-F238E27FC236}">
                    <a16:creationId xmlns:a16="http://schemas.microsoft.com/office/drawing/2014/main" id="{C099C280-75E8-61C2-A32C-7E4FE4A86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68" y="2141"/>
                <a:ext cx="0" cy="1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8" name="Line 58">
                <a:extLst>
                  <a:ext uri="{FF2B5EF4-FFF2-40B4-BE49-F238E27FC236}">
                    <a16:creationId xmlns:a16="http://schemas.microsoft.com/office/drawing/2014/main" id="{3DD54946-0D9D-ED0D-2F21-CDBB22BCE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5" y="2153"/>
                <a:ext cx="0" cy="1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59" name="Line 59">
                <a:extLst>
                  <a:ext uri="{FF2B5EF4-FFF2-40B4-BE49-F238E27FC236}">
                    <a16:creationId xmlns:a16="http://schemas.microsoft.com/office/drawing/2014/main" id="{BF460A71-A923-4174-80B7-F5D18BECFF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68" y="1642"/>
                <a:ext cx="465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0" name="Line 60">
                <a:extLst>
                  <a:ext uri="{FF2B5EF4-FFF2-40B4-BE49-F238E27FC236}">
                    <a16:creationId xmlns:a16="http://schemas.microsoft.com/office/drawing/2014/main" id="{D46AB4F8-12EB-655C-2B97-DD8C87DBE5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5" y="1991"/>
                <a:ext cx="849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1" name="Line 61">
                <a:extLst>
                  <a:ext uri="{FF2B5EF4-FFF2-40B4-BE49-F238E27FC236}">
                    <a16:creationId xmlns:a16="http://schemas.microsoft.com/office/drawing/2014/main" id="{C7ABA505-F6DF-FF5E-95ED-1018492D2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37" y="1642"/>
                <a:ext cx="318" cy="17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2" name="Line 62">
                <a:extLst>
                  <a:ext uri="{FF2B5EF4-FFF2-40B4-BE49-F238E27FC236}">
                    <a16:creationId xmlns:a16="http://schemas.microsoft.com/office/drawing/2014/main" id="{94A264BE-8F9C-B611-D30C-AABBD1E671A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272" y="1831"/>
                <a:ext cx="278" cy="15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3" name="Oval 63">
                <a:extLst>
                  <a:ext uri="{FF2B5EF4-FFF2-40B4-BE49-F238E27FC236}">
                    <a16:creationId xmlns:a16="http://schemas.microsoft.com/office/drawing/2014/main" id="{DF913F69-77C1-8E4E-9199-F1CE6E33E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5" y="1809"/>
                <a:ext cx="34" cy="32"/>
              </a:xfrm>
              <a:prstGeom prst="ellipse">
                <a:avLst/>
              </a:prstGeom>
              <a:solidFill>
                <a:srgbClr val="000000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64" name="Line 64">
                <a:extLst>
                  <a:ext uri="{FF2B5EF4-FFF2-40B4-BE49-F238E27FC236}">
                    <a16:creationId xmlns:a16="http://schemas.microsoft.com/office/drawing/2014/main" id="{B5C8D4A4-0915-AB7F-6805-19CDAE5DB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36" y="1642"/>
                <a:ext cx="10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5" name="Line 65">
                <a:extLst>
                  <a:ext uri="{FF2B5EF4-FFF2-40B4-BE49-F238E27FC236}">
                    <a16:creationId xmlns:a16="http://schemas.microsoft.com/office/drawing/2014/main" id="{5DB3A9C2-EB05-801F-E116-A238FE1983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36" y="1991"/>
                <a:ext cx="10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6" name="Line 66">
                <a:extLst>
                  <a:ext uri="{FF2B5EF4-FFF2-40B4-BE49-F238E27FC236}">
                    <a16:creationId xmlns:a16="http://schemas.microsoft.com/office/drawing/2014/main" id="{A91095C3-2AC9-D7A0-B089-F542D66BB2A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 flipV="1">
                <a:off x="3341" y="1693"/>
                <a:ext cx="144" cy="81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7" name="Line 67">
                <a:extLst>
                  <a:ext uri="{FF2B5EF4-FFF2-40B4-BE49-F238E27FC236}">
                    <a16:creationId xmlns:a16="http://schemas.microsoft.com/office/drawing/2014/main" id="{0C3CA900-F700-D25E-3C8C-632FDCF4432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3361" y="1874"/>
                <a:ext cx="103" cy="59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triangle" w="sm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68" name="Text Box 68">
                <a:extLst>
                  <a:ext uri="{FF2B5EF4-FFF2-40B4-BE49-F238E27FC236}">
                    <a16:creationId xmlns:a16="http://schemas.microsoft.com/office/drawing/2014/main" id="{BDF8E061-D389-EC7F-35A7-1251A8FBA2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0" y="900"/>
                <a:ext cx="319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0">
                    <a:ea typeface="宋体" panose="02010600030101010101" pitchFamily="2" charset="-122"/>
                  </a:rPr>
                  <a:t>T</a:t>
                </a:r>
              </a:p>
            </p:txBody>
          </p:sp>
          <p:sp>
            <p:nvSpPr>
              <p:cNvPr id="30769" name="Text Box 69">
                <a:extLst>
                  <a:ext uri="{FF2B5EF4-FFF2-40B4-BE49-F238E27FC236}">
                    <a16:creationId xmlns:a16="http://schemas.microsoft.com/office/drawing/2014/main" id="{FF7F6091-9FC5-D65B-661A-C52F6D18C2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8" y="1786"/>
                <a:ext cx="319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sz="2000" i="1">
                    <a:ea typeface="宋体" panose="02010600030101010101" pitchFamily="2" charset="-122"/>
                  </a:rPr>
                  <a:t>M</a:t>
                </a:r>
              </a:p>
            </p:txBody>
          </p:sp>
          <p:sp>
            <p:nvSpPr>
              <p:cNvPr id="30770" name="Text Box 70">
                <a:extLst>
                  <a:ext uri="{FF2B5EF4-FFF2-40B4-BE49-F238E27FC236}">
                    <a16:creationId xmlns:a16="http://schemas.microsoft.com/office/drawing/2014/main" id="{FAA60B6B-A2E2-43D5-4C94-CBAA1C99A9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9" y="1361"/>
                <a:ext cx="319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sz="2000" i="1">
                    <a:ea typeface="宋体" panose="02010600030101010101" pitchFamily="2" charset="-122"/>
                  </a:rPr>
                  <a:t>L</a:t>
                </a:r>
              </a:p>
            </p:txBody>
          </p:sp>
          <p:sp>
            <p:nvSpPr>
              <p:cNvPr id="30771" name="Text Box 71">
                <a:extLst>
                  <a:ext uri="{FF2B5EF4-FFF2-40B4-BE49-F238E27FC236}">
                    <a16:creationId xmlns:a16="http://schemas.microsoft.com/office/drawing/2014/main" id="{EC5636C4-92DD-781A-68EC-4FB1616E26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" y="1606"/>
                <a:ext cx="318" cy="3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sz="2000" i="1">
                    <a:ea typeface="宋体" panose="02010600030101010101" pitchFamily="2" charset="-122"/>
                  </a:rPr>
                  <a:t>S</a:t>
                </a:r>
              </a:p>
            </p:txBody>
          </p:sp>
          <p:sp>
            <p:nvSpPr>
              <p:cNvPr id="30772" name="Text Box 72">
                <a:extLst>
                  <a:ext uri="{FF2B5EF4-FFF2-40B4-BE49-F238E27FC236}">
                    <a16:creationId xmlns:a16="http://schemas.microsoft.com/office/drawing/2014/main" id="{F320CBAF-95C5-053B-E534-D6198ED172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8" y="2234"/>
                <a:ext cx="318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sz="1800" i="1"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0773" name="Text Box 73">
                <a:extLst>
                  <a:ext uri="{FF2B5EF4-FFF2-40B4-BE49-F238E27FC236}">
                    <a16:creationId xmlns:a16="http://schemas.microsoft.com/office/drawing/2014/main" id="{768ED463-07F1-C452-FD89-EB3C096B55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8" y="2251"/>
                <a:ext cx="319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sz="1800" b="0" i="1">
                    <a:ea typeface="宋体" panose="02010600030101010101" pitchFamily="2" charset="-122"/>
                  </a:rPr>
                  <a:t>O</a:t>
                </a:r>
                <a:endParaRPr lang="en-US" altLang="zh-CN" sz="1800" b="0">
                  <a:ea typeface="宋体" panose="02010600030101010101" pitchFamily="2" charset="-122"/>
                </a:endParaRPr>
              </a:p>
            </p:txBody>
          </p:sp>
          <p:sp>
            <p:nvSpPr>
              <p:cNvPr id="30774" name="Oval 74">
                <a:extLst>
                  <a:ext uri="{FF2B5EF4-FFF2-40B4-BE49-F238E27FC236}">
                    <a16:creationId xmlns:a16="http://schemas.microsoft.com/office/drawing/2014/main" id="{8DB9924B-82BB-C7BF-741A-A45F6D08C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1523"/>
                <a:ext cx="849" cy="826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75" name="Oval 75">
                <a:extLst>
                  <a:ext uri="{FF2B5EF4-FFF2-40B4-BE49-F238E27FC236}">
                    <a16:creationId xmlns:a16="http://schemas.microsoft.com/office/drawing/2014/main" id="{7957C76B-2034-8E36-C674-087ADD3CF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989" y="1580"/>
                <a:ext cx="749" cy="729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76" name="Oval 76">
                <a:extLst>
                  <a:ext uri="{FF2B5EF4-FFF2-40B4-BE49-F238E27FC236}">
                    <a16:creationId xmlns:a16="http://schemas.microsoft.com/office/drawing/2014/main" id="{66F7A5DB-41E3-7477-6213-271BA4616F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60" y="1647"/>
                <a:ext cx="615" cy="598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77" name="Oval 77">
                <a:extLst>
                  <a:ext uri="{FF2B5EF4-FFF2-40B4-BE49-F238E27FC236}">
                    <a16:creationId xmlns:a16="http://schemas.microsoft.com/office/drawing/2014/main" id="{9B78F672-C25A-B196-C891-E9287D7E0C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48" y="1731"/>
                <a:ext cx="448" cy="436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78" name="Oval 78">
                <a:extLst>
                  <a:ext uri="{FF2B5EF4-FFF2-40B4-BE49-F238E27FC236}">
                    <a16:creationId xmlns:a16="http://schemas.microsoft.com/office/drawing/2014/main" id="{A7E56745-2146-58F7-ABF1-585613F028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238" y="1815"/>
                <a:ext cx="267" cy="260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79" name="Oval 79">
                <a:extLst>
                  <a:ext uri="{FF2B5EF4-FFF2-40B4-BE49-F238E27FC236}">
                    <a16:creationId xmlns:a16="http://schemas.microsoft.com/office/drawing/2014/main" id="{EBBE3608-6424-861F-3D7C-71430A6838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333" y="1901"/>
                <a:ext cx="80" cy="78"/>
              </a:xfrm>
              <a:prstGeom prst="ellipse">
                <a:avLst/>
              </a:prstGeom>
              <a:solidFill>
                <a:srgbClr val="333333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0780" name="Text Box 80">
                <a:extLst>
                  <a:ext uri="{FF2B5EF4-FFF2-40B4-BE49-F238E27FC236}">
                    <a16:creationId xmlns:a16="http://schemas.microsoft.com/office/drawing/2014/main" id="{C225F59D-8EA6-3244-F70F-EE8209819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0" y="1876"/>
                <a:ext cx="318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sz="700" b="0" i="1">
                    <a:ea typeface="宋体" panose="02010600030101010101" pitchFamily="2" charset="-122"/>
                  </a:rPr>
                  <a:t>O</a:t>
                </a:r>
                <a:endParaRPr lang="en-US" altLang="zh-CN" b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0735" name="Text Box 81">
              <a:extLst>
                <a:ext uri="{FF2B5EF4-FFF2-40B4-BE49-F238E27FC236}">
                  <a16:creationId xmlns:a16="http://schemas.microsoft.com/office/drawing/2014/main" id="{8014D4BE-C964-912F-7158-AEDE06DEA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2" y="2368"/>
              <a:ext cx="318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55379" name="Rectangle 83">
            <a:extLst>
              <a:ext uri="{FF2B5EF4-FFF2-40B4-BE49-F238E27FC236}">
                <a16:creationId xmlns:a16="http://schemas.microsoft.com/office/drawing/2014/main" id="{60A2AC82-F78A-9B9B-37DE-044408ED2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805488"/>
            <a:ext cx="5545138" cy="466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能确定明暗条纹的位置！中心？级次？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5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13" grpId="0" animBg="1" autoUpdateAnimBg="0"/>
      <p:bldP spid="55325" grpId="0" animBg="1" autoUpdateAnimBg="0"/>
      <p:bldP spid="55326" grpId="0" animBg="1" autoUpdateAnimBg="0"/>
      <p:bldP spid="5537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45057">
            <a:extLst>
              <a:ext uri="{FF2B5EF4-FFF2-40B4-BE49-F238E27FC236}">
                <a16:creationId xmlns:a16="http://schemas.microsoft.com/office/drawing/2014/main" id="{0A62F0D5-2F91-A481-CC6A-F278024ED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51" y="1069600"/>
            <a:ext cx="3322522" cy="2338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       它们干涉的结果是薄膜干涉条纹。调节M</a:t>
            </a:r>
            <a:r>
              <a:rPr lang="zh-CN" altLang="en-US" sz="2400" baseline="-250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就有可能得到  </a:t>
            </a:r>
            <a:r>
              <a:rPr lang="zh-CN" altLang="en-US" sz="2400" i="1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24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=常数，</a:t>
            </a:r>
            <a:r>
              <a:rPr lang="zh-CN" altLang="en-US" sz="2400" i="1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24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常数</a:t>
            </a: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（如劈尖）对应的</a:t>
            </a:r>
            <a:r>
              <a:rPr lang="zh-CN" altLang="en-US" sz="2400" dirty="0">
                <a:solidFill>
                  <a:srgbClr val="CC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薄膜等倾或等厚干涉</a:t>
            </a: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条纹。</a:t>
            </a:r>
            <a:endParaRPr lang="zh-CN" altLang="en-US" sz="2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45058">
            <a:extLst>
              <a:ext uri="{FF2B5EF4-FFF2-40B4-BE49-F238E27FC236}">
                <a16:creationId xmlns:a16="http://schemas.microsoft.com/office/drawing/2014/main" id="{57725D8E-6FBA-02C8-7F9F-EF9318BD02D1}"/>
              </a:ext>
            </a:extLst>
          </p:cNvPr>
          <p:cNvGrpSpPr>
            <a:grpSpLocks/>
          </p:cNvGrpSpPr>
          <p:nvPr/>
        </p:nvGrpSpPr>
        <p:grpSpPr bwMode="auto">
          <a:xfrm>
            <a:off x="993342" y="3496195"/>
            <a:ext cx="2376487" cy="2952750"/>
            <a:chOff x="0" y="0"/>
            <a:chExt cx="1451" cy="1950"/>
          </a:xfrm>
        </p:grpSpPr>
        <p:pic>
          <p:nvPicPr>
            <p:cNvPr id="4" name="图片 45059">
              <a:extLst>
                <a:ext uri="{FF2B5EF4-FFF2-40B4-BE49-F238E27FC236}">
                  <a16:creationId xmlns:a16="http://schemas.microsoft.com/office/drawing/2014/main" id="{2B0E2885-F9FD-D258-FA51-46B727E3F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-18000" contrast="18000"/>
            </a:blip>
            <a:srcRect/>
            <a:stretch>
              <a:fillRect/>
            </a:stretch>
          </p:blipFill>
          <p:spPr bwMode="auto">
            <a:xfrm>
              <a:off x="0" y="0"/>
              <a:ext cx="1361" cy="195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</p:pic>
        <p:sp>
          <p:nvSpPr>
            <p:cNvPr id="5" name="文本框 45060">
              <a:extLst>
                <a:ext uri="{FF2B5EF4-FFF2-40B4-BE49-F238E27FC236}">
                  <a16:creationId xmlns:a16="http://schemas.microsoft.com/office/drawing/2014/main" id="{8B6F49AF-6305-0464-3DC1-0785B0D93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" y="1134"/>
              <a:ext cx="363" cy="5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>
                  <a:latin typeface="微软雅黑" pitchFamily="34" charset="-122"/>
                  <a:ea typeface="微软雅黑" pitchFamily="34" charset="-122"/>
                </a:rPr>
                <a:t>M</a:t>
              </a:r>
              <a:r>
                <a:rPr lang="en-US" altLang="zh-CN" sz="2400" baseline="-25000">
                  <a:latin typeface="微软雅黑" pitchFamily="34" charset="-122"/>
                  <a:ea typeface="微软雅黑" pitchFamily="34" charset="-122"/>
                </a:rPr>
                <a:t>2</a:t>
              </a:r>
              <a:endParaRPr lang="en-US" altLang="zh-CN" sz="2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文本框 45061">
              <a:extLst>
                <a:ext uri="{FF2B5EF4-FFF2-40B4-BE49-F238E27FC236}">
                  <a16:creationId xmlns:a16="http://schemas.microsoft.com/office/drawing/2014/main" id="{CDFE5119-BD77-B460-869A-A4E150EF26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" y="590"/>
              <a:ext cx="363" cy="5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zh-CN" sz="240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M</a:t>
              </a:r>
              <a:r>
                <a:rPr lang="en-US" altLang="zh-CN" sz="2400" baseline="-25000">
                  <a:solidFill>
                    <a:srgbClr val="FFFF0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en-US" altLang="zh-CN" sz="240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F07D7F77-DEE2-08FB-35B2-F9148A449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8754" y="1136102"/>
            <a:ext cx="4473575" cy="2103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B0BC5C1-5792-280E-0A0F-914738468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80315" y="4193309"/>
            <a:ext cx="4557712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34">
            <a:extLst>
              <a:ext uri="{FF2B5EF4-FFF2-40B4-BE49-F238E27FC236}">
                <a16:creationId xmlns:a16="http://schemas.microsoft.com/office/drawing/2014/main" id="{0E342844-921D-EE1E-78ED-6351FAD61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497" y="392070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迈克耳孙干涉仪</a:t>
            </a:r>
          </a:p>
        </p:txBody>
      </p:sp>
    </p:spTree>
    <p:extLst>
      <p:ext uri="{BB962C8B-B14F-4D97-AF65-F5344CB8AC3E}">
        <p14:creationId xmlns:p14="http://schemas.microsoft.com/office/powerpoint/2010/main" val="355776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953E6A9B-1D4A-DD14-F704-647DD27C9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57563"/>
            <a:ext cx="3921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>
                <a:latin typeface="Times New Roman" charset="0"/>
                <a:ea typeface="楷体_GB2312" charset="0"/>
              </a:rPr>
              <a:t>衍射</a:t>
            </a:r>
          </a:p>
        </p:txBody>
      </p:sp>
      <p:sp>
        <p:nvSpPr>
          <p:cNvPr id="14339" name="AutoShape 3">
            <a:extLst>
              <a:ext uri="{FF2B5EF4-FFF2-40B4-BE49-F238E27FC236}">
                <a16:creationId xmlns:a16="http://schemas.microsoft.com/office/drawing/2014/main" id="{C88A8F28-246C-B6F1-6E48-40020DBE2700}"/>
              </a:ext>
            </a:extLst>
          </p:cNvPr>
          <p:cNvSpPr>
            <a:spLocks/>
          </p:cNvSpPr>
          <p:nvPr/>
        </p:nvSpPr>
        <p:spPr bwMode="auto">
          <a:xfrm>
            <a:off x="684213" y="1531938"/>
            <a:ext cx="406400" cy="4464050"/>
          </a:xfrm>
          <a:prstGeom prst="leftBrace">
            <a:avLst>
              <a:gd name="adj1" fmla="val 9153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083050E2-5F0B-B7FF-6859-161A6EC4C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243013"/>
            <a:ext cx="2449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accent2"/>
                </a:solidFill>
              </a:rPr>
              <a:t>夫琅禾费衍射</a:t>
            </a:r>
          </a:p>
        </p:txBody>
      </p:sp>
      <p:grpSp>
        <p:nvGrpSpPr>
          <p:cNvPr id="31748" name="Group 6">
            <a:extLst>
              <a:ext uri="{FF2B5EF4-FFF2-40B4-BE49-F238E27FC236}">
                <a16:creationId xmlns:a16="http://schemas.microsoft.com/office/drawing/2014/main" id="{30DDAF4F-B69C-1D24-A599-3A82944BF1FA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1747838"/>
            <a:ext cx="7235825" cy="1393825"/>
            <a:chOff x="1338" y="902"/>
            <a:chExt cx="4256" cy="878"/>
          </a:xfrm>
        </p:grpSpPr>
        <p:sp>
          <p:nvSpPr>
            <p:cNvPr id="14343" name="AutoShape 7">
              <a:extLst>
                <a:ext uri="{FF2B5EF4-FFF2-40B4-BE49-F238E27FC236}">
                  <a16:creationId xmlns:a16="http://schemas.microsoft.com/office/drawing/2014/main" id="{21E8702B-41F9-4BC6-1149-E2D08B38F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1071"/>
              <a:ext cx="135" cy="635"/>
            </a:xfrm>
            <a:prstGeom prst="leftBrace">
              <a:avLst>
                <a:gd name="adj1" fmla="val 3919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  <p:sp>
          <p:nvSpPr>
            <p:cNvPr id="14344" name="Rectangle 8">
              <a:extLst>
                <a:ext uri="{FF2B5EF4-FFF2-40B4-BE49-F238E27FC236}">
                  <a16:creationId xmlns:a16="http://schemas.microsoft.com/office/drawing/2014/main" id="{E1F2A7F9-4EE1-B237-53F9-0C8D0026B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6" y="1487"/>
              <a:ext cx="63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/>
                <a:t>级暗纹  </a:t>
              </a:r>
            </a:p>
          </p:txBody>
        </p:sp>
        <p:graphicFrame>
          <p:nvGraphicFramePr>
            <p:cNvPr id="31813" name="Object 9">
              <a:extLst>
                <a:ext uri="{FF2B5EF4-FFF2-40B4-BE49-F238E27FC236}">
                  <a16:creationId xmlns:a16="http://schemas.microsoft.com/office/drawing/2014/main" id="{B2E6494F-E5E3-BBDD-F08C-F4479B39F0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9" y="959"/>
            <a:ext cx="47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12447" imgH="393529" progId="Equation.3">
                    <p:embed/>
                  </p:oleObj>
                </mc:Choice>
                <mc:Fallback>
                  <p:oleObj name="公式" r:id="rId3" imgW="812447" imgH="393529" progId="Equation.3">
                    <p:embed/>
                    <p:pic>
                      <p:nvPicPr>
                        <p:cNvPr id="31813" name="Object 9">
                          <a:extLst>
                            <a:ext uri="{FF2B5EF4-FFF2-40B4-BE49-F238E27FC236}">
                              <a16:creationId xmlns:a16="http://schemas.microsoft.com/office/drawing/2014/main" id="{B2E6494F-E5E3-BBDD-F08C-F4479B39F0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959"/>
                          <a:ext cx="47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6" name="Rectangle 10">
              <a:extLst>
                <a:ext uri="{FF2B5EF4-FFF2-40B4-BE49-F238E27FC236}">
                  <a16:creationId xmlns:a16="http://schemas.microsoft.com/office/drawing/2014/main" id="{DCB47B23-55C9-8787-54C0-257DBA129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902"/>
              <a:ext cx="747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tabLst>
                  <a:tab pos="457200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tabLst>
                  <a:tab pos="457200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tabLst>
                  <a:tab pos="457200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tabLst>
                  <a:tab pos="457200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tabLst>
                  <a:tab pos="457200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/>
                <a:t>中央明纹 </a:t>
              </a:r>
            </a:p>
            <a:p>
              <a:r>
                <a:rPr lang="zh-CN" altLang="en-US" sz="2000" b="0">
                  <a:ea typeface="宋体" panose="02010600030101010101" pitchFamily="2" charset="-122"/>
                </a:rPr>
                <a:t>     </a:t>
              </a:r>
            </a:p>
          </p:txBody>
        </p:sp>
        <p:graphicFrame>
          <p:nvGraphicFramePr>
            <p:cNvPr id="31815" name="Object 11">
              <a:extLst>
                <a:ext uri="{FF2B5EF4-FFF2-40B4-BE49-F238E27FC236}">
                  <a16:creationId xmlns:a16="http://schemas.microsoft.com/office/drawing/2014/main" id="{E03B0C17-D721-1B40-50A0-143DD1B854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5" y="1232"/>
            <a:ext cx="18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3251200" imgH="419100" progId="Equation.3">
                    <p:embed/>
                  </p:oleObj>
                </mc:Choice>
                <mc:Fallback>
                  <p:oleObj name="公式" r:id="rId5" imgW="3251200" imgH="419100" progId="Equation.3">
                    <p:embed/>
                    <p:pic>
                      <p:nvPicPr>
                        <p:cNvPr id="31815" name="Object 11">
                          <a:extLst>
                            <a:ext uri="{FF2B5EF4-FFF2-40B4-BE49-F238E27FC236}">
                              <a16:creationId xmlns:a16="http://schemas.microsoft.com/office/drawing/2014/main" id="{E03B0C17-D721-1B40-50A0-143DD1B854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5" y="1232"/>
                          <a:ext cx="1867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816" name="Object 12">
              <a:extLst>
                <a:ext uri="{FF2B5EF4-FFF2-40B4-BE49-F238E27FC236}">
                  <a16:creationId xmlns:a16="http://schemas.microsoft.com/office/drawing/2014/main" id="{505F90FD-61B6-6766-3AEE-A0A508E064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7" y="1232"/>
            <a:ext cx="933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38300" imgH="368300" progId="Equation.3">
                    <p:embed/>
                  </p:oleObj>
                </mc:Choice>
                <mc:Fallback>
                  <p:oleObj name="公式" r:id="rId7" imgW="1638300" imgH="368300" progId="Equation.3">
                    <p:embed/>
                    <p:pic>
                      <p:nvPicPr>
                        <p:cNvPr id="31816" name="Object 12">
                          <a:extLst>
                            <a:ext uri="{FF2B5EF4-FFF2-40B4-BE49-F238E27FC236}">
                              <a16:creationId xmlns:a16="http://schemas.microsoft.com/office/drawing/2014/main" id="{505F90FD-61B6-6766-3AEE-A0A508E064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7" y="1232"/>
                          <a:ext cx="933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817" name="Object 13">
              <a:extLst>
                <a:ext uri="{FF2B5EF4-FFF2-40B4-BE49-F238E27FC236}">
                  <a16:creationId xmlns:a16="http://schemas.microsoft.com/office/drawing/2014/main" id="{05785DBA-41D2-2345-EB5B-CE5EE38566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72" y="1220"/>
            <a:ext cx="138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41091" imgH="317225" progId="Equation.3">
                    <p:embed/>
                  </p:oleObj>
                </mc:Choice>
                <mc:Fallback>
                  <p:oleObj name="公式" r:id="rId9" imgW="241091" imgH="317225" progId="Equation.3">
                    <p:embed/>
                    <p:pic>
                      <p:nvPicPr>
                        <p:cNvPr id="31817" name="Object 13">
                          <a:extLst>
                            <a:ext uri="{FF2B5EF4-FFF2-40B4-BE49-F238E27FC236}">
                              <a16:creationId xmlns:a16="http://schemas.microsoft.com/office/drawing/2014/main" id="{05785DBA-41D2-2345-EB5B-CE5EE38566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2" y="1220"/>
                          <a:ext cx="138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0" name="Rectangle 14">
              <a:extLst>
                <a:ext uri="{FF2B5EF4-FFF2-40B4-BE49-F238E27FC236}">
                  <a16:creationId xmlns:a16="http://schemas.microsoft.com/office/drawing/2014/main" id="{E1D62707-C455-1B3B-0A65-E2D4FEEC0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" y="1165"/>
              <a:ext cx="1032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indent="4064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/>
                <a:t>级明纹</a:t>
              </a:r>
              <a:r>
                <a:rPr lang="zh-CN" altLang="en-US" sz="2000" b="0">
                  <a:ea typeface="宋体" panose="02010600030101010101" pitchFamily="2" charset="-122"/>
                </a:rPr>
                <a:t>     </a:t>
              </a:r>
              <a:endParaRPr lang="en-US" altLang="zh-CN" sz="2000" b="0">
                <a:ea typeface="宋体" panose="02010600030101010101" pitchFamily="2" charset="-122"/>
              </a:endParaRPr>
            </a:p>
          </p:txBody>
        </p:sp>
        <p:graphicFrame>
          <p:nvGraphicFramePr>
            <p:cNvPr id="31819" name="Object 15">
              <a:extLst>
                <a:ext uri="{FF2B5EF4-FFF2-40B4-BE49-F238E27FC236}">
                  <a16:creationId xmlns:a16="http://schemas.microsoft.com/office/drawing/2014/main" id="{4232D042-DE85-5834-C107-0B17781C18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58" y="1571"/>
            <a:ext cx="1586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768600" imgH="419100" progId="Equation.3">
                    <p:embed/>
                  </p:oleObj>
                </mc:Choice>
                <mc:Fallback>
                  <p:oleObj name="公式" r:id="rId11" imgW="2768600" imgH="419100" progId="Equation.3">
                    <p:embed/>
                    <p:pic>
                      <p:nvPicPr>
                        <p:cNvPr id="31819" name="Object 15">
                          <a:extLst>
                            <a:ext uri="{FF2B5EF4-FFF2-40B4-BE49-F238E27FC236}">
                              <a16:creationId xmlns:a16="http://schemas.microsoft.com/office/drawing/2014/main" id="{4232D042-DE85-5834-C107-0B17781C18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8" y="1571"/>
                          <a:ext cx="1586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820" name="Object 16">
              <a:extLst>
                <a:ext uri="{FF2B5EF4-FFF2-40B4-BE49-F238E27FC236}">
                  <a16:creationId xmlns:a16="http://schemas.microsoft.com/office/drawing/2014/main" id="{876398D3-97F8-4770-9E94-FBF411F6DE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71" y="1552"/>
            <a:ext cx="934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638300" imgH="368300" progId="Equation.3">
                    <p:embed/>
                  </p:oleObj>
                </mc:Choice>
                <mc:Fallback>
                  <p:oleObj name="公式" r:id="rId13" imgW="1638300" imgH="368300" progId="Equation.3">
                    <p:embed/>
                    <p:pic>
                      <p:nvPicPr>
                        <p:cNvPr id="31820" name="Object 16">
                          <a:extLst>
                            <a:ext uri="{FF2B5EF4-FFF2-40B4-BE49-F238E27FC236}">
                              <a16:creationId xmlns:a16="http://schemas.microsoft.com/office/drawing/2014/main" id="{876398D3-97F8-4770-9E94-FBF411F6DE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1" y="1552"/>
                          <a:ext cx="934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821" name="Object 17">
              <a:extLst>
                <a:ext uri="{FF2B5EF4-FFF2-40B4-BE49-F238E27FC236}">
                  <a16:creationId xmlns:a16="http://schemas.microsoft.com/office/drawing/2014/main" id="{C6F85548-8C89-EE9E-911B-BB79D3245D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7" y="1548"/>
            <a:ext cx="138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41091" imgH="317225" progId="Equation.3">
                    <p:embed/>
                  </p:oleObj>
                </mc:Choice>
                <mc:Fallback>
                  <p:oleObj name="公式" r:id="rId14" imgW="241091" imgH="317225" progId="Equation.3">
                    <p:embed/>
                    <p:pic>
                      <p:nvPicPr>
                        <p:cNvPr id="31821" name="Object 17">
                          <a:extLst>
                            <a:ext uri="{FF2B5EF4-FFF2-40B4-BE49-F238E27FC236}">
                              <a16:creationId xmlns:a16="http://schemas.microsoft.com/office/drawing/2014/main" id="{C6F85548-8C89-EE9E-911B-BB79D3245D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7" y="1548"/>
                          <a:ext cx="138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749" name="Object 18">
            <a:extLst>
              <a:ext uri="{FF2B5EF4-FFF2-40B4-BE49-F238E27FC236}">
                <a16:creationId xmlns:a16="http://schemas.microsoft.com/office/drawing/2014/main" id="{63315809-ED6E-AC4A-CF18-EA3DE110D1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3230563"/>
          <a:ext cx="11430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47419" imgH="393529" progId="Equation.3">
                  <p:embed/>
                </p:oleObj>
              </mc:Choice>
              <mc:Fallback>
                <p:oleObj name="Equation" r:id="rId15" imgW="647419" imgH="393529" progId="Equation.3">
                  <p:embed/>
                  <p:pic>
                    <p:nvPicPr>
                      <p:cNvPr id="31749" name="Object 18">
                        <a:extLst>
                          <a:ext uri="{FF2B5EF4-FFF2-40B4-BE49-F238E27FC236}">
                            <a16:creationId xmlns:a16="http://schemas.microsoft.com/office/drawing/2014/main" id="{63315809-ED6E-AC4A-CF18-EA3DE110D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230563"/>
                        <a:ext cx="11430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5" name="Text Box 19">
            <a:extLst>
              <a:ext uri="{FF2B5EF4-FFF2-40B4-BE49-F238E27FC236}">
                <a16:creationId xmlns:a16="http://schemas.microsoft.com/office/drawing/2014/main" id="{7E64F47B-4F31-3DE3-6EEF-414FA3739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475" y="3281363"/>
            <a:ext cx="232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/>
              <a:t>中央明纹角宽度</a:t>
            </a:r>
          </a:p>
        </p:txBody>
      </p:sp>
      <p:graphicFrame>
        <p:nvGraphicFramePr>
          <p:cNvPr id="31751" name="Object 20">
            <a:extLst>
              <a:ext uri="{FF2B5EF4-FFF2-40B4-BE49-F238E27FC236}">
                <a16:creationId xmlns:a16="http://schemas.microsoft.com/office/drawing/2014/main" id="{C592DAD9-3D73-B699-56D3-5FA3F35BF2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5225" y="4025900"/>
          <a:ext cx="2587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41091" imgH="317225" progId="Equation.3">
                  <p:embed/>
                </p:oleObj>
              </mc:Choice>
              <mc:Fallback>
                <p:oleObj name="公式" r:id="rId17" imgW="241091" imgH="317225" progId="Equation.3">
                  <p:embed/>
                  <p:pic>
                    <p:nvPicPr>
                      <p:cNvPr id="31751" name="Object 20">
                        <a:extLst>
                          <a:ext uri="{FF2B5EF4-FFF2-40B4-BE49-F238E27FC236}">
                            <a16:creationId xmlns:a16="http://schemas.microsoft.com/office/drawing/2014/main" id="{C592DAD9-3D73-B699-56D3-5FA3F35BF2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4025900"/>
                        <a:ext cx="25876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Text Box 21">
            <a:extLst>
              <a:ext uri="{FF2B5EF4-FFF2-40B4-BE49-F238E27FC236}">
                <a16:creationId xmlns:a16="http://schemas.microsoft.com/office/drawing/2014/main" id="{D3B7F0D5-247C-643D-577E-13670E5C5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638" y="3935413"/>
            <a:ext cx="21717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latin typeface="楷体_GB2312" pitchFamily="49" charset="-122"/>
              </a:rPr>
              <a:t>第      级明纹</a:t>
            </a:r>
          </a:p>
        </p:txBody>
      </p:sp>
      <p:graphicFrame>
        <p:nvGraphicFramePr>
          <p:cNvPr id="31753" name="Object 22">
            <a:extLst>
              <a:ext uri="{FF2B5EF4-FFF2-40B4-BE49-F238E27FC236}">
                <a16:creationId xmlns:a16="http://schemas.microsoft.com/office/drawing/2014/main" id="{682E35C7-CB1F-3191-570A-E368A3DD7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7475" y="3816350"/>
          <a:ext cx="12001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07780" imgH="393529" progId="Equation.3">
                  <p:embed/>
                </p:oleObj>
              </mc:Choice>
              <mc:Fallback>
                <p:oleObj name="公式" r:id="rId19" imgW="507780" imgH="393529" progId="Equation.3">
                  <p:embed/>
                  <p:pic>
                    <p:nvPicPr>
                      <p:cNvPr id="31753" name="Object 22">
                        <a:extLst>
                          <a:ext uri="{FF2B5EF4-FFF2-40B4-BE49-F238E27FC236}">
                            <a16:creationId xmlns:a16="http://schemas.microsoft.com/office/drawing/2014/main" id="{682E35C7-CB1F-3191-570A-E368A3DD7D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475" y="3816350"/>
                        <a:ext cx="12001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AutoShape 23">
            <a:extLst>
              <a:ext uri="{FF2B5EF4-FFF2-40B4-BE49-F238E27FC236}">
                <a16:creationId xmlns:a16="http://schemas.microsoft.com/office/drawing/2014/main" id="{1C34A2D0-29F9-B5EB-E53D-681E9FFC8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678363"/>
            <a:ext cx="5903913" cy="1371600"/>
          </a:xfrm>
          <a:prstGeom prst="wedgeRoundRectCallout">
            <a:avLst>
              <a:gd name="adj1" fmla="val -606"/>
              <a:gd name="adj2" fmla="val -39468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会分析   （1）</a:t>
            </a:r>
            <a:r>
              <a:rPr lang="en-US" altLang="zh-CN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asin</a:t>
            </a:r>
            <a:r>
              <a:rPr lang="en-US" altLang="zh-CN" sz="2400" i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φ</a:t>
            </a: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中</a:t>
            </a: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有几个半波带  </a:t>
            </a:r>
          </a:p>
          <a:p>
            <a:pPr eaLnBrk="1" hangingPunct="1"/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</a:t>
            </a:r>
            <a:r>
              <a:rPr lang="en-US" altLang="zh-CN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（2）</a:t>
            </a: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缝宽对条纹宽度的影响！</a:t>
            </a:r>
          </a:p>
          <a:p>
            <a:pPr eaLnBrk="1" hangingPunct="1"/>
            <a:r>
              <a:rPr lang="en-US" altLang="zh-CN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（3</a:t>
            </a:r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）波长对条纹宽度的影响！</a:t>
            </a:r>
            <a:endParaRPr lang="zh-CN" altLang="en-US" sz="2400" b="0"/>
          </a:p>
        </p:txBody>
      </p:sp>
      <p:sp>
        <p:nvSpPr>
          <p:cNvPr id="14360" name="Text Box 24">
            <a:extLst>
              <a:ext uri="{FF2B5EF4-FFF2-40B4-BE49-F238E27FC236}">
                <a16:creationId xmlns:a16="http://schemas.microsoft.com/office/drawing/2014/main" id="{FEA1B240-52BA-5BF8-A382-77DA85B4D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780088"/>
            <a:ext cx="1728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accent2"/>
                </a:solidFill>
              </a:rPr>
              <a:t>光栅衍射</a:t>
            </a:r>
          </a:p>
        </p:txBody>
      </p:sp>
      <p:sp>
        <p:nvSpPr>
          <p:cNvPr id="14361" name="AutoShape 25">
            <a:extLst>
              <a:ext uri="{FF2B5EF4-FFF2-40B4-BE49-F238E27FC236}">
                <a16:creationId xmlns:a16="http://schemas.microsoft.com/office/drawing/2014/main" id="{C6E55F4A-7773-14C3-8FFF-A1195D969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668338"/>
            <a:ext cx="1219200" cy="533400"/>
          </a:xfrm>
          <a:prstGeom prst="wedgeRoundRectCallout">
            <a:avLst>
              <a:gd name="adj1" fmla="val -43750"/>
              <a:gd name="adj2" fmla="val 6847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/>
              <a:t>图像</a:t>
            </a:r>
          </a:p>
        </p:txBody>
      </p:sp>
      <p:sp>
        <p:nvSpPr>
          <p:cNvPr id="14362" name="Rectangle 26">
            <a:extLst>
              <a:ext uri="{FF2B5EF4-FFF2-40B4-BE49-F238E27FC236}">
                <a16:creationId xmlns:a16="http://schemas.microsoft.com/office/drawing/2014/main" id="{8873EC0D-4226-461E-3753-E09CE55FD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359150"/>
            <a:ext cx="95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/>
              <a:t>线宽度</a:t>
            </a:r>
          </a:p>
        </p:txBody>
      </p:sp>
      <p:graphicFrame>
        <p:nvGraphicFramePr>
          <p:cNvPr id="31758" name="Object 27">
            <a:extLst>
              <a:ext uri="{FF2B5EF4-FFF2-40B4-BE49-F238E27FC236}">
                <a16:creationId xmlns:a16="http://schemas.microsoft.com/office/drawing/2014/main" id="{4E340BB3-6D3E-4A50-D6F0-E084EF38F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3230563"/>
          <a:ext cx="23622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73200" imgH="393700" progId="Equation.3">
                  <p:embed/>
                </p:oleObj>
              </mc:Choice>
              <mc:Fallback>
                <p:oleObj name="Equation" r:id="rId21" imgW="1473200" imgH="393700" progId="Equation.3">
                  <p:embed/>
                  <p:pic>
                    <p:nvPicPr>
                      <p:cNvPr id="31758" name="Object 27">
                        <a:extLst>
                          <a:ext uri="{FF2B5EF4-FFF2-40B4-BE49-F238E27FC236}">
                            <a16:creationId xmlns:a16="http://schemas.microsoft.com/office/drawing/2014/main" id="{4E340BB3-6D3E-4A50-D6F0-E084EF38F5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230563"/>
                        <a:ext cx="23622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4" name="Rectangle 28">
            <a:extLst>
              <a:ext uri="{FF2B5EF4-FFF2-40B4-BE49-F238E27FC236}">
                <a16:creationId xmlns:a16="http://schemas.microsoft.com/office/drawing/2014/main" id="{5A92EFB2-4C2F-E36C-7451-2C377E41F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992563"/>
            <a:ext cx="95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/>
              <a:t>线宽度</a:t>
            </a:r>
          </a:p>
        </p:txBody>
      </p:sp>
      <p:graphicFrame>
        <p:nvGraphicFramePr>
          <p:cNvPr id="31760" name="Object 29">
            <a:extLst>
              <a:ext uri="{FF2B5EF4-FFF2-40B4-BE49-F238E27FC236}">
                <a16:creationId xmlns:a16="http://schemas.microsoft.com/office/drawing/2014/main" id="{3F8BF254-97E0-9712-C05D-8FE209FC1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3840163"/>
          <a:ext cx="1160463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23586" imgH="393529" progId="Equation.3">
                  <p:embed/>
                </p:oleObj>
              </mc:Choice>
              <mc:Fallback>
                <p:oleObj name="Equation" r:id="rId23" imgW="723586" imgH="393529" progId="Equation.3">
                  <p:embed/>
                  <p:pic>
                    <p:nvPicPr>
                      <p:cNvPr id="31760" name="Object 29">
                        <a:extLst>
                          <a:ext uri="{FF2B5EF4-FFF2-40B4-BE49-F238E27FC236}">
                            <a16:creationId xmlns:a16="http://schemas.microsoft.com/office/drawing/2014/main" id="{3F8BF254-97E0-9712-C05D-8FE209FC1C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840163"/>
                        <a:ext cx="1160463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Rectangle 30">
            <a:extLst>
              <a:ext uri="{FF2B5EF4-FFF2-40B4-BE49-F238E27FC236}">
                <a16:creationId xmlns:a16="http://schemas.microsoft.com/office/drawing/2014/main" id="{21EC1401-E826-B044-F142-0BC4407C0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76263"/>
            <a:ext cx="6618288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/>
              <a:t>了解惠更斯－菲涅耳原理，理解菲涅耳半波带法</a:t>
            </a:r>
          </a:p>
        </p:txBody>
      </p:sp>
      <p:sp>
        <p:nvSpPr>
          <p:cNvPr id="14367" name="AutoShape 31">
            <a:extLst>
              <a:ext uri="{FF2B5EF4-FFF2-40B4-BE49-F238E27FC236}">
                <a16:creationId xmlns:a16="http://schemas.microsoft.com/office/drawing/2014/main" id="{048866CC-5A14-368C-41B9-0341AC2F4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1027113"/>
            <a:ext cx="5111750" cy="790575"/>
          </a:xfrm>
          <a:prstGeom prst="wedgeRoundRectCallout">
            <a:avLst>
              <a:gd name="adj1" fmla="val 7051"/>
              <a:gd name="adj2" fmla="val -31727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会确定明</a:t>
            </a:r>
            <a:r>
              <a:rPr lang="en-US" alt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</a:t>
            </a:r>
            <a:r>
              <a:rPr lang="zh-CN" altLang="en-US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暗条纹的位置 </a:t>
            </a:r>
          </a:p>
          <a:p>
            <a:pPr eaLnBrk="1" hangingPunct="1"/>
            <a:r>
              <a:rPr lang="zh-CN" altLang="en-US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（1）从衍射角</a:t>
            </a:r>
            <a:r>
              <a:rPr lang="en-US" alt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asin</a:t>
            </a:r>
            <a:r>
              <a:rPr lang="en-US" altLang="zh-CN" sz="2000" i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rPr>
              <a:t>φ</a:t>
            </a:r>
            <a:r>
              <a:rPr lang="zh-CN" altLang="en-US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（2</a:t>
            </a:r>
            <a:r>
              <a:rPr lang="zh-CN" altLang="en-US" sz="20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）屏上位置</a:t>
            </a:r>
          </a:p>
        </p:txBody>
      </p:sp>
      <p:grpSp>
        <p:nvGrpSpPr>
          <p:cNvPr id="14415" name="Group 79">
            <a:extLst>
              <a:ext uri="{FF2B5EF4-FFF2-40B4-BE49-F238E27FC236}">
                <a16:creationId xmlns:a16="http://schemas.microsoft.com/office/drawing/2014/main" id="{C5D119F3-A43D-87C9-DA36-9CE22D354E3C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460875"/>
            <a:ext cx="3163887" cy="2392363"/>
            <a:chOff x="385" y="2810"/>
            <a:chExt cx="1993" cy="1507"/>
          </a:xfrm>
        </p:grpSpPr>
        <p:grpSp>
          <p:nvGrpSpPr>
            <p:cNvPr id="31764" name="Group 32">
              <a:extLst>
                <a:ext uri="{FF2B5EF4-FFF2-40B4-BE49-F238E27FC236}">
                  <a16:creationId xmlns:a16="http://schemas.microsoft.com/office/drawing/2014/main" id="{A12ACA52-B629-1CCE-DD7A-2758026B9D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810"/>
              <a:ext cx="1862" cy="1507"/>
              <a:chOff x="3120" y="240"/>
              <a:chExt cx="2496" cy="2296"/>
            </a:xfrm>
          </p:grpSpPr>
          <p:sp>
            <p:nvSpPr>
              <p:cNvPr id="14369" name="Rectangle 33">
                <a:extLst>
                  <a:ext uri="{FF2B5EF4-FFF2-40B4-BE49-F238E27FC236}">
                    <a16:creationId xmlns:a16="http://schemas.microsoft.com/office/drawing/2014/main" id="{9026F1F2-1C93-7E70-DDC8-C5509B8FC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240"/>
                <a:ext cx="2496" cy="22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endParaRPr lang="zh-CN" altLang="en-US" sz="2400" i="1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宋体" charset="-122"/>
                </a:endParaRPr>
              </a:p>
            </p:txBody>
          </p:sp>
          <p:grpSp>
            <p:nvGrpSpPr>
              <p:cNvPr id="31767" name="Group 34">
                <a:extLst>
                  <a:ext uri="{FF2B5EF4-FFF2-40B4-BE49-F238E27FC236}">
                    <a16:creationId xmlns:a16="http://schemas.microsoft.com/office/drawing/2014/main" id="{D279B851-B3D6-BD41-41FA-F364FC108D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4" y="336"/>
                <a:ext cx="2122" cy="2200"/>
                <a:chOff x="3638" y="2112"/>
                <a:chExt cx="2122" cy="2200"/>
              </a:xfrm>
            </p:grpSpPr>
            <p:grpSp>
              <p:nvGrpSpPr>
                <p:cNvPr id="31768" name="Group 35">
                  <a:extLst>
                    <a:ext uri="{FF2B5EF4-FFF2-40B4-BE49-F238E27FC236}">
                      <a16:creationId xmlns:a16="http://schemas.microsoft.com/office/drawing/2014/main" id="{75864528-0D40-403B-FF66-602C9F63CF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38" y="2354"/>
                  <a:ext cx="2122" cy="1718"/>
                  <a:chOff x="3312" y="1346"/>
                  <a:chExt cx="2122" cy="1718"/>
                </a:xfrm>
              </p:grpSpPr>
              <p:grpSp>
                <p:nvGrpSpPr>
                  <p:cNvPr id="31786" name="Group 36">
                    <a:extLst>
                      <a:ext uri="{FF2B5EF4-FFF2-40B4-BE49-F238E27FC236}">
                        <a16:creationId xmlns:a16="http://schemas.microsoft.com/office/drawing/2014/main" id="{C2DBC37A-FA70-33EA-7DDE-7F0D2BD7C5A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56" y="1991"/>
                    <a:ext cx="1644" cy="353"/>
                    <a:chOff x="960" y="1895"/>
                    <a:chExt cx="1644" cy="353"/>
                  </a:xfrm>
                </p:grpSpPr>
                <p:sp>
                  <p:nvSpPr>
                    <p:cNvPr id="14373" name="Line 37">
                      <a:extLst>
                        <a:ext uri="{FF2B5EF4-FFF2-40B4-BE49-F238E27FC236}">
                          <a16:creationId xmlns:a16="http://schemas.microsoft.com/office/drawing/2014/main" id="{A15EACF5-3B4E-C718-676E-F6944A69B17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2" y="2017"/>
                      <a:ext cx="432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505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defRPr/>
                      </a:pPr>
                      <a:endParaRPr lang="zh-CN" altLang="en-US">
                        <a:latin typeface="Times New Roman" charset="0"/>
                        <a:ea typeface="楷体_GB2312" charset="0"/>
                      </a:endParaRPr>
                    </a:p>
                  </p:txBody>
                </p:sp>
                <p:sp>
                  <p:nvSpPr>
                    <p:cNvPr id="14374" name="Text Box 38">
                      <a:extLst>
                        <a:ext uri="{FF2B5EF4-FFF2-40B4-BE49-F238E27FC236}">
                          <a16:creationId xmlns:a16="http://schemas.microsoft.com/office/drawing/2014/main" id="{C7A5B5F8-8D1B-3D8F-09A5-0C085104BC6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352" y="1895"/>
                      <a:ext cx="252" cy="35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1800" b="0">
                          <a:ea typeface="宋体" panose="02010600030101010101" pitchFamily="2" charset="-122"/>
                        </a:rPr>
                        <a:t>0</a:t>
                      </a:r>
                    </a:p>
                  </p:txBody>
                </p:sp>
                <p:sp>
                  <p:nvSpPr>
                    <p:cNvPr id="14375" name="Text Box 39">
                      <a:extLst>
                        <a:ext uri="{FF2B5EF4-FFF2-40B4-BE49-F238E27FC236}">
                          <a16:creationId xmlns:a16="http://schemas.microsoft.com/office/drawing/2014/main" id="{A4E9D52E-6F42-7604-7553-B099D32876E3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959" y="1896"/>
                      <a:ext cx="933" cy="35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1800">
                          <a:solidFill>
                            <a:srgbClr val="FF5050"/>
                          </a:solidFill>
                        </a:rPr>
                        <a:t>中央明纹</a:t>
                      </a:r>
                    </a:p>
                  </p:txBody>
                </p:sp>
              </p:grpSp>
              <p:grpSp>
                <p:nvGrpSpPr>
                  <p:cNvPr id="31787" name="Group 40">
                    <a:extLst>
                      <a:ext uri="{FF2B5EF4-FFF2-40B4-BE49-F238E27FC236}">
                        <a16:creationId xmlns:a16="http://schemas.microsoft.com/office/drawing/2014/main" id="{5B02727F-2244-E453-0E35-8414BA4C880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12" y="1742"/>
                    <a:ext cx="1819" cy="841"/>
                    <a:chOff x="816" y="1646"/>
                    <a:chExt cx="1819" cy="841"/>
                  </a:xfrm>
                </p:grpSpPr>
                <p:graphicFrame>
                  <p:nvGraphicFramePr>
                    <p:cNvPr id="31802" name="Object 41">
                      <a:extLst>
                        <a:ext uri="{FF2B5EF4-FFF2-40B4-BE49-F238E27FC236}">
                          <a16:creationId xmlns:a16="http://schemas.microsoft.com/office/drawing/2014/main" id="{184D52C2-9987-BC37-70D8-58E8032ABFAA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2352" y="1681"/>
                    <a:ext cx="156" cy="199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25" imgW="139579" imgH="177646" progId="Equation.3">
                            <p:embed/>
                          </p:oleObj>
                        </mc:Choice>
                        <mc:Fallback>
                          <p:oleObj name="Equation" r:id="rId25" imgW="139579" imgH="177646" progId="Equation.3">
                            <p:embed/>
                            <p:pic>
                              <p:nvPicPr>
                                <p:cNvPr id="31802" name="Object 41">
                                  <a:extLst>
                                    <a:ext uri="{FF2B5EF4-FFF2-40B4-BE49-F238E27FC236}">
                                      <a16:creationId xmlns:a16="http://schemas.microsoft.com/office/drawing/2014/main" id="{184D52C2-9987-BC37-70D8-58E8032ABFAA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352" y="1681"/>
                                  <a:ext cx="156" cy="199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>
                                            <a:alpha val="74997"/>
                                          </a:srgb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1803" name="Object 42">
                      <a:extLst>
                        <a:ext uri="{FF2B5EF4-FFF2-40B4-BE49-F238E27FC236}">
                          <a16:creationId xmlns:a16="http://schemas.microsoft.com/office/drawing/2014/main" id="{29EAB5E3-031B-F8E0-45A9-58A275793C53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2352" y="2210"/>
                    <a:ext cx="283" cy="19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27" imgW="253670" imgH="177569" progId="Equation.3">
                            <p:embed/>
                          </p:oleObj>
                        </mc:Choice>
                        <mc:Fallback>
                          <p:oleObj name="Equation" r:id="rId27" imgW="253670" imgH="177569" progId="Equation.3">
                            <p:embed/>
                            <p:pic>
                              <p:nvPicPr>
                                <p:cNvPr id="31803" name="Object 42">
                                  <a:extLst>
                                    <a:ext uri="{FF2B5EF4-FFF2-40B4-BE49-F238E27FC236}">
                                      <a16:creationId xmlns:a16="http://schemas.microsoft.com/office/drawing/2014/main" id="{29EAB5E3-031B-F8E0-45A9-58A275793C53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28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352" y="2210"/>
                                  <a:ext cx="283" cy="19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>
                                            <a:alpha val="74997"/>
                                          </a:srgb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4379" name="Line 43">
                      <a:extLst>
                        <a:ext uri="{FF2B5EF4-FFF2-40B4-BE49-F238E27FC236}">
                          <a16:creationId xmlns:a16="http://schemas.microsoft.com/office/drawing/2014/main" id="{A04AB6CF-5412-CD43-5C3C-65451E5AF9D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2" y="1729"/>
                      <a:ext cx="432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defRPr/>
                      </a:pPr>
                      <a:endParaRPr lang="zh-CN" altLang="en-US">
                        <a:latin typeface="Times New Roman" charset="0"/>
                        <a:ea typeface="楷体_GB2312" charset="0"/>
                      </a:endParaRPr>
                    </a:p>
                  </p:txBody>
                </p:sp>
                <p:sp>
                  <p:nvSpPr>
                    <p:cNvPr id="14380" name="Line 44">
                      <a:extLst>
                        <a:ext uri="{FF2B5EF4-FFF2-40B4-BE49-F238E27FC236}">
                          <a16:creationId xmlns:a16="http://schemas.microsoft.com/office/drawing/2014/main" id="{ACEF4A58-B440-35D5-9916-7867F8A6D2D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2" y="2303"/>
                      <a:ext cx="432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defRPr/>
                      </a:pPr>
                      <a:endParaRPr lang="zh-CN" altLang="en-US">
                        <a:latin typeface="Times New Roman" charset="0"/>
                        <a:ea typeface="楷体_GB2312" charset="0"/>
                      </a:endParaRPr>
                    </a:p>
                  </p:txBody>
                </p:sp>
                <p:sp>
                  <p:nvSpPr>
                    <p:cNvPr id="14381" name="Text Box 45">
                      <a:extLst>
                        <a:ext uri="{FF2B5EF4-FFF2-40B4-BE49-F238E27FC236}">
                          <a16:creationId xmlns:a16="http://schemas.microsoft.com/office/drawing/2014/main" id="{6085D512-1507-1383-9570-38326BE9BC3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15" y="1646"/>
                      <a:ext cx="1127" cy="35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1800"/>
                        <a:t>第一级暗纹</a:t>
                      </a:r>
                    </a:p>
                  </p:txBody>
                </p:sp>
                <p:sp>
                  <p:nvSpPr>
                    <p:cNvPr id="14382" name="Text Box 46">
                      <a:extLst>
                        <a:ext uri="{FF2B5EF4-FFF2-40B4-BE49-F238E27FC236}">
                          <a16:creationId xmlns:a16="http://schemas.microsoft.com/office/drawing/2014/main" id="{DD46D3BD-A484-5FDC-949D-6C9DA082321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64" y="2135"/>
                      <a:ext cx="1127" cy="3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1800"/>
                        <a:t>第一级暗纹</a:t>
                      </a:r>
                    </a:p>
                  </p:txBody>
                </p:sp>
              </p:grpSp>
              <p:grpSp>
                <p:nvGrpSpPr>
                  <p:cNvPr id="31788" name="Group 47">
                    <a:extLst>
                      <a:ext uri="{FF2B5EF4-FFF2-40B4-BE49-F238E27FC236}">
                        <a16:creationId xmlns:a16="http://schemas.microsoft.com/office/drawing/2014/main" id="{FDFE06B3-8F65-EEEF-5D17-8D1DFB5065C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12" y="1346"/>
                    <a:ext cx="1952" cy="1718"/>
                    <a:chOff x="816" y="1250"/>
                    <a:chExt cx="1952" cy="1718"/>
                  </a:xfrm>
                </p:grpSpPr>
                <p:sp>
                  <p:nvSpPr>
                    <p:cNvPr id="14384" name="Line 48">
                      <a:extLst>
                        <a:ext uri="{FF2B5EF4-FFF2-40B4-BE49-F238E27FC236}">
                          <a16:creationId xmlns:a16="http://schemas.microsoft.com/office/drawing/2014/main" id="{1528BC66-55B0-2730-A521-9EBBEF0A539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2" y="1441"/>
                      <a:ext cx="432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defRPr/>
                      </a:pPr>
                      <a:endParaRPr lang="zh-CN" altLang="en-US">
                        <a:latin typeface="Times New Roman" charset="0"/>
                        <a:ea typeface="楷体_GB2312" charset="0"/>
                      </a:endParaRPr>
                    </a:p>
                  </p:txBody>
                </p:sp>
                <p:graphicFrame>
                  <p:nvGraphicFramePr>
                    <p:cNvPr id="31797" name="Object 49">
                      <a:extLst>
                        <a:ext uri="{FF2B5EF4-FFF2-40B4-BE49-F238E27FC236}">
                          <a16:creationId xmlns:a16="http://schemas.microsoft.com/office/drawing/2014/main" id="{E58AD353-E4B2-7BC2-6AC4-9363A373652D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2352" y="1250"/>
                    <a:ext cx="240" cy="19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29" imgW="215619" imgH="177569" progId="Equation.3">
                            <p:embed/>
                          </p:oleObj>
                        </mc:Choice>
                        <mc:Fallback>
                          <p:oleObj name="Equation" r:id="rId29" imgW="215619" imgH="177569" progId="Equation.3">
                            <p:embed/>
                            <p:pic>
                              <p:nvPicPr>
                                <p:cNvPr id="31797" name="Object 49">
                                  <a:extLst>
                                    <a:ext uri="{FF2B5EF4-FFF2-40B4-BE49-F238E27FC236}">
                                      <a16:creationId xmlns:a16="http://schemas.microsoft.com/office/drawing/2014/main" id="{E58AD353-E4B2-7BC2-6AC4-9363A373652D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0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352" y="1250"/>
                                  <a:ext cx="240" cy="19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>
                                            <a:alpha val="74997"/>
                                          </a:srgb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1798" name="Object 50">
                      <a:extLst>
                        <a:ext uri="{FF2B5EF4-FFF2-40B4-BE49-F238E27FC236}">
                          <a16:creationId xmlns:a16="http://schemas.microsoft.com/office/drawing/2014/main" id="{BEDE9B79-7F3D-5D4D-9307-6BC8EE292E5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2400" y="2592"/>
                    <a:ext cx="368" cy="19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31" imgW="329914" imgH="177646" progId="Equation.3">
                            <p:embed/>
                          </p:oleObj>
                        </mc:Choice>
                        <mc:Fallback>
                          <p:oleObj name="Equation" r:id="rId31" imgW="329914" imgH="177646" progId="Equation.3">
                            <p:embed/>
                            <p:pic>
                              <p:nvPicPr>
                                <p:cNvPr id="31798" name="Object 50">
                                  <a:extLst>
                                    <a:ext uri="{FF2B5EF4-FFF2-40B4-BE49-F238E27FC236}">
                                      <a16:creationId xmlns:a16="http://schemas.microsoft.com/office/drawing/2014/main" id="{BEDE9B79-7F3D-5D4D-9307-6BC8EE292E59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2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400" y="2592"/>
                                  <a:ext cx="368" cy="19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>
                                            <a:alpha val="74997"/>
                                          </a:srgb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4387" name="Line 51">
                      <a:extLst>
                        <a:ext uri="{FF2B5EF4-FFF2-40B4-BE49-F238E27FC236}">
                          <a16:creationId xmlns:a16="http://schemas.microsoft.com/office/drawing/2014/main" id="{19E45431-700D-50C0-6CE1-ADF46F988F4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2" y="2640"/>
                      <a:ext cx="432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defRPr/>
                      </a:pPr>
                      <a:endParaRPr lang="zh-CN" altLang="en-US">
                        <a:latin typeface="Times New Roman" charset="0"/>
                        <a:ea typeface="楷体_GB2312" charset="0"/>
                      </a:endParaRPr>
                    </a:p>
                  </p:txBody>
                </p:sp>
                <p:sp>
                  <p:nvSpPr>
                    <p:cNvPr id="14388" name="Text Box 52">
                      <a:extLst>
                        <a:ext uri="{FF2B5EF4-FFF2-40B4-BE49-F238E27FC236}">
                          <a16:creationId xmlns:a16="http://schemas.microsoft.com/office/drawing/2014/main" id="{58297D9A-C3AE-B356-D5A7-85BD5F5E15B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15" y="1272"/>
                      <a:ext cx="1127" cy="35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1800"/>
                        <a:t>第二级暗纹</a:t>
                      </a:r>
                    </a:p>
                  </p:txBody>
                </p:sp>
                <p:sp>
                  <p:nvSpPr>
                    <p:cNvPr id="14389" name="Text Box 53">
                      <a:extLst>
                        <a:ext uri="{FF2B5EF4-FFF2-40B4-BE49-F238E27FC236}">
                          <a16:creationId xmlns:a16="http://schemas.microsoft.com/office/drawing/2014/main" id="{D4FC3F71-B1BB-D8C4-2942-A072F787177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64" y="2617"/>
                      <a:ext cx="1127" cy="3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1800"/>
                        <a:t>第二级暗纹</a:t>
                      </a:r>
                    </a:p>
                  </p:txBody>
                </p:sp>
              </p:grpSp>
              <p:grpSp>
                <p:nvGrpSpPr>
                  <p:cNvPr id="31789" name="Group 54">
                    <a:extLst>
                      <a:ext uri="{FF2B5EF4-FFF2-40B4-BE49-F238E27FC236}">
                        <a16:creationId xmlns:a16="http://schemas.microsoft.com/office/drawing/2014/main" id="{B342EA66-19FF-1736-BD81-FA14EDB402B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12" y="1559"/>
                    <a:ext cx="2122" cy="1265"/>
                    <a:chOff x="816" y="1463"/>
                    <a:chExt cx="2122" cy="1265"/>
                  </a:xfrm>
                </p:grpSpPr>
                <p:graphicFrame>
                  <p:nvGraphicFramePr>
                    <p:cNvPr id="31790" name="Object 55">
                      <a:extLst>
                        <a:ext uri="{FF2B5EF4-FFF2-40B4-BE49-F238E27FC236}">
                          <a16:creationId xmlns:a16="http://schemas.microsoft.com/office/drawing/2014/main" id="{E172A912-A888-CED0-0191-D4B2C20E081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2400" y="1491"/>
                    <a:ext cx="424" cy="19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33" imgW="380670" imgH="177646" progId="Equation.3">
                            <p:embed/>
                          </p:oleObj>
                        </mc:Choice>
                        <mc:Fallback>
                          <p:oleObj name="Equation" r:id="rId33" imgW="380670" imgH="177646" progId="Equation.3">
                            <p:embed/>
                            <p:pic>
                              <p:nvPicPr>
                                <p:cNvPr id="31790" name="Object 55">
                                  <a:extLst>
                                    <a:ext uri="{FF2B5EF4-FFF2-40B4-BE49-F238E27FC236}">
                                      <a16:creationId xmlns:a16="http://schemas.microsoft.com/office/drawing/2014/main" id="{E172A912-A888-CED0-0191-D4B2C20E0819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4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400" y="1491"/>
                                  <a:ext cx="424" cy="197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>
                                            <a:alpha val="74997"/>
                                          </a:srgb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1791" name="Object 56">
                      <a:extLst>
                        <a:ext uri="{FF2B5EF4-FFF2-40B4-BE49-F238E27FC236}">
                          <a16:creationId xmlns:a16="http://schemas.microsoft.com/office/drawing/2014/main" id="{EC764573-203F-EC24-0789-77F2A8AA60F3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2400" y="2400"/>
                    <a:ext cx="538" cy="19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name="Equation" r:id="rId35" imgW="482181" imgH="177646" progId="Equation.3">
                            <p:embed/>
                          </p:oleObj>
                        </mc:Choice>
                        <mc:Fallback>
                          <p:oleObj name="Equation" r:id="rId35" imgW="482181" imgH="177646" progId="Equation.3">
                            <p:embed/>
                            <p:pic>
                              <p:nvPicPr>
                                <p:cNvPr id="31791" name="Object 56">
                                  <a:extLst>
                                    <a:ext uri="{FF2B5EF4-FFF2-40B4-BE49-F238E27FC236}">
                                      <a16:creationId xmlns:a16="http://schemas.microsoft.com/office/drawing/2014/main" id="{EC764573-203F-EC24-0789-77F2A8AA60F3}"/>
                                    </a:ext>
                                  </a:extLst>
                                </p:cNvPr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36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2400" y="2400"/>
                                  <a:ext cx="538" cy="198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  <a:effectLst/>
                                <a:extLst>
                                  <a:ext uri="{909E8E84-426E-40DD-AFC4-6F175D3DCCD1}">
                                    <a14:hiddenFill xmlns:a14="http://schemas.microsoft.com/office/drawing/2010/main">
                                      <a:solidFill>
                                        <a:srgbClr val="FFFFFF"/>
                                      </a:solidFill>
                                    </a14:hiddenFill>
                                  </a:ext>
                                  <a:ext uri="{91240B29-F687-4F45-9708-019B960494DF}">
                                    <a14:hiddenLine xmlns:a14="http://schemas.microsoft.com/office/drawing/2010/main" w="9525">
                                      <a:solidFill>
                                        <a:srgbClr val="000000"/>
                                      </a:solidFill>
                                      <a:miter lim="800000"/>
                                      <a:headEnd/>
                                      <a:tailEnd/>
                                    </a14:hiddenLine>
                                  </a:ext>
                                  <a:ext uri="{AF507438-7753-43E0-B8FC-AC1667EBCBE1}">
                                    <a14:hiddenEffects xmlns:a14="http://schemas.microsoft.com/office/drawing/2010/main">
                                      <a:effectLst>
                                        <a:outerShdw dist="35921" dir="2700000" algn="ctr" rotWithShape="0">
                                          <a:srgbClr val="808080">
                                            <a:alpha val="74997"/>
                                          </a:srgbClr>
                                        </a:outerShdw>
                                      </a:effectLst>
                                    </a14:hiddenEffects>
                                  </a:ext>
                                </a:extLst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14393" name="Text Box 57">
                      <a:extLst>
                        <a:ext uri="{FF2B5EF4-FFF2-40B4-BE49-F238E27FC236}">
                          <a16:creationId xmlns:a16="http://schemas.microsoft.com/office/drawing/2014/main" id="{1AC4945D-083D-F512-898F-FB5149ADA11D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15" y="1464"/>
                      <a:ext cx="1127" cy="35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1800">
                          <a:solidFill>
                            <a:srgbClr val="FF5050"/>
                          </a:solidFill>
                        </a:rPr>
                        <a:t>第一级明纹</a:t>
                      </a:r>
                    </a:p>
                  </p:txBody>
                </p:sp>
                <p:sp>
                  <p:nvSpPr>
                    <p:cNvPr id="14394" name="Text Box 58">
                      <a:extLst>
                        <a:ext uri="{FF2B5EF4-FFF2-40B4-BE49-F238E27FC236}">
                          <a16:creationId xmlns:a16="http://schemas.microsoft.com/office/drawing/2014/main" id="{B4B56D55-C63E-65D6-9FE8-5B1626252A7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853" y="2376"/>
                      <a:ext cx="1127" cy="35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1pPr>
                      <a:lvl2pPr marL="742950" indent="-28575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8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eaLnBrk="1" hangingPunct="1"/>
                      <a:r>
                        <a:rPr lang="zh-CN" altLang="en-US" sz="1800">
                          <a:solidFill>
                            <a:srgbClr val="FF5050"/>
                          </a:solidFill>
                        </a:rPr>
                        <a:t>第一级明纹</a:t>
                      </a:r>
                    </a:p>
                  </p:txBody>
                </p:sp>
                <p:sp>
                  <p:nvSpPr>
                    <p:cNvPr id="14395" name="Line 59">
                      <a:extLst>
                        <a:ext uri="{FF2B5EF4-FFF2-40B4-BE49-F238E27FC236}">
                          <a16:creationId xmlns:a16="http://schemas.microsoft.com/office/drawing/2014/main" id="{F4661E8E-E072-1763-E807-CC6B70EBF95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2" y="1584"/>
                      <a:ext cx="432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505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defRPr/>
                      </a:pPr>
                      <a:endParaRPr lang="zh-CN" altLang="en-US">
                        <a:latin typeface="Times New Roman" charset="0"/>
                        <a:ea typeface="楷体_GB2312" charset="0"/>
                      </a:endParaRPr>
                    </a:p>
                  </p:txBody>
                </p:sp>
                <p:sp>
                  <p:nvSpPr>
                    <p:cNvPr id="14396" name="Line 60">
                      <a:extLst>
                        <a:ext uri="{FF2B5EF4-FFF2-40B4-BE49-F238E27FC236}">
                          <a16:creationId xmlns:a16="http://schemas.microsoft.com/office/drawing/2014/main" id="{C4CD5E16-CB42-15CB-EFD5-71C85F438C4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72" y="2448"/>
                      <a:ext cx="432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505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eaLnBrk="1" hangingPunct="1">
                        <a:defRPr/>
                      </a:pPr>
                      <a:endParaRPr lang="zh-CN" altLang="en-US">
                        <a:latin typeface="Times New Roman" charset="0"/>
                        <a:ea typeface="楷体_GB2312" charset="0"/>
                      </a:endParaRPr>
                    </a:p>
                  </p:txBody>
                </p:sp>
              </p:grpSp>
            </p:grpSp>
            <p:grpSp>
              <p:nvGrpSpPr>
                <p:cNvPr id="31769" name="Group 61">
                  <a:extLst>
                    <a:ext uri="{FF2B5EF4-FFF2-40B4-BE49-F238E27FC236}">
                      <a16:creationId xmlns:a16="http://schemas.microsoft.com/office/drawing/2014/main" id="{036D5D2F-D985-1681-BD41-EEF9749179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94" y="2592"/>
                  <a:ext cx="432" cy="1104"/>
                  <a:chOff x="4368" y="1584"/>
                  <a:chExt cx="432" cy="1104"/>
                </a:xfrm>
              </p:grpSpPr>
              <p:sp>
                <p:nvSpPr>
                  <p:cNvPr id="14398" name="Rectangle 62">
                    <a:extLst>
                      <a:ext uri="{FF2B5EF4-FFF2-40B4-BE49-F238E27FC236}">
                        <a16:creationId xmlns:a16="http://schemas.microsoft.com/office/drawing/2014/main" id="{E2BE4BA0-EE4F-3573-72AB-63DFF49B6DE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1872"/>
                    <a:ext cx="432" cy="48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FF5050">
                          <a:gamma/>
                          <a:shade val="46275"/>
                          <a:invGamma/>
                        </a:srgbClr>
                      </a:gs>
                      <a:gs pos="50000">
                        <a:srgbClr val="FF5050"/>
                      </a:gs>
                      <a:gs pos="100000">
                        <a:srgbClr val="FF5050">
                          <a:gamma/>
                          <a:shade val="46275"/>
                          <a:invGamma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4399" name="Rectangle 63">
                    <a:extLst>
                      <a:ext uri="{FF2B5EF4-FFF2-40B4-BE49-F238E27FC236}">
                        <a16:creationId xmlns:a16="http://schemas.microsoft.com/office/drawing/2014/main" id="{4F950737-3C33-51BA-86EF-F55088E5D1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2448"/>
                    <a:ext cx="432" cy="241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FF5050">
                          <a:gamma/>
                          <a:shade val="46275"/>
                          <a:invGamma/>
                        </a:srgbClr>
                      </a:gs>
                      <a:gs pos="50000">
                        <a:srgbClr val="FF5050"/>
                      </a:gs>
                      <a:gs pos="100000">
                        <a:srgbClr val="FF5050">
                          <a:gamma/>
                          <a:shade val="46275"/>
                          <a:invGamma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4400" name="Rectangle 64">
                    <a:extLst>
                      <a:ext uri="{FF2B5EF4-FFF2-40B4-BE49-F238E27FC236}">
                        <a16:creationId xmlns:a16="http://schemas.microsoft.com/office/drawing/2014/main" id="{FCDC5E4A-7416-E80C-81A8-CC0C49C00E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1584"/>
                    <a:ext cx="432" cy="19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FF5050">
                          <a:gamma/>
                          <a:shade val="46275"/>
                          <a:invGamma/>
                        </a:srgbClr>
                      </a:gs>
                      <a:gs pos="50000">
                        <a:srgbClr val="FF5050"/>
                      </a:gs>
                      <a:gs pos="100000">
                        <a:srgbClr val="FF5050">
                          <a:gamma/>
                          <a:shade val="46275"/>
                          <a:invGamma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</p:grpSp>
            <p:grpSp>
              <p:nvGrpSpPr>
                <p:cNvPr id="31770" name="Group 65">
                  <a:extLst>
                    <a:ext uri="{FF2B5EF4-FFF2-40B4-BE49-F238E27FC236}">
                      <a16:creationId xmlns:a16="http://schemas.microsoft.com/office/drawing/2014/main" id="{DD717DC1-B803-54EE-7C46-A93A5B448D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38" y="2112"/>
                  <a:ext cx="2049" cy="2200"/>
                  <a:chOff x="3312" y="1104"/>
                  <a:chExt cx="2049" cy="2200"/>
                </a:xfrm>
              </p:grpSpPr>
              <p:sp>
                <p:nvSpPr>
                  <p:cNvPr id="14402" name="Rectangle 66">
                    <a:extLst>
                      <a:ext uri="{FF2B5EF4-FFF2-40B4-BE49-F238E27FC236}">
                        <a16:creationId xmlns:a16="http://schemas.microsoft.com/office/drawing/2014/main" id="{77C89FEC-8755-06E1-1BE4-7506E80348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11" y="1128"/>
                    <a:ext cx="1127" cy="3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800">
                        <a:solidFill>
                          <a:srgbClr val="FF5050"/>
                        </a:solidFill>
                      </a:rPr>
                      <a:t>第二级明纹</a:t>
                    </a:r>
                  </a:p>
                </p:txBody>
              </p:sp>
              <p:sp>
                <p:nvSpPr>
                  <p:cNvPr id="14403" name="Rectangle 67">
                    <a:extLst>
                      <a:ext uri="{FF2B5EF4-FFF2-40B4-BE49-F238E27FC236}">
                        <a16:creationId xmlns:a16="http://schemas.microsoft.com/office/drawing/2014/main" id="{60279733-5BE9-B061-53CB-1A7C722C9B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60" y="2952"/>
                    <a:ext cx="1127" cy="35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1pPr>
                    <a:lvl2pPr marL="742950" indent="-28575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2pPr>
                    <a:lvl3pPr marL="11430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3pPr>
                    <a:lvl4pPr marL="16002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4pPr>
                    <a:lvl5pPr marL="2057400" indent="-228600"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1800">
                        <a:solidFill>
                          <a:srgbClr val="FF5050"/>
                        </a:solidFill>
                      </a:rPr>
                      <a:t>第二级明纹</a:t>
                    </a:r>
                  </a:p>
                </p:txBody>
              </p:sp>
              <p:sp>
                <p:nvSpPr>
                  <p:cNvPr id="14404" name="Line 68">
                    <a:extLst>
                      <a:ext uri="{FF2B5EF4-FFF2-40B4-BE49-F238E27FC236}">
                        <a16:creationId xmlns:a16="http://schemas.microsoft.com/office/drawing/2014/main" id="{55C7E609-6223-48C3-F2EB-0207F28E04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68" y="1392"/>
                    <a:ext cx="43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505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4405" name="Line 69">
                    <a:extLst>
                      <a:ext uri="{FF2B5EF4-FFF2-40B4-BE49-F238E27FC236}">
                        <a16:creationId xmlns:a16="http://schemas.microsoft.com/office/drawing/2014/main" id="{667EA86B-A5D4-B2ED-6744-2E47212AC3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68" y="2880"/>
                    <a:ext cx="43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505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4406" name="Line 70">
                    <a:extLst>
                      <a:ext uri="{FF2B5EF4-FFF2-40B4-BE49-F238E27FC236}">
                        <a16:creationId xmlns:a16="http://schemas.microsoft.com/office/drawing/2014/main" id="{9B42A7AD-FA51-0559-10F9-AF12F60723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24" y="2928"/>
                    <a:ext cx="192" cy="14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4407" name="Line 71">
                    <a:extLst>
                      <a:ext uri="{FF2B5EF4-FFF2-40B4-BE49-F238E27FC236}">
                        <a16:creationId xmlns:a16="http://schemas.microsoft.com/office/drawing/2014/main" id="{EAE5B252-1801-8CB2-5836-8F4A596997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76" y="1200"/>
                    <a:ext cx="192" cy="14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graphicFrame>
                <p:nvGraphicFramePr>
                  <p:cNvPr id="31780" name="Object 72">
                    <a:extLst>
                      <a:ext uri="{FF2B5EF4-FFF2-40B4-BE49-F238E27FC236}">
                        <a16:creationId xmlns:a16="http://schemas.microsoft.com/office/drawing/2014/main" id="{3CDB41FC-C86B-5AE4-8CF4-96D637673DD0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896" y="1104"/>
                  <a:ext cx="432" cy="20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7" imgW="380670" imgH="177646" progId="Equation.3">
                          <p:embed/>
                        </p:oleObj>
                      </mc:Choice>
                      <mc:Fallback>
                        <p:oleObj name="Equation" r:id="rId37" imgW="380670" imgH="177646" progId="Equation.3">
                          <p:embed/>
                          <p:pic>
                            <p:nvPicPr>
                              <p:cNvPr id="31780" name="Object 72">
                                <a:extLst>
                                  <a:ext uri="{FF2B5EF4-FFF2-40B4-BE49-F238E27FC236}">
                                    <a16:creationId xmlns:a16="http://schemas.microsoft.com/office/drawing/2014/main" id="{3CDB41FC-C86B-5AE4-8CF4-96D637673DD0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896" y="1104"/>
                                <a:ext cx="432" cy="20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>
                                          <a:alpha val="74997"/>
                                        </a:srgb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14409" name="Line 73">
                    <a:extLst>
                      <a:ext uri="{FF2B5EF4-FFF2-40B4-BE49-F238E27FC236}">
                        <a16:creationId xmlns:a16="http://schemas.microsoft.com/office/drawing/2014/main" id="{E110F515-EC08-4C77-CA5F-23355E4B72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99" y="1249"/>
                    <a:ext cx="97" cy="9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graphicFrame>
                <p:nvGraphicFramePr>
                  <p:cNvPr id="31782" name="Object 74">
                    <a:extLst>
                      <a:ext uri="{FF2B5EF4-FFF2-40B4-BE49-F238E27FC236}">
                        <a16:creationId xmlns:a16="http://schemas.microsoft.com/office/drawing/2014/main" id="{6202834F-FCA6-A98F-8915-DDCDBC5BE68D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4800" y="2880"/>
                  <a:ext cx="561" cy="20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Equation" r:id="rId39" imgW="494870" imgH="177646" progId="Equation.3">
                          <p:embed/>
                        </p:oleObj>
                      </mc:Choice>
                      <mc:Fallback>
                        <p:oleObj name="Equation" r:id="rId39" imgW="494870" imgH="177646" progId="Equation.3">
                          <p:embed/>
                          <p:pic>
                            <p:nvPicPr>
                              <p:cNvPr id="31782" name="Object 74">
                                <a:extLst>
                                  <a:ext uri="{FF2B5EF4-FFF2-40B4-BE49-F238E27FC236}">
                                    <a16:creationId xmlns:a16="http://schemas.microsoft.com/office/drawing/2014/main" id="{6202834F-FCA6-A98F-8915-DDCDBC5BE68D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800" y="2880"/>
                                <a:ext cx="561" cy="202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>
                                          <a:alpha val="74997"/>
                                        </a:srgbClr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pSp>
              <p:nvGrpSpPr>
                <p:cNvPr id="31771" name="Group 75">
                  <a:extLst>
                    <a:ext uri="{FF2B5EF4-FFF2-40B4-BE49-F238E27FC236}">
                      <a16:creationId xmlns:a16="http://schemas.microsoft.com/office/drawing/2014/main" id="{391C1C75-5AFF-022C-2F85-9D8DB1A6AF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94" y="2304"/>
                  <a:ext cx="432" cy="1728"/>
                  <a:chOff x="4368" y="1296"/>
                  <a:chExt cx="432" cy="1728"/>
                </a:xfrm>
              </p:grpSpPr>
              <p:sp>
                <p:nvSpPr>
                  <p:cNvPr id="14412" name="Rectangle 76">
                    <a:extLst>
                      <a:ext uri="{FF2B5EF4-FFF2-40B4-BE49-F238E27FC236}">
                        <a16:creationId xmlns:a16="http://schemas.microsoft.com/office/drawing/2014/main" id="{3193DD5B-5352-C321-4197-53787B1A24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2784"/>
                    <a:ext cx="432" cy="239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FF5050">
                          <a:gamma/>
                          <a:shade val="46275"/>
                          <a:invGamma/>
                        </a:srgbClr>
                      </a:gs>
                      <a:gs pos="50000">
                        <a:srgbClr val="FF5050"/>
                      </a:gs>
                      <a:gs pos="100000">
                        <a:srgbClr val="FF5050">
                          <a:gamma/>
                          <a:shade val="46275"/>
                          <a:invGamma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  <p:sp>
                <p:nvSpPr>
                  <p:cNvPr id="14413" name="Rectangle 77">
                    <a:extLst>
                      <a:ext uri="{FF2B5EF4-FFF2-40B4-BE49-F238E27FC236}">
                        <a16:creationId xmlns:a16="http://schemas.microsoft.com/office/drawing/2014/main" id="{D6F0005E-7C4C-D1CA-F8B4-0DD12B415D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68" y="1296"/>
                    <a:ext cx="432" cy="19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FF5050">
                          <a:gamma/>
                          <a:shade val="46275"/>
                          <a:invGamma/>
                        </a:srgbClr>
                      </a:gs>
                      <a:gs pos="50000">
                        <a:srgbClr val="FF5050"/>
                      </a:gs>
                      <a:gs pos="100000">
                        <a:srgbClr val="FF5050">
                          <a:gamma/>
                          <a:shade val="46275"/>
                          <a:invGamma/>
                        </a:srgbClr>
                      </a:gs>
                    </a:gsLst>
                    <a:lin ang="540000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eaLnBrk="1" hangingPunct="1">
                      <a:defRPr/>
                    </a:pPr>
                    <a:endParaRPr lang="zh-CN" altLang="en-US">
                      <a:latin typeface="Times New Roman" charset="0"/>
                      <a:ea typeface="楷体_GB2312" charset="0"/>
                    </a:endParaRPr>
                  </a:p>
                </p:txBody>
              </p:sp>
            </p:grpSp>
          </p:grpSp>
        </p:grpSp>
        <p:sp>
          <p:nvSpPr>
            <p:cNvPr id="14414" name="Rectangle 78">
              <a:extLst>
                <a:ext uri="{FF2B5EF4-FFF2-40B4-BE49-F238E27FC236}">
                  <a16:creationId xmlns:a16="http://schemas.microsoft.com/office/drawing/2014/main" id="{A350610F-3638-34A5-A92C-82FE1342B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3357"/>
              <a:ext cx="6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asin</a:t>
              </a:r>
              <a:r>
                <a:rPr lang="en-US" altLang="zh-CN" sz="2000" i="1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φ  </a:t>
              </a:r>
              <a:endParaRPr lang="zh-CN" altLang="en-US" sz="2000" i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楷体_GB2312" charset="0"/>
              </a:endParaRPr>
            </a:p>
          </p:txBody>
        </p:sp>
      </p:grpSp>
      <p:sp>
        <p:nvSpPr>
          <p:cNvPr id="2" name="Rectangle 4">
            <a:extLst>
              <a:ext uri="{FF2B5EF4-FFF2-40B4-BE49-F238E27FC236}">
                <a16:creationId xmlns:a16="http://schemas.microsoft.com/office/drawing/2014/main" id="{6B9A95FC-623A-5024-0427-EA93AC54B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107950"/>
            <a:ext cx="28082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/>
              <a:t>衍射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4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9" grpId="0" animBg="1" autoUpdateAnimBg="0"/>
      <p:bldP spid="14361" grpId="0" animBg="1" autoUpdateAnimBg="0"/>
      <p:bldP spid="1436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FF7FC9E0-A26B-2073-A92F-E9AF0781A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57563"/>
            <a:ext cx="3921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>
                <a:latin typeface="Times New Roman" charset="0"/>
                <a:ea typeface="楷体_GB2312" charset="0"/>
              </a:rPr>
              <a:t>衍射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0252B63-FF2E-711C-7361-D096209F90AA}"/>
              </a:ext>
            </a:extLst>
          </p:cNvPr>
          <p:cNvSpPr>
            <a:spLocks/>
          </p:cNvSpPr>
          <p:nvPr/>
        </p:nvSpPr>
        <p:spPr bwMode="auto">
          <a:xfrm>
            <a:off x="684213" y="330926"/>
            <a:ext cx="406400" cy="5665062"/>
          </a:xfrm>
          <a:prstGeom prst="leftBrace">
            <a:avLst>
              <a:gd name="adj1" fmla="val 9153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96C09BE-E266-252A-685F-DEEA0EA45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278" y="232373"/>
            <a:ext cx="24495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</a:rPr>
              <a:t>夫琅禾费衍射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269A6C2-CC8D-C02F-8BBB-427F6F3CF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7663" y="964918"/>
            <a:ext cx="1728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</a:rPr>
              <a:t>光栅衍射</a:t>
            </a:r>
          </a:p>
        </p:txBody>
      </p:sp>
      <p:sp>
        <p:nvSpPr>
          <p:cNvPr id="79" name="Text Box 24">
            <a:extLst>
              <a:ext uri="{FF2B5EF4-FFF2-40B4-BE49-F238E27FC236}">
                <a16:creationId xmlns:a16="http://schemas.microsoft.com/office/drawing/2014/main" id="{EA959F2A-83B7-E08D-EFAA-97602A87D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532257"/>
            <a:ext cx="17287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accent2"/>
                </a:solidFill>
              </a:rPr>
              <a:t>最小分辨角 分辨本领</a:t>
            </a:r>
          </a:p>
        </p:txBody>
      </p:sp>
      <p:graphicFrame>
        <p:nvGraphicFramePr>
          <p:cNvPr id="80" name="Object 2">
            <a:extLst>
              <a:ext uri="{FF2B5EF4-FFF2-40B4-BE49-F238E27FC236}">
                <a16:creationId xmlns:a16="http://schemas.microsoft.com/office/drawing/2014/main" id="{20A38E3D-FB96-E729-E6AB-BCB0CD91E3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878057"/>
              </p:ext>
            </p:extLst>
          </p:nvPr>
        </p:nvGraphicFramePr>
        <p:xfrm>
          <a:off x="3017340" y="5409960"/>
          <a:ext cx="29527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028520" imgH="393480" progId="Equation.3">
                  <p:embed/>
                </p:oleObj>
              </mc:Choice>
              <mc:Fallback>
                <p:oleObj name="公式" r:id="rId3" imgW="1028520" imgH="393480" progId="Equation.3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5F4D7C7C-E798-5B32-FFC6-6F4DCE46E4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340" y="5409960"/>
                        <a:ext cx="2952750" cy="9001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3">
            <a:extLst>
              <a:ext uri="{FF2B5EF4-FFF2-40B4-BE49-F238E27FC236}">
                <a16:creationId xmlns:a16="http://schemas.microsoft.com/office/drawing/2014/main" id="{32151BC6-7785-5709-A40A-2FDEE7E13F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943581"/>
              </p:ext>
            </p:extLst>
          </p:nvPr>
        </p:nvGraphicFramePr>
        <p:xfrm>
          <a:off x="6394984" y="5382179"/>
          <a:ext cx="24765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015920" imgH="393480" progId="Equation.3">
                  <p:embed/>
                </p:oleObj>
              </mc:Choice>
              <mc:Fallback>
                <p:oleObj name="公式" r:id="rId5" imgW="1015920" imgH="393480" progId="Equation.3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A8037663-A77D-CC16-E9FA-21F4B666C5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4984" y="5382179"/>
                        <a:ext cx="2476500" cy="9556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文本框 22539">
            <a:extLst>
              <a:ext uri="{FF2B5EF4-FFF2-40B4-BE49-F238E27FC236}">
                <a16:creationId xmlns:a16="http://schemas.microsoft.com/office/drawing/2014/main" id="{CC960D0C-0F40-72A9-6E72-2BB87D512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505" y="4694517"/>
            <a:ext cx="563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满足此式的</a:t>
            </a:r>
            <a:r>
              <a:rPr lang="en-US" altLang="zh-CN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sz="24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级光栅衍射明纹全部缺级</a:t>
            </a:r>
          </a:p>
        </p:txBody>
      </p:sp>
      <p:graphicFrame>
        <p:nvGraphicFramePr>
          <p:cNvPr id="83" name="对象 22531">
            <a:extLst>
              <a:ext uri="{FF2B5EF4-FFF2-40B4-BE49-F238E27FC236}">
                <a16:creationId xmlns:a16="http://schemas.microsoft.com/office/drawing/2014/main" id="{D5E3B0FE-E0B7-E052-3608-F2097F9AC7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201671"/>
              </p:ext>
            </p:extLst>
          </p:nvPr>
        </p:nvGraphicFramePr>
        <p:xfrm>
          <a:off x="3568790" y="907399"/>
          <a:ext cx="403225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60738" imgH="204086" progId="Equation.3">
                  <p:embed/>
                </p:oleObj>
              </mc:Choice>
              <mc:Fallback>
                <p:oleObj r:id="rId7" imgW="1160738" imgH="204086" progId="Equation.3">
                  <p:embed/>
                  <p:pic>
                    <p:nvPicPr>
                      <p:cNvPr id="90" name="对象 22531">
                        <a:extLst>
                          <a:ext uri="{FF2B5EF4-FFF2-40B4-BE49-F238E27FC236}">
                            <a16:creationId xmlns:a16="http://schemas.microsoft.com/office/drawing/2014/main" id="{D666E70E-CB1C-508A-74FC-B3AEC859FF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90" y="907399"/>
                        <a:ext cx="4032250" cy="7096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" name="文本框 22532">
            <a:extLst>
              <a:ext uri="{FF2B5EF4-FFF2-40B4-BE49-F238E27FC236}">
                <a16:creationId xmlns:a16="http://schemas.microsoft.com/office/drawing/2014/main" id="{6B16B2B1-E2E3-0E5D-3C4B-C7D238E51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3502" y="1701818"/>
            <a:ext cx="17418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缺级</a:t>
            </a:r>
          </a:p>
        </p:txBody>
      </p:sp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5DBE210C-2C78-F9B9-3571-5B8A4BCBC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87595"/>
              </p:ext>
            </p:extLst>
          </p:nvPr>
        </p:nvGraphicFramePr>
        <p:xfrm>
          <a:off x="4400974" y="1558943"/>
          <a:ext cx="2900362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892875" imgH="204086" progId="Equation.3">
                  <p:embed/>
                </p:oleObj>
              </mc:Choice>
              <mc:Fallback>
                <p:oleObj r:id="rId9" imgW="892875" imgH="204086" progId="Equation.3">
                  <p:embed/>
                  <p:pic>
                    <p:nvPicPr>
                      <p:cNvPr id="93" name="对象 92">
                        <a:extLst>
                          <a:ext uri="{FF2B5EF4-FFF2-40B4-BE49-F238E27FC236}">
                            <a16:creationId xmlns:a16="http://schemas.microsoft.com/office/drawing/2014/main" id="{C242644E-C9B5-6D2A-9F53-0C5CF1AD42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974" y="1558943"/>
                        <a:ext cx="2900362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28A284E5-9E86-97BA-EB21-BD5ACF2FAA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164750"/>
              </p:ext>
            </p:extLst>
          </p:nvPr>
        </p:nvGraphicFramePr>
        <p:xfrm>
          <a:off x="4324774" y="2244743"/>
          <a:ext cx="41052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172982" imgH="216747" progId="Equation.3">
                  <p:embed/>
                </p:oleObj>
              </mc:Choice>
              <mc:Fallback>
                <p:oleObj r:id="rId11" imgW="1172982" imgH="216747" progId="Equation.3">
                  <p:embed/>
                  <p:pic>
                    <p:nvPicPr>
                      <p:cNvPr id="94" name="对象 93">
                        <a:extLst>
                          <a:ext uri="{FF2B5EF4-FFF2-40B4-BE49-F238E27FC236}">
                            <a16:creationId xmlns:a16="http://schemas.microsoft.com/office/drawing/2014/main" id="{E18400D9-AAB8-B096-D52D-6A4BF25FF6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774" y="2244743"/>
                        <a:ext cx="410527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B0DF505D-8C39-BEBD-396E-D9DE1725AB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420917"/>
              </p:ext>
            </p:extLst>
          </p:nvPr>
        </p:nvGraphicFramePr>
        <p:xfrm>
          <a:off x="4102190" y="2923524"/>
          <a:ext cx="38163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142930" imgH="342816" progId="Equation.3">
                  <p:embed/>
                </p:oleObj>
              </mc:Choice>
              <mc:Fallback>
                <p:oleObj r:id="rId13" imgW="1142930" imgH="342816" progId="Equation.3">
                  <p:embed/>
                  <p:pic>
                    <p:nvPicPr>
                      <p:cNvPr id="95" name="对象 94">
                        <a:extLst>
                          <a:ext uri="{FF2B5EF4-FFF2-40B4-BE49-F238E27FC236}">
                            <a16:creationId xmlns:a16="http://schemas.microsoft.com/office/drawing/2014/main" id="{C59E6483-77D2-99DB-5694-202F07E7A6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2190" y="2923524"/>
                        <a:ext cx="3816350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2243CF4F-DCFC-9520-0362-9105410DD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195951"/>
              </p:ext>
            </p:extLst>
          </p:nvPr>
        </p:nvGraphicFramePr>
        <p:xfrm>
          <a:off x="3530690" y="4129188"/>
          <a:ext cx="47656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791478" imgH="228699" progId="Equation.3">
                  <p:embed/>
                </p:oleObj>
              </mc:Choice>
              <mc:Fallback>
                <p:oleObj r:id="rId15" imgW="1791478" imgH="228699" progId="Equation.3">
                  <p:embed/>
                  <p:pic>
                    <p:nvPicPr>
                      <p:cNvPr id="96" name="对象 95">
                        <a:extLst>
                          <a:ext uri="{FF2B5EF4-FFF2-40B4-BE49-F238E27FC236}">
                            <a16:creationId xmlns:a16="http://schemas.microsoft.com/office/drawing/2014/main" id="{875836E5-1B65-763C-9D8F-8D0FC083A3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90" y="4129188"/>
                        <a:ext cx="47656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9">
            <a:extLst>
              <a:ext uri="{FF2B5EF4-FFF2-40B4-BE49-F238E27FC236}">
                <a16:creationId xmlns:a16="http://schemas.microsoft.com/office/drawing/2014/main" id="{5022CB97-6742-1D4F-D5E6-431F6C949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925" y="2214564"/>
            <a:ext cx="26225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kumimoji="1" lang="zh-CN" altLang="en-US" dirty="0"/>
              <a:t>斜入射光栅方程：</a:t>
            </a:r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11CE1E9F-254A-6115-3F29-2866E9C6E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146157"/>
              </p:ext>
            </p:extLst>
          </p:nvPr>
        </p:nvGraphicFramePr>
        <p:xfrm>
          <a:off x="1174962" y="2868382"/>
          <a:ext cx="3263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263760" imgH="380880" progId="Equation.3">
                  <p:embed/>
                </p:oleObj>
              </mc:Choice>
              <mc:Fallback>
                <p:oleObj name="公式" r:id="rId17" imgW="3263760" imgH="380880" progId="Equation.3">
                  <p:embed/>
                  <p:pic>
                    <p:nvPicPr>
                      <p:cNvPr id="178186" name="Object 10">
                        <a:extLst>
                          <a:ext uri="{FF2B5EF4-FFF2-40B4-BE49-F238E27FC236}">
                            <a16:creationId xmlns:a16="http://schemas.microsoft.com/office/drawing/2014/main" id="{3B848CF4-3993-84EE-3C21-0E57CAEF63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962" y="2868382"/>
                        <a:ext cx="3263900" cy="3810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25400" algn="ctr">
                        <a:solidFill>
                          <a:srgbClr val="99CC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2">
            <a:extLst>
              <a:ext uri="{FF2B5EF4-FFF2-40B4-BE49-F238E27FC236}">
                <a16:creationId xmlns:a16="http://schemas.microsoft.com/office/drawing/2014/main" id="{E949E37E-9A15-CEE2-D894-9BEF158668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892362"/>
              </p:ext>
            </p:extLst>
          </p:nvPr>
        </p:nvGraphicFramePr>
        <p:xfrm>
          <a:off x="1849650" y="3589107"/>
          <a:ext cx="1422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422360" imgH="330120" progId="Equation.3">
                  <p:embed/>
                </p:oleObj>
              </mc:Choice>
              <mc:Fallback>
                <p:oleObj name="公式" r:id="rId19" imgW="1422360" imgH="330120" progId="Equation.3">
                  <p:embed/>
                  <p:pic>
                    <p:nvPicPr>
                      <p:cNvPr id="178268" name="Object 92">
                        <a:extLst>
                          <a:ext uri="{FF2B5EF4-FFF2-40B4-BE49-F238E27FC236}">
                            <a16:creationId xmlns:a16="http://schemas.microsoft.com/office/drawing/2014/main" id="{30A1840C-A263-4387-6A66-D2FA4F2091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9650" y="3589107"/>
                        <a:ext cx="1422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6">
            <a:extLst>
              <a:ext uri="{FF2B5EF4-FFF2-40B4-BE49-F238E27FC236}">
                <a16:creationId xmlns:a16="http://schemas.microsoft.com/office/drawing/2014/main" id="{5C9F862B-637C-F224-2030-84243A36E4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543" y="3999333"/>
            <a:ext cx="15696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dirty="0"/>
              <a:t>光强正比于</a:t>
            </a:r>
            <a:r>
              <a:rPr kumimoji="1"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N</a:t>
            </a:r>
            <a:r>
              <a:rPr kumimoji="1" lang="en-US" altLang="zh-CN" i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2</a:t>
            </a:r>
            <a:endParaRPr kumimoji="1" lang="en-US" altLang="zh-CN" dirty="0"/>
          </a:p>
        </p:txBody>
      </p:sp>
      <p:graphicFrame>
        <p:nvGraphicFramePr>
          <p:cNvPr id="9" name="Object 17">
            <a:extLst>
              <a:ext uri="{FF2B5EF4-FFF2-40B4-BE49-F238E27FC236}">
                <a16:creationId xmlns:a16="http://schemas.microsoft.com/office/drawing/2014/main" id="{9C727D57-16A7-E1A1-6530-E405357F00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716407"/>
              </p:ext>
            </p:extLst>
          </p:nvPr>
        </p:nvGraphicFramePr>
        <p:xfrm>
          <a:off x="1277234" y="4481564"/>
          <a:ext cx="2133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133360" imgH="799920" progId="Equation.3">
                  <p:embed/>
                </p:oleObj>
              </mc:Choice>
              <mc:Fallback>
                <p:oleObj name="公式" r:id="rId21" imgW="2133360" imgH="799920" progId="Equation.3">
                  <p:embed/>
                  <p:pic>
                    <p:nvPicPr>
                      <p:cNvPr id="181265" name="Object 17">
                        <a:extLst>
                          <a:ext uri="{FF2B5EF4-FFF2-40B4-BE49-F238E27FC236}">
                            <a16:creationId xmlns:a16="http://schemas.microsoft.com/office/drawing/2014/main" id="{F4FC8AB4-9753-9CEF-C3D6-6BA9C7038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234" y="4481564"/>
                        <a:ext cx="2133600" cy="8001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25400" algn="ctr">
                        <a:solidFill>
                          <a:srgbClr val="99CC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634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4" grpId="0" autoUpdateAnimBg="0"/>
      <p:bldP spid="5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AutoShape 3">
            <a:extLst>
              <a:ext uri="{FF2B5EF4-FFF2-40B4-BE49-F238E27FC236}">
                <a16:creationId xmlns:a16="http://schemas.microsoft.com/office/drawing/2014/main" id="{25A70120-7AD6-6E2F-6A64-D0012D687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52400"/>
            <a:ext cx="3706813" cy="914400"/>
          </a:xfrm>
          <a:prstGeom prst="wedgeRoundRectCallout">
            <a:avLst>
              <a:gd name="adj1" fmla="val 22977"/>
              <a:gd name="adj2" fmla="val -11630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干涉衍射证明光是波，偏振证明光是什么？</a:t>
            </a:r>
            <a:endParaRPr lang="zh-CN" altLang="en-US" sz="2400" b="0"/>
          </a:p>
        </p:txBody>
      </p:sp>
      <p:sp>
        <p:nvSpPr>
          <p:cNvPr id="16388" name="AutoShape 4">
            <a:extLst>
              <a:ext uri="{FF2B5EF4-FFF2-40B4-BE49-F238E27FC236}">
                <a16:creationId xmlns:a16="http://schemas.microsoft.com/office/drawing/2014/main" id="{715DC26A-722F-379F-1D5B-B6729C514FF9}"/>
              </a:ext>
            </a:extLst>
          </p:cNvPr>
          <p:cNvSpPr>
            <a:spLocks/>
          </p:cNvSpPr>
          <p:nvPr/>
        </p:nvSpPr>
        <p:spPr bwMode="auto">
          <a:xfrm>
            <a:off x="838200" y="996950"/>
            <a:ext cx="287338" cy="2895600"/>
          </a:xfrm>
          <a:prstGeom prst="leftBrace">
            <a:avLst>
              <a:gd name="adj1" fmla="val 839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6389" name="Text Box 5">
            <a:extLst>
              <a:ext uri="{FF2B5EF4-FFF2-40B4-BE49-F238E27FC236}">
                <a16:creationId xmlns:a16="http://schemas.microsoft.com/office/drawing/2014/main" id="{A53B01FB-D56C-79D7-57A7-A6762B0D6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685800"/>
            <a:ext cx="1903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>
                <a:solidFill>
                  <a:schemeClr val="accent2"/>
                </a:solidFill>
                <a:latin typeface="Times New Roman" charset="0"/>
                <a:ea typeface="楷体_GB2312" charset="0"/>
              </a:rPr>
              <a:t>自然光</a:t>
            </a:r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CEF91405-8FCE-1E71-99B8-65734D20F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063750"/>
            <a:ext cx="1103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>
                <a:solidFill>
                  <a:schemeClr val="accent2"/>
                </a:solidFill>
                <a:latin typeface="Times New Roman" charset="0"/>
                <a:ea typeface="楷体_GB2312" charset="0"/>
              </a:rPr>
              <a:t>偏振光</a:t>
            </a:r>
          </a:p>
        </p:txBody>
      </p:sp>
      <p:sp>
        <p:nvSpPr>
          <p:cNvPr id="16391" name="AutoShape 7">
            <a:extLst>
              <a:ext uri="{FF2B5EF4-FFF2-40B4-BE49-F238E27FC236}">
                <a16:creationId xmlns:a16="http://schemas.microsoft.com/office/drawing/2014/main" id="{E1AE4A8E-73C3-7C5F-7AF9-DBB7AC46A4E3}"/>
              </a:ext>
            </a:extLst>
          </p:cNvPr>
          <p:cNvSpPr>
            <a:spLocks/>
          </p:cNvSpPr>
          <p:nvPr/>
        </p:nvSpPr>
        <p:spPr bwMode="auto">
          <a:xfrm>
            <a:off x="2209800" y="1758950"/>
            <a:ext cx="287338" cy="1371600"/>
          </a:xfrm>
          <a:prstGeom prst="leftBrace">
            <a:avLst>
              <a:gd name="adj1" fmla="val 3977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Times New Roman" charset="0"/>
              <a:ea typeface="楷体_GB2312" charset="0"/>
            </a:endParaRPr>
          </a:p>
        </p:txBody>
      </p:sp>
      <p:sp>
        <p:nvSpPr>
          <p:cNvPr id="16392" name="Text Box 8">
            <a:extLst>
              <a:ext uri="{FF2B5EF4-FFF2-40B4-BE49-F238E27FC236}">
                <a16:creationId xmlns:a16="http://schemas.microsoft.com/office/drawing/2014/main" id="{0DFE0502-6459-1254-7FFC-CC15E105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530350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chemeClr val="accent2"/>
                </a:solidFill>
              </a:rPr>
              <a:t>线偏振光</a:t>
            </a:r>
          </a:p>
        </p:txBody>
      </p:sp>
      <p:sp>
        <p:nvSpPr>
          <p:cNvPr id="16393" name="Text Box 9">
            <a:extLst>
              <a:ext uri="{FF2B5EF4-FFF2-40B4-BE49-F238E27FC236}">
                <a16:creationId xmlns:a16="http://schemas.microsoft.com/office/drawing/2014/main" id="{89F4CD11-40D5-4DF7-60DD-D81CF1BE3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16150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accent2"/>
                </a:solidFill>
              </a:rPr>
              <a:t>*</a:t>
            </a:r>
            <a:r>
              <a:rPr lang="zh-CN" altLang="en-US" sz="2400" dirty="0">
                <a:solidFill>
                  <a:schemeClr val="accent2"/>
                </a:solidFill>
              </a:rPr>
              <a:t>圆偏振光</a:t>
            </a:r>
          </a:p>
        </p:txBody>
      </p:sp>
      <p:sp>
        <p:nvSpPr>
          <p:cNvPr id="16394" name="Text Box 10">
            <a:extLst>
              <a:ext uri="{FF2B5EF4-FFF2-40B4-BE49-F238E27FC236}">
                <a16:creationId xmlns:a16="http://schemas.microsoft.com/office/drawing/2014/main" id="{EAC7CEEE-3BB0-6588-C1B2-1B67A6282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901950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accent2"/>
                </a:solidFill>
              </a:rPr>
              <a:t>*</a:t>
            </a:r>
            <a:r>
              <a:rPr lang="zh-CN" altLang="en-US" sz="2400" dirty="0">
                <a:solidFill>
                  <a:schemeClr val="accent2"/>
                </a:solidFill>
              </a:rPr>
              <a:t>椭圆偏振光</a:t>
            </a:r>
          </a:p>
        </p:txBody>
      </p:sp>
      <p:sp>
        <p:nvSpPr>
          <p:cNvPr id="16395" name="Text Box 11">
            <a:extLst>
              <a:ext uri="{FF2B5EF4-FFF2-40B4-BE49-F238E27FC236}">
                <a16:creationId xmlns:a16="http://schemas.microsoft.com/office/drawing/2014/main" id="{15581AE6-84CB-9CD8-A7FA-FDD8EE40A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587750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>
                <a:solidFill>
                  <a:schemeClr val="accent2"/>
                </a:solidFill>
                <a:latin typeface="Times New Roman" charset="0"/>
                <a:ea typeface="楷体_GB2312" charset="0"/>
              </a:rPr>
              <a:t>部分偏振光</a:t>
            </a:r>
          </a:p>
        </p:txBody>
      </p:sp>
      <p:sp>
        <p:nvSpPr>
          <p:cNvPr id="16396" name="Text Box 12">
            <a:extLst>
              <a:ext uri="{FF2B5EF4-FFF2-40B4-BE49-F238E27FC236}">
                <a16:creationId xmlns:a16="http://schemas.microsoft.com/office/drawing/2014/main" id="{D344E3F7-6E3E-B54F-CB17-EDF05CBF4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" y="203200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-122"/>
              </a:rPr>
              <a:t>光</a:t>
            </a:r>
          </a:p>
        </p:txBody>
      </p:sp>
      <p:sp>
        <p:nvSpPr>
          <p:cNvPr id="16397" name="AutoShape 13">
            <a:extLst>
              <a:ext uri="{FF2B5EF4-FFF2-40B4-BE49-F238E27FC236}">
                <a16:creationId xmlns:a16="http://schemas.microsoft.com/office/drawing/2014/main" id="{5F0B14BD-C690-B371-971B-96B6A9FEC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813" y="3587750"/>
            <a:ext cx="5257800" cy="609600"/>
          </a:xfrm>
          <a:prstGeom prst="wedgeRoundRectCallout">
            <a:avLst>
              <a:gd name="adj1" fmla="val -52023"/>
              <a:gd name="adj2" fmla="val 132032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要理解这些概念，理解两个定律！</a:t>
            </a:r>
            <a:endParaRPr lang="zh-CN" altLang="en-US" sz="2400" b="0"/>
          </a:p>
        </p:txBody>
      </p:sp>
      <p:sp>
        <p:nvSpPr>
          <p:cNvPr id="16399" name="AutoShape 15">
            <a:extLst>
              <a:ext uri="{FF2B5EF4-FFF2-40B4-BE49-F238E27FC236}">
                <a16:creationId xmlns:a16="http://schemas.microsoft.com/office/drawing/2014/main" id="{2DDB0E13-6092-CB46-53C1-1FB156A11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438400"/>
            <a:ext cx="4267200" cy="914400"/>
          </a:xfrm>
          <a:prstGeom prst="wedgeRoundRectCallout">
            <a:avLst>
              <a:gd name="adj1" fmla="val -32292"/>
              <a:gd name="adj2" fmla="val 49829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了解线偏振光的获得方法和检验方法。</a:t>
            </a:r>
            <a:endParaRPr lang="zh-CN" altLang="en-US" sz="2400" b="0"/>
          </a:p>
        </p:txBody>
      </p:sp>
      <p:grpSp>
        <p:nvGrpSpPr>
          <p:cNvPr id="16413" name="Group 29">
            <a:extLst>
              <a:ext uri="{FF2B5EF4-FFF2-40B4-BE49-F238E27FC236}">
                <a16:creationId xmlns:a16="http://schemas.microsoft.com/office/drawing/2014/main" id="{852A0189-C0C4-358D-C9AD-0407404498B2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197350"/>
            <a:ext cx="4953000" cy="636588"/>
            <a:chOff x="432" y="2644"/>
            <a:chExt cx="3120" cy="401"/>
          </a:xfrm>
        </p:grpSpPr>
        <p:sp>
          <p:nvSpPr>
            <p:cNvPr id="16398" name="Rectangle 14">
              <a:extLst>
                <a:ext uri="{FF2B5EF4-FFF2-40B4-BE49-F238E27FC236}">
                  <a16:creationId xmlns:a16="http://schemas.microsoft.com/office/drawing/2014/main" id="{52136CAC-50B5-9605-66C7-45FF3FB58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644"/>
              <a:ext cx="163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马吕斯定律</a:t>
              </a:r>
            </a:p>
          </p:txBody>
        </p:sp>
        <p:sp>
          <p:nvSpPr>
            <p:cNvPr id="16401" name="Rectangle 17" descr="10%">
              <a:extLst>
                <a:ext uri="{FF2B5EF4-FFF2-40B4-BE49-F238E27FC236}">
                  <a16:creationId xmlns:a16="http://schemas.microsoft.com/office/drawing/2014/main" id="{27EC5073-C5BB-B007-92E3-758BC2CAC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692"/>
              <a:ext cx="1392" cy="336"/>
            </a:xfrm>
            <a:prstGeom prst="rect">
              <a:avLst/>
            </a:prstGeom>
            <a:pattFill prst="pct10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Times New Roman" charset="0"/>
                <a:ea typeface="楷体_GB2312" charset="0"/>
              </a:endParaRPr>
            </a:p>
          </p:txBody>
        </p:sp>
        <p:graphicFrame>
          <p:nvGraphicFramePr>
            <p:cNvPr id="33819" name="Object 19">
              <a:extLst>
                <a:ext uri="{FF2B5EF4-FFF2-40B4-BE49-F238E27FC236}">
                  <a16:creationId xmlns:a16="http://schemas.microsoft.com/office/drawing/2014/main" id="{1A0109A3-3750-B4B9-3BFD-224E7C7097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0" y="2692"/>
            <a:ext cx="1210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825500" imgH="241300" progId="Equation.3">
                    <p:embed/>
                  </p:oleObj>
                </mc:Choice>
                <mc:Fallback>
                  <p:oleObj name="Equation" r:id="rId2" imgW="825500" imgH="241300" progId="Equation.3">
                    <p:embed/>
                    <p:pic>
                      <p:nvPicPr>
                        <p:cNvPr id="33819" name="Object 19">
                          <a:extLst>
                            <a:ext uri="{FF2B5EF4-FFF2-40B4-BE49-F238E27FC236}">
                              <a16:creationId xmlns:a16="http://schemas.microsoft.com/office/drawing/2014/main" id="{1A0109A3-3750-B4B9-3BFD-224E7C7097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2692"/>
                          <a:ext cx="1210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414" name="Group 30">
            <a:extLst>
              <a:ext uri="{FF2B5EF4-FFF2-40B4-BE49-F238E27FC236}">
                <a16:creationId xmlns:a16="http://schemas.microsoft.com/office/drawing/2014/main" id="{9AB3E042-7A81-F768-1855-8E2F217AFA79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883150"/>
            <a:ext cx="8139113" cy="1663700"/>
            <a:chOff x="384" y="3076"/>
            <a:chExt cx="5127" cy="1048"/>
          </a:xfrm>
        </p:grpSpPr>
        <p:sp>
          <p:nvSpPr>
            <p:cNvPr id="16405" name="Rectangle 21">
              <a:extLst>
                <a:ext uri="{FF2B5EF4-FFF2-40B4-BE49-F238E27FC236}">
                  <a16:creationId xmlns:a16="http://schemas.microsoft.com/office/drawing/2014/main" id="{AC6733B6-0663-E5A7-A34F-4CA26ADCC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3172"/>
              <a:ext cx="223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1" hangingPunct="1">
                <a:defRPr/>
              </a:pP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楷体_GB2312" charset="0"/>
                </a:rPr>
                <a:t>布儒斯特定律</a:t>
              </a:r>
              <a:r>
                <a:rPr lang="zh-CN" altLang="en-US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charset="0"/>
                  <a:ea typeface="宋体" charset="-122"/>
                </a:rPr>
                <a:t>：</a:t>
              </a:r>
            </a:p>
          </p:txBody>
        </p:sp>
        <p:grpSp>
          <p:nvGrpSpPr>
            <p:cNvPr id="33810" name="Group 22">
              <a:extLst>
                <a:ext uri="{FF2B5EF4-FFF2-40B4-BE49-F238E27FC236}">
                  <a16:creationId xmlns:a16="http://schemas.microsoft.com/office/drawing/2014/main" id="{D1D63178-3028-43BE-75DA-A7C37A3D90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3076"/>
              <a:ext cx="2860" cy="576"/>
              <a:chOff x="2245" y="414"/>
              <a:chExt cx="2860" cy="576"/>
            </a:xfrm>
          </p:grpSpPr>
          <p:graphicFrame>
            <p:nvGraphicFramePr>
              <p:cNvPr id="33813" name="Object 23">
                <a:extLst>
                  <a:ext uri="{FF2B5EF4-FFF2-40B4-BE49-F238E27FC236}">
                    <a16:creationId xmlns:a16="http://schemas.microsoft.com/office/drawing/2014/main" id="{531E1983-1413-90B1-1A19-C0DCEC4C5F9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45" y="414"/>
              <a:ext cx="803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1282700" imgH="914400" progId="Equation.3">
                      <p:embed/>
                    </p:oleObj>
                  </mc:Choice>
                  <mc:Fallback>
                    <p:oleObj name="公式" r:id="rId4" imgW="1282700" imgH="914400" progId="Equation.3">
                      <p:embed/>
                      <p:pic>
                        <p:nvPicPr>
                          <p:cNvPr id="33813" name="Object 23">
                            <a:extLst>
                              <a:ext uri="{FF2B5EF4-FFF2-40B4-BE49-F238E27FC236}">
                                <a16:creationId xmlns:a16="http://schemas.microsoft.com/office/drawing/2014/main" id="{531E1983-1413-90B1-1A19-C0DCEC4C5F9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45" y="414"/>
                            <a:ext cx="803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3814" name="Group 24">
                <a:extLst>
                  <a:ext uri="{FF2B5EF4-FFF2-40B4-BE49-F238E27FC236}">
                    <a16:creationId xmlns:a16="http://schemas.microsoft.com/office/drawing/2014/main" id="{39F745F3-609E-A581-D8CF-A0CA474C28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60" y="539"/>
                <a:ext cx="1645" cy="327"/>
                <a:chOff x="3460" y="539"/>
                <a:chExt cx="1645" cy="327"/>
              </a:xfrm>
            </p:grpSpPr>
            <p:graphicFrame>
              <p:nvGraphicFramePr>
                <p:cNvPr id="33815" name="Object 25">
                  <a:extLst>
                    <a:ext uri="{FF2B5EF4-FFF2-40B4-BE49-F238E27FC236}">
                      <a16:creationId xmlns:a16="http://schemas.microsoft.com/office/drawing/2014/main" id="{568238B0-A8BD-F045-2CD0-4E855E69F346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460" y="569"/>
                <a:ext cx="160" cy="2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6" imgW="253890" imgH="431613" progId="Equation.3">
                        <p:embed/>
                      </p:oleObj>
                    </mc:Choice>
                    <mc:Fallback>
                      <p:oleObj name="公式" r:id="rId6" imgW="253890" imgH="431613" progId="Equation.3">
                        <p:embed/>
                        <p:pic>
                          <p:nvPicPr>
                            <p:cNvPr id="33815" name="Object 25">
                              <a:extLst>
                                <a:ext uri="{FF2B5EF4-FFF2-40B4-BE49-F238E27FC236}">
                                  <a16:creationId xmlns:a16="http://schemas.microsoft.com/office/drawing/2014/main" id="{568238B0-A8BD-F045-2CD0-4E855E69F34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460" y="569"/>
                              <a:ext cx="160" cy="27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6410" name="Rectangle 26">
                  <a:extLst>
                    <a:ext uri="{FF2B5EF4-FFF2-40B4-BE49-F238E27FC236}">
                      <a16:creationId xmlns:a16="http://schemas.microsoft.com/office/drawing/2014/main" id="{C2BB276B-75AF-A463-7333-5789836307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84" y="539"/>
                  <a:ext cx="1521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1" hangingPunct="1">
                    <a:defRPr/>
                  </a:pPr>
                  <a:r>
                    <a:rPr lang="zh-CN" altLang="en-US">
                      <a:latin typeface="Times New Roman" charset="0"/>
                      <a:ea typeface="宋体" charset="-122"/>
                    </a:rPr>
                    <a:t>布儒斯特角</a:t>
                  </a:r>
                  <a:r>
                    <a:rPr lang="zh-CN" altLang="en-US" b="0">
                      <a:latin typeface="Times New Roman" charset="0"/>
                      <a:ea typeface="宋体" charset="-122"/>
                    </a:rPr>
                    <a:t>． </a:t>
                  </a:r>
                </a:p>
              </p:txBody>
            </p:sp>
          </p:grpSp>
        </p:grpSp>
        <p:graphicFrame>
          <p:nvGraphicFramePr>
            <p:cNvPr id="33811" name="Object 27">
              <a:extLst>
                <a:ext uri="{FF2B5EF4-FFF2-40B4-BE49-F238E27FC236}">
                  <a16:creationId xmlns:a16="http://schemas.microsoft.com/office/drawing/2014/main" id="{1D743456-F4C0-8258-C866-0CF89CBD1D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0" y="3696"/>
            <a:ext cx="768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460500" imgH="825500" progId="Equation.3">
                    <p:embed/>
                  </p:oleObj>
                </mc:Choice>
                <mc:Fallback>
                  <p:oleObj name="公式" r:id="rId8" imgW="1460500" imgH="825500" progId="Equation.3">
                    <p:embed/>
                    <p:pic>
                      <p:nvPicPr>
                        <p:cNvPr id="33811" name="Object 27">
                          <a:extLst>
                            <a:ext uri="{FF2B5EF4-FFF2-40B4-BE49-F238E27FC236}">
                              <a16:creationId xmlns:a16="http://schemas.microsoft.com/office/drawing/2014/main" id="{1D743456-F4C0-8258-C866-0CF89CBD1D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3696"/>
                          <a:ext cx="768" cy="4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2" name="Rectangle 28">
              <a:extLst>
                <a:ext uri="{FF2B5EF4-FFF2-40B4-BE49-F238E27FC236}">
                  <a16:creationId xmlns:a16="http://schemas.microsoft.com/office/drawing/2014/main" id="{90CA341C-1E89-B0EE-BC2E-96A728EEB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552"/>
              <a:ext cx="2151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accent2"/>
                  </a:solidFill>
                </a:rPr>
                <a:t>反射光线和折射光线的传播方向互相垂直！</a:t>
              </a:r>
            </a:p>
          </p:txBody>
        </p:sp>
      </p:grpSp>
      <p:sp>
        <p:nvSpPr>
          <p:cNvPr id="2" name="Rectangle 4">
            <a:extLst>
              <a:ext uri="{FF2B5EF4-FFF2-40B4-BE49-F238E27FC236}">
                <a16:creationId xmlns:a16="http://schemas.microsoft.com/office/drawing/2014/main" id="{CE0E8722-59E7-CA0B-C2B6-69B0CE52E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107950"/>
            <a:ext cx="28082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/>
              <a:t>偏振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 autoUpdateAnimBg="0"/>
      <p:bldP spid="16397" grpId="0" animBg="1" autoUpdateAnimBg="0"/>
      <p:bldP spid="16399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 hidden="1">
            <a:extLst>
              <a:ext uri="{FF2B5EF4-FFF2-40B4-BE49-F238E27FC236}">
                <a16:creationId xmlns:a16="http://schemas.microsoft.com/office/drawing/2014/main" id="{7C02603A-8964-F9A6-D8BF-2EC2361FC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B61A125-6685-19B3-F159-E55002D66D32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8878" y="0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1F5887-C0B1-36EF-FCC5-C0DDCFC1056A}"/>
              </a:ext>
            </a:extLst>
          </p:cNvPr>
          <p:cNvSpPr/>
          <p:nvPr/>
        </p:nvSpPr>
        <p:spPr>
          <a:xfrm>
            <a:off x="1225118" y="365126"/>
            <a:ext cx="1127465" cy="55815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 hidden="1">
            <a:extLst>
              <a:ext uri="{FF2B5EF4-FFF2-40B4-BE49-F238E27FC236}">
                <a16:creationId xmlns:a16="http://schemas.microsoft.com/office/drawing/2014/main" id="{F018E402-215C-3BD2-5F05-910998DD2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8CA3EFE-B5C8-C643-220F-A59D16F476CF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8878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 hidden="1">
            <a:extLst>
              <a:ext uri="{FF2B5EF4-FFF2-40B4-BE49-F238E27FC236}">
                <a16:creationId xmlns:a16="http://schemas.microsoft.com/office/drawing/2014/main" id="{5388360A-C043-34AA-73BA-2E857CC9F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B648B8A-B5B4-5FBE-11C8-CA3532FC7C7E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 hidden="1">
            <a:extLst>
              <a:ext uri="{FF2B5EF4-FFF2-40B4-BE49-F238E27FC236}">
                <a16:creationId xmlns:a16="http://schemas.microsoft.com/office/drawing/2014/main" id="{BA183F1F-F748-8E44-A22F-DAAC50137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EA9B2A5-AFA6-E181-4008-AE13C4795E88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 hidden="1">
            <a:extLst>
              <a:ext uri="{FF2B5EF4-FFF2-40B4-BE49-F238E27FC236}">
                <a16:creationId xmlns:a16="http://schemas.microsoft.com/office/drawing/2014/main" id="{DC64A1A7-DA4D-D382-6A17-D137ACF9ED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44FA80D-CF51-914F-8C6E-D57F4BB890EA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 hidden="1">
            <a:extLst>
              <a:ext uri="{FF2B5EF4-FFF2-40B4-BE49-F238E27FC236}">
                <a16:creationId xmlns:a16="http://schemas.microsoft.com/office/drawing/2014/main" id="{A4CDC6E5-E32C-07E5-1EBE-CE4864247A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E65253B-1E6A-5CC8-0952-3BD6C589AC10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 hidden="1">
            <a:extLst>
              <a:ext uri="{FF2B5EF4-FFF2-40B4-BE49-F238E27FC236}">
                <a16:creationId xmlns:a16="http://schemas.microsoft.com/office/drawing/2014/main" id="{C89A6229-47CB-45B3-8431-1A59FF29A0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A192D9D-1A4B-90D6-053B-19BA71A3372F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 hidden="1">
            <a:extLst>
              <a:ext uri="{FF2B5EF4-FFF2-40B4-BE49-F238E27FC236}">
                <a16:creationId xmlns:a16="http://schemas.microsoft.com/office/drawing/2014/main" id="{C6A55E94-528A-64F6-02DF-9C078C917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2C2E372-E84B-EA27-4802-8522CFCAFA6D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8878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2062133-AC76-282C-DE35-0C4B75B460BE}"/>
              </a:ext>
            </a:extLst>
          </p:cNvPr>
          <p:cNvSpPr/>
          <p:nvPr/>
        </p:nvSpPr>
        <p:spPr>
          <a:xfrm>
            <a:off x="1669002" y="470517"/>
            <a:ext cx="1109709" cy="55041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 hidden="1">
            <a:extLst>
              <a:ext uri="{FF2B5EF4-FFF2-40B4-BE49-F238E27FC236}">
                <a16:creationId xmlns:a16="http://schemas.microsoft.com/office/drawing/2014/main" id="{6CBDF809-88B9-7051-4103-3FBA07A73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6CECA8B-239F-7CBA-373D-31B00492A519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 hidden="1">
            <a:extLst>
              <a:ext uri="{FF2B5EF4-FFF2-40B4-BE49-F238E27FC236}">
                <a16:creationId xmlns:a16="http://schemas.microsoft.com/office/drawing/2014/main" id="{B1BD84B3-2CE6-D035-7A81-ACC1DD54B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4709BFD-F971-F12D-9B15-3276C4477397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A7B5B8D8-3DF4-D050-2095-7920923EC462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78" name="Rectangle 2" hidden="1">
            <a:extLst>
              <a:ext uri="{FF2B5EF4-FFF2-40B4-BE49-F238E27FC236}">
                <a16:creationId xmlns:a16="http://schemas.microsoft.com/office/drawing/2014/main" id="{E8ECB939-C51A-7037-9AB2-B695D3945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2D3D56-6F30-A42A-C6AF-AFCBB5CC52BA}"/>
              </a:ext>
            </a:extLst>
          </p:cNvPr>
          <p:cNvSpPr txBox="1"/>
          <p:nvPr/>
        </p:nvSpPr>
        <p:spPr>
          <a:xfrm>
            <a:off x="628650" y="5584723"/>
            <a:ext cx="6436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正晶体 </a:t>
            </a:r>
            <a:r>
              <a:rPr lang="en-US" altLang="zh-CN" dirty="0"/>
              <a:t>n</a:t>
            </a:r>
            <a:r>
              <a:rPr lang="en-US" altLang="zh-CN" baseline="-25000" dirty="0"/>
              <a:t>e</a:t>
            </a:r>
            <a:r>
              <a:rPr lang="en-US" altLang="zh-CN" dirty="0"/>
              <a:t>&gt; n</a:t>
            </a:r>
            <a:r>
              <a:rPr lang="en-US" altLang="zh-CN" baseline="-25000" dirty="0"/>
              <a:t>o</a:t>
            </a:r>
            <a:r>
              <a:rPr lang="en-US" altLang="zh-CN" dirty="0"/>
              <a:t> </a:t>
            </a:r>
            <a:r>
              <a:rPr lang="zh-CN" altLang="en-US" dirty="0"/>
              <a:t>光轴方向为慢轴，沿着光轴方向的振动相位落后</a:t>
            </a:r>
            <a:r>
              <a:rPr lang="en-US" altLang="zh-CN" baseline="-25000" dirty="0"/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6A0524-AFA0-BA67-9DC7-1646077DA319}"/>
              </a:ext>
            </a:extLst>
          </p:cNvPr>
          <p:cNvSpPr txBox="1"/>
          <p:nvPr/>
        </p:nvSpPr>
        <p:spPr>
          <a:xfrm>
            <a:off x="628649" y="6121204"/>
            <a:ext cx="6383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负晶体 </a:t>
            </a:r>
            <a:r>
              <a:rPr lang="en-US" altLang="zh-CN" dirty="0"/>
              <a:t>n</a:t>
            </a:r>
            <a:r>
              <a:rPr lang="en-US" altLang="zh-CN" baseline="-25000" dirty="0"/>
              <a:t>e</a:t>
            </a:r>
            <a:r>
              <a:rPr lang="en-US" altLang="zh-CN" dirty="0"/>
              <a:t>&lt;n</a:t>
            </a:r>
            <a:r>
              <a:rPr lang="en-US" altLang="zh-CN" baseline="-25000" dirty="0"/>
              <a:t>o</a:t>
            </a:r>
            <a:r>
              <a:rPr lang="en-US" altLang="zh-CN" dirty="0"/>
              <a:t> </a:t>
            </a:r>
            <a:r>
              <a:rPr lang="zh-CN" altLang="en-US" dirty="0"/>
              <a:t>光轴方向为快轴，沿着光轴方向的振动相位超前</a:t>
            </a:r>
            <a:r>
              <a:rPr lang="en-US" altLang="zh-CN" baseline="-25000" dirty="0"/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 hidden="1">
            <a:extLst>
              <a:ext uri="{FF2B5EF4-FFF2-40B4-BE49-F238E27FC236}">
                <a16:creationId xmlns:a16="http://schemas.microsoft.com/office/drawing/2014/main" id="{828DA917-76C8-364F-BBC7-BB8D4B245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CC69507-B603-64A5-CA00-B457DAEE8CE6}"/>
              </a:ext>
            </a:extLst>
          </p:cNvPr>
          <p:cNvSpPr>
            <a:spLocks noGrp="1" noChangeAspect="1" noChangeArrowheads="1"/>
          </p:cNvSpPr>
          <p:nvPr isPhoto="1"/>
        </p:nvSpPr>
        <p:spPr bwMode="auto"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6">
            <a:extLst>
              <a:ext uri="{FF2B5EF4-FFF2-40B4-BE49-F238E27FC236}">
                <a16:creationId xmlns:a16="http://schemas.microsoft.com/office/drawing/2014/main" id="{70342C66-089F-12D1-6B05-69119DBC9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115888"/>
            <a:ext cx="85693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5.8    </a:t>
            </a:r>
            <a:r>
              <a:rPr kumimoji="0" lang="zh-CN" altLang="en-US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偏振态的实验检验</a:t>
            </a:r>
            <a:r>
              <a:rPr kumimoji="0" lang="zh-CN" altLang="en-US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               </a:t>
            </a:r>
          </a:p>
        </p:txBody>
      </p:sp>
      <p:sp>
        <p:nvSpPr>
          <p:cNvPr id="111619" name="Text Box 2">
            <a:extLst>
              <a:ext uri="{FF2B5EF4-FFF2-40B4-BE49-F238E27FC236}">
                <a16:creationId xmlns:a16="http://schemas.microsoft.com/office/drawing/2014/main" id="{2DFBE720-292D-4BEE-A5FB-9A1847FD3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711200"/>
            <a:ext cx="4675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5.8.1 </a:t>
            </a:r>
            <a:r>
              <a:rPr kumimoji="0" lang="zh-CN" altLang="en-US" sz="28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偏振态的检验                 </a:t>
            </a:r>
          </a:p>
        </p:txBody>
      </p:sp>
      <p:sp>
        <p:nvSpPr>
          <p:cNvPr id="111620" name="Text Box 44">
            <a:extLst>
              <a:ext uri="{FF2B5EF4-FFF2-40B4-BE49-F238E27FC236}">
                <a16:creationId xmlns:a16="http://schemas.microsoft.com/office/drawing/2014/main" id="{CB182E68-B1E4-BE01-9018-1D1B92929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1430338"/>
            <a:ext cx="1200150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入射光</a:t>
            </a:r>
          </a:p>
        </p:txBody>
      </p:sp>
      <p:sp>
        <p:nvSpPr>
          <p:cNvPr id="111621" name="Line 45">
            <a:extLst>
              <a:ext uri="{FF2B5EF4-FFF2-40B4-BE49-F238E27FC236}">
                <a16:creationId xmlns:a16="http://schemas.microsoft.com/office/drawing/2014/main" id="{34B7BB96-322C-85A5-1E62-1F47A62C46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063" y="1946275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1622" name="Text Box 46">
            <a:extLst>
              <a:ext uri="{FF2B5EF4-FFF2-40B4-BE49-F238E27FC236}">
                <a16:creationId xmlns:a16="http://schemas.microsoft.com/office/drawing/2014/main" id="{E1CBBD7E-CBB7-C915-C298-1666D9CA1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2252663"/>
            <a:ext cx="2120900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  </a:t>
            </a: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转动偏振片   </a:t>
            </a:r>
          </a:p>
        </p:txBody>
      </p:sp>
      <p:sp>
        <p:nvSpPr>
          <p:cNvPr id="111623" name="Text Box 47">
            <a:extLst>
              <a:ext uri="{FF2B5EF4-FFF2-40B4-BE49-F238E27FC236}">
                <a16:creationId xmlns:a16="http://schemas.microsoft.com/office/drawing/2014/main" id="{2B83674B-0B4A-E78B-B08D-DC3FAE0D5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" y="3195638"/>
            <a:ext cx="1700213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ea typeface="方正姚体" panose="02010601030101010101" pitchFamily="2" charset="-122"/>
              </a:rPr>
              <a:t>I</a:t>
            </a: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变</a:t>
            </a:r>
            <a:r>
              <a:rPr kumimoji="0" lang="en-US" altLang="zh-CN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, </a:t>
            </a: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有消光</a:t>
            </a:r>
          </a:p>
        </p:txBody>
      </p:sp>
      <p:sp>
        <p:nvSpPr>
          <p:cNvPr id="111624" name="Text Box 48">
            <a:extLst>
              <a:ext uri="{FF2B5EF4-FFF2-40B4-BE49-F238E27FC236}">
                <a16:creationId xmlns:a16="http://schemas.microsoft.com/office/drawing/2014/main" id="{FCDEBD93-423C-5588-C2DE-BAF43EA20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8475" y="3165475"/>
            <a:ext cx="2006600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>
                <a:latin typeface="Times New Roman" panose="02020603050405020304" pitchFamily="18" charset="0"/>
                <a:ea typeface="方正姚体" panose="02010601030101010101" pitchFamily="2" charset="-122"/>
              </a:rPr>
              <a:t>I</a:t>
            </a: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不变</a:t>
            </a:r>
            <a:r>
              <a:rPr kumimoji="0" lang="en-US" altLang="zh-CN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, </a:t>
            </a: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无消光</a:t>
            </a:r>
          </a:p>
        </p:txBody>
      </p:sp>
      <p:sp>
        <p:nvSpPr>
          <p:cNvPr id="111625" name="Text Box 49">
            <a:extLst>
              <a:ext uri="{FF2B5EF4-FFF2-40B4-BE49-F238E27FC236}">
                <a16:creationId xmlns:a16="http://schemas.microsoft.com/office/drawing/2014/main" id="{BFE2A621-5E31-7ECB-16D8-CE5C3D687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0225" y="3230563"/>
            <a:ext cx="1666875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I</a:t>
            </a: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变</a:t>
            </a:r>
            <a:r>
              <a:rPr kumimoji="0" lang="en-US" altLang="zh-CN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, </a:t>
            </a: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无消光</a:t>
            </a:r>
          </a:p>
        </p:txBody>
      </p:sp>
      <p:sp>
        <p:nvSpPr>
          <p:cNvPr id="111626" name="Line 50">
            <a:extLst>
              <a:ext uri="{FF2B5EF4-FFF2-40B4-BE49-F238E27FC236}">
                <a16:creationId xmlns:a16="http://schemas.microsoft.com/office/drawing/2014/main" id="{8EC61B76-A748-BABC-1856-137CC8D8D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663" y="2938463"/>
            <a:ext cx="6705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1627" name="Text Box 51">
            <a:extLst>
              <a:ext uri="{FF2B5EF4-FFF2-40B4-BE49-F238E27FC236}">
                <a16:creationId xmlns:a16="http://schemas.microsoft.com/office/drawing/2014/main" id="{E823DEEE-5E89-4F90-4EAE-9996EE78B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5715000"/>
            <a:ext cx="1406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方正姚体" panose="02010601030101010101" pitchFamily="2" charset="-122"/>
              </a:rPr>
              <a:t>线偏振光</a:t>
            </a:r>
          </a:p>
        </p:txBody>
      </p:sp>
      <p:sp>
        <p:nvSpPr>
          <p:cNvPr id="111628" name="Line 52">
            <a:extLst>
              <a:ext uri="{FF2B5EF4-FFF2-40B4-BE49-F238E27FC236}">
                <a16:creationId xmlns:a16="http://schemas.microsoft.com/office/drawing/2014/main" id="{5ECF8074-8B58-DDCE-43E4-98874D5E5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974725" y="3698875"/>
            <a:ext cx="1588" cy="19827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1629" name="Line 55">
            <a:extLst>
              <a:ext uri="{FF2B5EF4-FFF2-40B4-BE49-F238E27FC236}">
                <a16:creationId xmlns:a16="http://schemas.microsoft.com/office/drawing/2014/main" id="{23BAE38C-C40B-7962-7AB4-4DF2F798DA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0800" y="3735388"/>
            <a:ext cx="1588" cy="19827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1630" name="Line 56">
            <a:extLst>
              <a:ext uri="{FF2B5EF4-FFF2-40B4-BE49-F238E27FC236}">
                <a16:creationId xmlns:a16="http://schemas.microsoft.com/office/drawing/2014/main" id="{B00CDC87-1C57-AE74-4FB7-29DB7D173C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9888" y="3663950"/>
            <a:ext cx="1587" cy="19827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1631" name="Line 57">
            <a:extLst>
              <a:ext uri="{FF2B5EF4-FFF2-40B4-BE49-F238E27FC236}">
                <a16:creationId xmlns:a16="http://schemas.microsoft.com/office/drawing/2014/main" id="{25BD5234-2DB8-02E6-98E2-244CF16D04B2}"/>
              </a:ext>
            </a:extLst>
          </p:cNvPr>
          <p:cNvSpPr>
            <a:spLocks noChangeShapeType="1"/>
          </p:cNvSpPr>
          <p:nvPr/>
        </p:nvSpPr>
        <p:spPr bwMode="auto">
          <a:xfrm>
            <a:off x="982663" y="2938463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1632" name="Line 58">
            <a:extLst>
              <a:ext uri="{FF2B5EF4-FFF2-40B4-BE49-F238E27FC236}">
                <a16:creationId xmlns:a16="http://schemas.microsoft.com/office/drawing/2014/main" id="{FA520042-04B7-8719-3401-5E3A05E34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3063" y="2751138"/>
            <a:ext cx="0" cy="4159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1633" name="Line 59">
            <a:extLst>
              <a:ext uri="{FF2B5EF4-FFF2-40B4-BE49-F238E27FC236}">
                <a16:creationId xmlns:a16="http://schemas.microsoft.com/office/drawing/2014/main" id="{B9BA8F58-EB98-BAD5-286D-14A466A2ED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8263" y="2938463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1634" name="Text Box 60">
            <a:extLst>
              <a:ext uri="{FF2B5EF4-FFF2-40B4-BE49-F238E27FC236}">
                <a16:creationId xmlns:a16="http://schemas.microsoft.com/office/drawing/2014/main" id="{BECEE0FB-7820-817B-56A4-30D50E7F2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163" y="5607050"/>
            <a:ext cx="14065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圆偏振光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或自然光</a:t>
            </a:r>
          </a:p>
        </p:txBody>
      </p:sp>
      <p:sp>
        <p:nvSpPr>
          <p:cNvPr id="111635" name="Text Box 62">
            <a:extLst>
              <a:ext uri="{FF2B5EF4-FFF2-40B4-BE49-F238E27FC236}">
                <a16:creationId xmlns:a16="http://schemas.microsoft.com/office/drawing/2014/main" id="{3583FCAC-A88D-197E-B8AA-5639EA2C1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688" y="5788025"/>
            <a:ext cx="20193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椭圆偏振光或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部分偏振光</a:t>
            </a:r>
          </a:p>
        </p:txBody>
      </p:sp>
      <p:sp>
        <p:nvSpPr>
          <p:cNvPr id="111636" name="Rectangle 92">
            <a:extLst>
              <a:ext uri="{FF2B5EF4-FFF2-40B4-BE49-F238E27FC236}">
                <a16:creationId xmlns:a16="http://schemas.microsoft.com/office/drawing/2014/main" id="{40B218A3-8E06-C692-898D-136D11932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463" y="3879850"/>
            <a:ext cx="436562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第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情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况</a:t>
            </a:r>
          </a:p>
        </p:txBody>
      </p:sp>
      <p:sp>
        <p:nvSpPr>
          <p:cNvPr id="111637" name="Rectangle 93">
            <a:extLst>
              <a:ext uri="{FF2B5EF4-FFF2-40B4-BE49-F238E27FC236}">
                <a16:creationId xmlns:a16="http://schemas.microsoft.com/office/drawing/2014/main" id="{CC6FED12-F3D0-8C6C-4176-0C60045F7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843338"/>
            <a:ext cx="436563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第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情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况</a:t>
            </a:r>
          </a:p>
        </p:txBody>
      </p:sp>
      <p:sp>
        <p:nvSpPr>
          <p:cNvPr id="111638" name="Rectangle 94">
            <a:extLst>
              <a:ext uri="{FF2B5EF4-FFF2-40B4-BE49-F238E27FC236}">
                <a16:creationId xmlns:a16="http://schemas.microsoft.com/office/drawing/2014/main" id="{541E9A80-4D1E-5C38-0591-9A28821D8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9613" y="3914775"/>
            <a:ext cx="436562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第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情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53">
            <a:extLst>
              <a:ext uri="{FF2B5EF4-FFF2-40B4-BE49-F238E27FC236}">
                <a16:creationId xmlns:a16="http://schemas.microsoft.com/office/drawing/2014/main" id="{B9F89716-2D35-24E0-5E8E-78353D057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234950"/>
            <a:ext cx="201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第二种情况：</a:t>
            </a:r>
          </a:p>
        </p:txBody>
      </p:sp>
      <p:sp>
        <p:nvSpPr>
          <p:cNvPr id="112643" name="Text Box 55">
            <a:extLst>
              <a:ext uri="{FF2B5EF4-FFF2-40B4-BE49-F238E27FC236}">
                <a16:creationId xmlns:a16="http://schemas.microsoft.com/office/drawing/2014/main" id="{9FF37B6A-A8B8-5F5C-F89D-95F77D524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260350"/>
            <a:ext cx="1428750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初始光束</a:t>
            </a:r>
          </a:p>
        </p:txBody>
      </p:sp>
      <p:sp>
        <p:nvSpPr>
          <p:cNvPr id="112644" name="Line 56">
            <a:extLst>
              <a:ext uri="{FF2B5EF4-FFF2-40B4-BE49-F238E27FC236}">
                <a16:creationId xmlns:a16="http://schemas.microsoft.com/office/drawing/2014/main" id="{8FAEE70D-86F8-8C53-1999-0AF84EF8E2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7620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2645" name="Text Box 57">
            <a:extLst>
              <a:ext uri="{FF2B5EF4-FFF2-40B4-BE49-F238E27FC236}">
                <a16:creationId xmlns:a16="http://schemas.microsoft.com/office/drawing/2014/main" id="{217BFFDC-471F-0793-6496-C6E6F5451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3" y="1881188"/>
            <a:ext cx="1731962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转动偏振片</a:t>
            </a:r>
          </a:p>
        </p:txBody>
      </p:sp>
      <p:sp>
        <p:nvSpPr>
          <p:cNvPr id="112646" name="Text Box 58">
            <a:extLst>
              <a:ext uri="{FF2B5EF4-FFF2-40B4-BE49-F238E27FC236}">
                <a16:creationId xmlns:a16="http://schemas.microsoft.com/office/drawing/2014/main" id="{E9B0366A-4CE1-929A-C26A-4E395345B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138" y="2895600"/>
            <a:ext cx="1697037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I</a:t>
            </a: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变</a:t>
            </a:r>
            <a:r>
              <a:rPr kumimoji="0" lang="en-US" altLang="zh-CN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, </a:t>
            </a: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有消光</a:t>
            </a:r>
          </a:p>
        </p:txBody>
      </p:sp>
      <p:sp>
        <p:nvSpPr>
          <p:cNvPr id="112647" name="Text Box 59">
            <a:extLst>
              <a:ext uri="{FF2B5EF4-FFF2-40B4-BE49-F238E27FC236}">
                <a16:creationId xmlns:a16="http://schemas.microsoft.com/office/drawing/2014/main" id="{951A5078-523F-5553-1D2F-F58DCBBC5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2924175"/>
            <a:ext cx="1236662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  I</a:t>
            </a: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不变  </a:t>
            </a:r>
          </a:p>
        </p:txBody>
      </p:sp>
      <p:sp>
        <p:nvSpPr>
          <p:cNvPr id="112648" name="Text Box 62">
            <a:extLst>
              <a:ext uri="{FF2B5EF4-FFF2-40B4-BE49-F238E27FC236}">
                <a16:creationId xmlns:a16="http://schemas.microsoft.com/office/drawing/2014/main" id="{B161AE19-03D5-09B0-4081-7905B8ED3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268413"/>
            <a:ext cx="1203325" cy="396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线偏振光</a:t>
            </a:r>
          </a:p>
        </p:txBody>
      </p:sp>
      <p:sp>
        <p:nvSpPr>
          <p:cNvPr id="112649" name="Line 63">
            <a:extLst>
              <a:ext uri="{FF2B5EF4-FFF2-40B4-BE49-F238E27FC236}">
                <a16:creationId xmlns:a16="http://schemas.microsoft.com/office/drawing/2014/main" id="{DEDE2125-11F4-2280-5695-7D759F5E8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9000" y="3357563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2650" name="Line 65">
            <a:extLst>
              <a:ext uri="{FF2B5EF4-FFF2-40B4-BE49-F238E27FC236}">
                <a16:creationId xmlns:a16="http://schemas.microsoft.com/office/drawing/2014/main" id="{1E935AD2-61D9-B45A-05EB-058AE0CA4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4888" y="3429000"/>
            <a:ext cx="0" cy="1295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2651" name="Line 67">
            <a:extLst>
              <a:ext uri="{FF2B5EF4-FFF2-40B4-BE49-F238E27FC236}">
                <a16:creationId xmlns:a16="http://schemas.microsoft.com/office/drawing/2014/main" id="{7E36691F-9A96-B078-89DE-9A5E6BA54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16002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112652" name="Group 76">
            <a:extLst>
              <a:ext uri="{FF2B5EF4-FFF2-40B4-BE49-F238E27FC236}">
                <a16:creationId xmlns:a16="http://schemas.microsoft.com/office/drawing/2014/main" id="{972ECF23-FC89-187F-30CD-B3E74248618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667000"/>
            <a:ext cx="3962400" cy="228600"/>
            <a:chOff x="1056" y="1680"/>
            <a:chExt cx="3120" cy="144"/>
          </a:xfrm>
        </p:grpSpPr>
        <p:sp>
          <p:nvSpPr>
            <p:cNvPr id="112666" name="Line 61">
              <a:extLst>
                <a:ext uri="{FF2B5EF4-FFF2-40B4-BE49-F238E27FC236}">
                  <a16:creationId xmlns:a16="http://schemas.microsoft.com/office/drawing/2014/main" id="{A49A756F-F1BF-52F1-B772-23CF6BF16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680"/>
              <a:ext cx="31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67" name="Line 66">
              <a:extLst>
                <a:ext uri="{FF2B5EF4-FFF2-40B4-BE49-F238E27FC236}">
                  <a16:creationId xmlns:a16="http://schemas.microsoft.com/office/drawing/2014/main" id="{8644BC36-9CEB-D2EF-2CEE-B56BFF4E1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68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668" name="Line 68">
              <a:extLst>
                <a:ext uri="{FF2B5EF4-FFF2-40B4-BE49-F238E27FC236}">
                  <a16:creationId xmlns:a16="http://schemas.microsoft.com/office/drawing/2014/main" id="{84404B15-2E62-DD1E-B97F-1888FEC5C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68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2653" name="Text Box 69">
            <a:extLst>
              <a:ext uri="{FF2B5EF4-FFF2-40B4-BE49-F238E27FC236}">
                <a16:creationId xmlns:a16="http://schemas.microsoft.com/office/drawing/2014/main" id="{0CE4BFCD-A770-86B2-3C0F-42DC8BF67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3913" y="0"/>
            <a:ext cx="1406525" cy="8223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圆偏振光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或自然光</a:t>
            </a:r>
          </a:p>
        </p:txBody>
      </p:sp>
      <p:sp>
        <p:nvSpPr>
          <p:cNvPr id="112654" name="Text Box 74">
            <a:extLst>
              <a:ext uri="{FF2B5EF4-FFF2-40B4-BE49-F238E27FC236}">
                <a16:creationId xmlns:a16="http://schemas.microsoft.com/office/drawing/2014/main" id="{D60CF1B4-BBF9-8693-C661-628954A56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288" y="1089025"/>
            <a:ext cx="2432050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入射到</a:t>
            </a:r>
            <a:r>
              <a:rPr lang="en-US" altLang="zh-CN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1/4</a:t>
            </a:r>
            <a:r>
              <a:rPr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波片上</a:t>
            </a:r>
          </a:p>
        </p:txBody>
      </p:sp>
      <p:sp>
        <p:nvSpPr>
          <p:cNvPr id="112655" name="Text Box 75">
            <a:extLst>
              <a:ext uri="{FF2B5EF4-FFF2-40B4-BE49-F238E27FC236}">
                <a16:creationId xmlns:a16="http://schemas.microsoft.com/office/drawing/2014/main" id="{89FDAE00-6345-DCEA-BB4D-95993DF9E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0" y="4760913"/>
            <a:ext cx="1100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自然光</a:t>
            </a:r>
          </a:p>
        </p:txBody>
      </p:sp>
      <p:sp>
        <p:nvSpPr>
          <p:cNvPr id="112656" name="Line 77">
            <a:extLst>
              <a:ext uri="{FF2B5EF4-FFF2-40B4-BE49-F238E27FC236}">
                <a16:creationId xmlns:a16="http://schemas.microsoft.com/office/drawing/2014/main" id="{433E6D27-A040-5164-22EC-6A56DB6C9E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1676400"/>
            <a:ext cx="3276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2657" name="Line 78">
            <a:extLst>
              <a:ext uri="{FF2B5EF4-FFF2-40B4-BE49-F238E27FC236}">
                <a16:creationId xmlns:a16="http://schemas.microsoft.com/office/drawing/2014/main" id="{5C3D2BBC-D514-DF88-6ACC-ABF87C487E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1676400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2658" name="Line 79">
            <a:extLst>
              <a:ext uri="{FF2B5EF4-FFF2-40B4-BE49-F238E27FC236}">
                <a16:creationId xmlns:a16="http://schemas.microsoft.com/office/drawing/2014/main" id="{7659D3DC-D9C7-CA9F-23B2-EFA97C2E7E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4114800"/>
            <a:ext cx="1371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2659" name="Line 80">
            <a:extLst>
              <a:ext uri="{FF2B5EF4-FFF2-40B4-BE49-F238E27FC236}">
                <a16:creationId xmlns:a16="http://schemas.microsoft.com/office/drawing/2014/main" id="{B2F9612F-1FB0-F176-1FB2-E176DE4FE3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24413" y="441325"/>
            <a:ext cx="1066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2660" name="Text Box 81">
            <a:extLst>
              <a:ext uri="{FF2B5EF4-FFF2-40B4-BE49-F238E27FC236}">
                <a16:creationId xmlns:a16="http://schemas.microsoft.com/office/drawing/2014/main" id="{913513A3-4A53-00C4-CF83-AEA6576C1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1268413"/>
            <a:ext cx="1203325" cy="396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非偏振光</a:t>
            </a:r>
          </a:p>
        </p:txBody>
      </p:sp>
      <p:sp>
        <p:nvSpPr>
          <p:cNvPr id="112661" name="Line 82">
            <a:extLst>
              <a:ext uri="{FF2B5EF4-FFF2-40B4-BE49-F238E27FC236}">
                <a16:creationId xmlns:a16="http://schemas.microsoft.com/office/drawing/2014/main" id="{72CB83A5-5F40-D9F7-6D99-E2E340FA29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1676400"/>
            <a:ext cx="3276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2662" name="Line 83">
            <a:extLst>
              <a:ext uri="{FF2B5EF4-FFF2-40B4-BE49-F238E27FC236}">
                <a16:creationId xmlns:a16="http://schemas.microsoft.com/office/drawing/2014/main" id="{C22916B4-09A1-1518-8C8C-8F3E00DD3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1676400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2663" name="Line 84">
            <a:extLst>
              <a:ext uri="{FF2B5EF4-FFF2-40B4-BE49-F238E27FC236}">
                <a16:creationId xmlns:a16="http://schemas.microsoft.com/office/drawing/2014/main" id="{998A0E94-488D-C5CB-1875-670EA715DB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4114800"/>
            <a:ext cx="1295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2664" name="Text Box 85">
            <a:extLst>
              <a:ext uri="{FF2B5EF4-FFF2-40B4-BE49-F238E27FC236}">
                <a16:creationId xmlns:a16="http://schemas.microsoft.com/office/drawing/2014/main" id="{79BD5DFF-200F-8129-F2E7-6D91D2007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4760913"/>
            <a:ext cx="1406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圆偏振光</a:t>
            </a:r>
          </a:p>
        </p:txBody>
      </p:sp>
      <p:sp>
        <p:nvSpPr>
          <p:cNvPr id="112665" name="Line 87">
            <a:extLst>
              <a:ext uri="{FF2B5EF4-FFF2-40B4-BE49-F238E27FC236}">
                <a16:creationId xmlns:a16="http://schemas.microsoft.com/office/drawing/2014/main" id="{2D4510F4-655A-EB40-1BB8-F0D34B69B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362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4">
            <a:extLst>
              <a:ext uri="{FF2B5EF4-FFF2-40B4-BE49-F238E27FC236}">
                <a16:creationId xmlns:a16="http://schemas.microsoft.com/office/drawing/2014/main" id="{6EC04AFB-45D5-1732-CE6A-5437D746A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1525" y="225425"/>
            <a:ext cx="1428750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初始光束</a:t>
            </a:r>
          </a:p>
        </p:txBody>
      </p:sp>
      <p:sp>
        <p:nvSpPr>
          <p:cNvPr id="113667" name="Line 5">
            <a:extLst>
              <a:ext uri="{FF2B5EF4-FFF2-40B4-BE49-F238E27FC236}">
                <a16:creationId xmlns:a16="http://schemas.microsoft.com/office/drawing/2014/main" id="{E066618F-5516-61BF-7EDF-1F870B5085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7620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3668" name="Text Box 6">
            <a:extLst>
              <a:ext uri="{FF2B5EF4-FFF2-40B4-BE49-F238E27FC236}">
                <a16:creationId xmlns:a16="http://schemas.microsoft.com/office/drawing/2014/main" id="{98C9EF27-E5B9-4047-62A0-A06911B7D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3" y="2349500"/>
            <a:ext cx="1731962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转动偏振片</a:t>
            </a:r>
          </a:p>
        </p:txBody>
      </p:sp>
      <p:sp>
        <p:nvSpPr>
          <p:cNvPr id="113669" name="Text Box 7">
            <a:extLst>
              <a:ext uri="{FF2B5EF4-FFF2-40B4-BE49-F238E27FC236}">
                <a16:creationId xmlns:a16="http://schemas.microsoft.com/office/drawing/2014/main" id="{F5478675-632B-FFFD-84BE-D9A223079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392488"/>
            <a:ext cx="1697037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I</a:t>
            </a: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变</a:t>
            </a:r>
            <a:r>
              <a:rPr kumimoji="0" lang="en-US" altLang="zh-CN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, </a:t>
            </a: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有消光</a:t>
            </a:r>
          </a:p>
        </p:txBody>
      </p:sp>
      <p:sp>
        <p:nvSpPr>
          <p:cNvPr id="113670" name="Text Box 8">
            <a:extLst>
              <a:ext uri="{FF2B5EF4-FFF2-40B4-BE49-F238E27FC236}">
                <a16:creationId xmlns:a16="http://schemas.microsoft.com/office/drawing/2014/main" id="{A0859206-13A5-0012-0977-360C37B34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213" y="3392488"/>
            <a:ext cx="1697037" cy="476250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I</a:t>
            </a: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变</a:t>
            </a:r>
            <a:r>
              <a:rPr kumimoji="0" lang="en-US" altLang="zh-CN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, </a:t>
            </a: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无消光</a:t>
            </a:r>
          </a:p>
        </p:txBody>
      </p:sp>
      <p:sp>
        <p:nvSpPr>
          <p:cNvPr id="113671" name="Text Box 9">
            <a:extLst>
              <a:ext uri="{FF2B5EF4-FFF2-40B4-BE49-F238E27FC236}">
                <a16:creationId xmlns:a16="http://schemas.microsoft.com/office/drawing/2014/main" id="{03BBF72D-887B-9E5D-4223-2F55C11CB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46250"/>
            <a:ext cx="1203325" cy="396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线偏振光</a:t>
            </a:r>
          </a:p>
        </p:txBody>
      </p:sp>
      <p:sp>
        <p:nvSpPr>
          <p:cNvPr id="113672" name="Line 10">
            <a:extLst>
              <a:ext uri="{FF2B5EF4-FFF2-40B4-BE49-F238E27FC236}">
                <a16:creationId xmlns:a16="http://schemas.microsoft.com/office/drawing/2014/main" id="{4ADFA64E-341A-7719-B602-F6F2DE36C1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3897313"/>
            <a:ext cx="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3673" name="Line 11">
            <a:extLst>
              <a:ext uri="{FF2B5EF4-FFF2-40B4-BE49-F238E27FC236}">
                <a16:creationId xmlns:a16="http://schemas.microsoft.com/office/drawing/2014/main" id="{45F62EDF-3BB5-A16B-46D8-F3025BE555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4888" y="3897313"/>
            <a:ext cx="0" cy="1295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3674" name="Line 12">
            <a:extLst>
              <a:ext uri="{FF2B5EF4-FFF2-40B4-BE49-F238E27FC236}">
                <a16:creationId xmlns:a16="http://schemas.microsoft.com/office/drawing/2014/main" id="{F61955FD-54EE-8364-D42E-54587C845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1905000"/>
            <a:ext cx="0" cy="396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pSp>
        <p:nvGrpSpPr>
          <p:cNvPr id="113675" name="Group 13">
            <a:extLst>
              <a:ext uri="{FF2B5EF4-FFF2-40B4-BE49-F238E27FC236}">
                <a16:creationId xmlns:a16="http://schemas.microsoft.com/office/drawing/2014/main" id="{0E7E9615-6E9B-9B9E-CAFD-715BE1612158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3140075"/>
            <a:ext cx="3962400" cy="228600"/>
            <a:chOff x="1056" y="1680"/>
            <a:chExt cx="3120" cy="144"/>
          </a:xfrm>
        </p:grpSpPr>
        <p:sp>
          <p:nvSpPr>
            <p:cNvPr id="113689" name="Line 14">
              <a:extLst>
                <a:ext uri="{FF2B5EF4-FFF2-40B4-BE49-F238E27FC236}">
                  <a16:creationId xmlns:a16="http://schemas.microsoft.com/office/drawing/2014/main" id="{A65EEA59-5CC7-775A-3718-99490AFC1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680"/>
              <a:ext cx="31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690" name="Line 15">
              <a:extLst>
                <a:ext uri="{FF2B5EF4-FFF2-40B4-BE49-F238E27FC236}">
                  <a16:creationId xmlns:a16="http://schemas.microsoft.com/office/drawing/2014/main" id="{BAAC418C-BE43-9DA7-EF68-B9BF070D6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68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691" name="Line 16">
              <a:extLst>
                <a:ext uri="{FF2B5EF4-FFF2-40B4-BE49-F238E27FC236}">
                  <a16:creationId xmlns:a16="http://schemas.microsoft.com/office/drawing/2014/main" id="{5AD2EC08-D435-C054-5481-5E11F228E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68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13676" name="Text Box 17">
            <a:extLst>
              <a:ext uri="{FF2B5EF4-FFF2-40B4-BE49-F238E27FC236}">
                <a16:creationId xmlns:a16="http://schemas.microsoft.com/office/drawing/2014/main" id="{9647CA0C-5540-F852-F649-546CA2108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15888"/>
            <a:ext cx="2019300" cy="8223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椭圆偏振光或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部分偏振光</a:t>
            </a:r>
            <a:endParaRPr lang="zh-CN" altLang="en-US" sz="2000" b="1">
              <a:solidFill>
                <a:srgbClr val="5F5F5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3677" name="Text Box 20">
            <a:extLst>
              <a:ext uri="{FF2B5EF4-FFF2-40B4-BE49-F238E27FC236}">
                <a16:creationId xmlns:a16="http://schemas.microsoft.com/office/drawing/2014/main" id="{86B58E79-B84A-F6A1-999D-E243136F0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052513"/>
            <a:ext cx="4183063" cy="841375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入射到</a:t>
            </a:r>
            <a:r>
              <a:rPr lang="en-US" altLang="zh-CN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1/4</a:t>
            </a:r>
            <a:r>
              <a:rPr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波片</a:t>
            </a:r>
            <a:r>
              <a:rPr lang="en-US" altLang="zh-CN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,</a:t>
            </a:r>
            <a:r>
              <a:rPr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光轴平行于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最大光强或最小光强方向放置</a:t>
            </a:r>
          </a:p>
        </p:txBody>
      </p:sp>
      <p:sp>
        <p:nvSpPr>
          <p:cNvPr id="113678" name="Text Box 21">
            <a:extLst>
              <a:ext uri="{FF2B5EF4-FFF2-40B4-BE49-F238E27FC236}">
                <a16:creationId xmlns:a16="http://schemas.microsoft.com/office/drawing/2014/main" id="{AF4CC704-1E56-C4BD-9D60-EF53E302D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5249863"/>
            <a:ext cx="27638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      </a:t>
            </a: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部分偏振光</a:t>
            </a:r>
            <a:endParaRPr lang="zh-CN" altLang="en-US" sz="2400" b="1">
              <a:solidFill>
                <a:srgbClr val="5F5F5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(</a:t>
            </a:r>
            <a:r>
              <a:rPr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线偏振光 </a:t>
            </a:r>
            <a:r>
              <a:rPr lang="en-US" altLang="zh-CN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+</a:t>
            </a:r>
            <a:r>
              <a:rPr lang="zh-CN" altLang="en-US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自然光</a:t>
            </a:r>
            <a:r>
              <a:rPr lang="en-US" altLang="zh-CN" sz="24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  <p:sp>
        <p:nvSpPr>
          <p:cNvPr id="113679" name="Line 22">
            <a:extLst>
              <a:ext uri="{FF2B5EF4-FFF2-40B4-BE49-F238E27FC236}">
                <a16:creationId xmlns:a16="http://schemas.microsoft.com/office/drawing/2014/main" id="{36CF0AB7-D9D3-1005-3A91-BB39A97D89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" y="2149475"/>
            <a:ext cx="3276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3680" name="Line 23">
            <a:extLst>
              <a:ext uri="{FF2B5EF4-FFF2-40B4-BE49-F238E27FC236}">
                <a16:creationId xmlns:a16="http://schemas.microsoft.com/office/drawing/2014/main" id="{C244530B-9760-9FCD-4A45-C7E9BC481D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214947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3681" name="Line 24">
            <a:extLst>
              <a:ext uri="{FF2B5EF4-FFF2-40B4-BE49-F238E27FC236}">
                <a16:creationId xmlns:a16="http://schemas.microsoft.com/office/drawing/2014/main" id="{03D99767-75C9-F1AF-A055-D879F91A4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" y="4587875"/>
            <a:ext cx="1371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3682" name="Line 25">
            <a:extLst>
              <a:ext uri="{FF2B5EF4-FFF2-40B4-BE49-F238E27FC236}">
                <a16:creationId xmlns:a16="http://schemas.microsoft.com/office/drawing/2014/main" id="{A8CD76F9-3024-B16E-6F60-BCD0E06E81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533400"/>
            <a:ext cx="1066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3683" name="Text Box 26">
            <a:extLst>
              <a:ext uri="{FF2B5EF4-FFF2-40B4-BE49-F238E27FC236}">
                <a16:creationId xmlns:a16="http://schemas.microsoft.com/office/drawing/2014/main" id="{3451CC6C-7227-250B-C3E4-1EB0A7AAD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730375"/>
            <a:ext cx="1458913" cy="3968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000" b="1">
                <a:solidFill>
                  <a:srgbClr val="5F5F5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部分偏振光</a:t>
            </a:r>
            <a:endParaRPr lang="zh-CN" altLang="en-US" sz="2000" b="1">
              <a:solidFill>
                <a:srgbClr val="5F5F5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113684" name="Line 27">
            <a:extLst>
              <a:ext uri="{FF2B5EF4-FFF2-40B4-BE49-F238E27FC236}">
                <a16:creationId xmlns:a16="http://schemas.microsoft.com/office/drawing/2014/main" id="{58E58C93-B67E-7BA1-DDE4-BCC18E0AD1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2149475"/>
            <a:ext cx="3276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3685" name="Line 28">
            <a:extLst>
              <a:ext uri="{FF2B5EF4-FFF2-40B4-BE49-F238E27FC236}">
                <a16:creationId xmlns:a16="http://schemas.microsoft.com/office/drawing/2014/main" id="{5B330E2D-DED6-76B5-B892-70554E2072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2149475"/>
            <a:ext cx="0" cy="2438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3686" name="Line 29">
            <a:extLst>
              <a:ext uri="{FF2B5EF4-FFF2-40B4-BE49-F238E27FC236}">
                <a16:creationId xmlns:a16="http://schemas.microsoft.com/office/drawing/2014/main" id="{87F8BA93-BDFD-01CA-A106-C4AEE36562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4888" y="4581525"/>
            <a:ext cx="1295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13687" name="Text Box 31">
            <a:extLst>
              <a:ext uri="{FF2B5EF4-FFF2-40B4-BE49-F238E27FC236}">
                <a16:creationId xmlns:a16="http://schemas.microsoft.com/office/drawing/2014/main" id="{6E239738-0519-92F5-4E50-E58E84E41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25425"/>
            <a:ext cx="201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FF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第三种情况：</a:t>
            </a:r>
          </a:p>
        </p:txBody>
      </p:sp>
      <p:sp>
        <p:nvSpPr>
          <p:cNvPr id="113688" name="Rectangle 32">
            <a:extLst>
              <a:ext uri="{FF2B5EF4-FFF2-40B4-BE49-F238E27FC236}">
                <a16:creationId xmlns:a16="http://schemas.microsoft.com/office/drawing/2014/main" id="{A4204F04-0628-3165-F1B3-DDBAA07B1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5265738"/>
            <a:ext cx="1712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5F5F5F"/>
                </a:solidFill>
                <a:latin typeface="Times New Roman" panose="02020603050405020304" pitchFamily="18" charset="0"/>
                <a:ea typeface="方正姚体" panose="02010601030101010101" pitchFamily="2" charset="-122"/>
              </a:rPr>
              <a:t>椭圆偏振光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E6B84B7-E8DD-8C0C-34C2-2006F2280CBE}"/>
              </a:ext>
            </a:extLst>
          </p:cNvPr>
          <p:cNvSpPr txBox="1"/>
          <p:nvPr/>
        </p:nvSpPr>
        <p:spPr>
          <a:xfrm>
            <a:off x="807868" y="1445334"/>
            <a:ext cx="20313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理解掌握以下概念</a:t>
            </a:r>
            <a:endParaRPr lang="en-US" altLang="zh-CN" dirty="0"/>
          </a:p>
          <a:p>
            <a:r>
              <a:rPr lang="zh-CN" altLang="en-US" dirty="0"/>
              <a:t>散射</a:t>
            </a:r>
            <a:endParaRPr lang="en-US" altLang="zh-CN" dirty="0"/>
          </a:p>
          <a:p>
            <a:r>
              <a:rPr lang="zh-CN" altLang="en-US" dirty="0"/>
              <a:t>黑体辐射</a:t>
            </a:r>
            <a:endParaRPr lang="en-US" altLang="zh-CN" dirty="0"/>
          </a:p>
          <a:p>
            <a:r>
              <a:rPr lang="zh-CN" altLang="en-US" dirty="0"/>
              <a:t>光电效应</a:t>
            </a:r>
            <a:endParaRPr lang="en-US" altLang="zh-CN" dirty="0"/>
          </a:p>
          <a:p>
            <a:r>
              <a:rPr lang="zh-CN" altLang="en-US" dirty="0"/>
              <a:t>激光原理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78787F-003B-54C4-3E93-EFF3416B3833}"/>
              </a:ext>
            </a:extLst>
          </p:cNvPr>
          <p:cNvSpPr txBox="1"/>
          <p:nvPr/>
        </p:nvSpPr>
        <p:spPr>
          <a:xfrm>
            <a:off x="807868" y="3320840"/>
            <a:ext cx="226215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以下章节为考试重点</a:t>
            </a:r>
            <a:endParaRPr lang="en-US" altLang="zh-CN" dirty="0"/>
          </a:p>
          <a:p>
            <a:r>
              <a:rPr lang="en-US" altLang="zh-CN" dirty="0"/>
              <a:t>1.3 1.6 1.7  1.8</a:t>
            </a:r>
          </a:p>
          <a:p>
            <a:r>
              <a:rPr lang="en-US" altLang="zh-CN" dirty="0"/>
              <a:t>2.3 2.4 4.10 2.5</a:t>
            </a:r>
          </a:p>
          <a:p>
            <a:r>
              <a:rPr lang="en-US" altLang="zh-CN" dirty="0"/>
              <a:t>5.1 -5.8</a:t>
            </a:r>
          </a:p>
          <a:p>
            <a:r>
              <a:rPr lang="en-US" altLang="zh-CN" dirty="0"/>
              <a:t>6.3</a:t>
            </a:r>
          </a:p>
          <a:p>
            <a:r>
              <a:rPr lang="en-US" altLang="zh-CN" dirty="0"/>
              <a:t>7.2 -7.4</a:t>
            </a:r>
          </a:p>
          <a:p>
            <a:r>
              <a:rPr lang="en-US" altLang="zh-CN" dirty="0"/>
              <a:t>8.2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0376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图片 2">
            <a:extLst>
              <a:ext uri="{FF2B5EF4-FFF2-40B4-BE49-F238E27FC236}">
                <a16:creationId xmlns:a16="http://schemas.microsoft.com/office/drawing/2014/main" id="{D3F10D19-C16F-1C9D-0A97-08284C269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341438"/>
            <a:ext cx="5057775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图片 2">
            <a:extLst>
              <a:ext uri="{FF2B5EF4-FFF2-40B4-BE49-F238E27FC236}">
                <a16:creationId xmlns:a16="http://schemas.microsoft.com/office/drawing/2014/main" id="{6EAF93CB-D0AD-75F5-388D-799D7FC68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890588"/>
            <a:ext cx="50292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2">
            <a:extLst>
              <a:ext uri="{FF2B5EF4-FFF2-40B4-BE49-F238E27FC236}">
                <a16:creationId xmlns:a16="http://schemas.microsoft.com/office/drawing/2014/main" id="{95457313-06C7-3F6D-E6D0-58E1E0971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42900"/>
            <a:ext cx="4962525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图片 2">
            <a:extLst>
              <a:ext uri="{FF2B5EF4-FFF2-40B4-BE49-F238E27FC236}">
                <a16:creationId xmlns:a16="http://schemas.microsoft.com/office/drawing/2014/main" id="{8FCDD59A-82C9-1373-11F2-FC602FD59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28700"/>
            <a:ext cx="50387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图片 2">
            <a:extLst>
              <a:ext uri="{FF2B5EF4-FFF2-40B4-BE49-F238E27FC236}">
                <a16:creationId xmlns:a16="http://schemas.microsoft.com/office/drawing/2014/main" id="{5B7A5C04-ADCD-73DC-26AA-CD42F0D04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804863"/>
            <a:ext cx="5000625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图片 2">
            <a:extLst>
              <a:ext uri="{FF2B5EF4-FFF2-40B4-BE49-F238E27FC236}">
                <a16:creationId xmlns:a16="http://schemas.microsoft.com/office/drawing/2014/main" id="{B685A14A-66A7-D073-5499-15E3098B7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68413"/>
            <a:ext cx="4962525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5B21596-F4AE-860A-90A3-FA964BAC5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466850"/>
            <a:ext cx="70866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135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B0CCF1A-3CA6-D870-0C41-91FFA22FB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620688"/>
            <a:ext cx="7067550" cy="4010025"/>
          </a:xfrm>
          <a:prstGeom prst="rect">
            <a:avLst/>
          </a:prstGeom>
        </p:spPr>
      </p:pic>
      <p:grpSp>
        <p:nvGrpSpPr>
          <p:cNvPr id="47" name="组合 174082">
            <a:extLst>
              <a:ext uri="{FF2B5EF4-FFF2-40B4-BE49-F238E27FC236}">
                <a16:creationId xmlns:a16="http://schemas.microsoft.com/office/drawing/2014/main" id="{C49E00D3-9C31-F1D3-CB05-02EA9171F2A5}"/>
              </a:ext>
            </a:extLst>
          </p:cNvPr>
          <p:cNvGrpSpPr>
            <a:grpSpLocks/>
          </p:cNvGrpSpPr>
          <p:nvPr/>
        </p:nvGrpSpPr>
        <p:grpSpPr bwMode="auto">
          <a:xfrm>
            <a:off x="3419872" y="1844824"/>
            <a:ext cx="5429250" cy="2459037"/>
            <a:chOff x="1296" y="1139"/>
            <a:chExt cx="3420" cy="1549"/>
          </a:xfrm>
        </p:grpSpPr>
        <p:sp>
          <p:nvSpPr>
            <p:cNvPr id="48" name="直接连接符 174083">
              <a:extLst>
                <a:ext uri="{FF2B5EF4-FFF2-40B4-BE49-F238E27FC236}">
                  <a16:creationId xmlns:a16="http://schemas.microsoft.com/office/drawing/2014/main" id="{A7D8221B-5C31-1383-3403-D0A9E7AC7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7" y="1968"/>
              <a:ext cx="0" cy="34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" name="组合 174084">
              <a:extLst>
                <a:ext uri="{FF2B5EF4-FFF2-40B4-BE49-F238E27FC236}">
                  <a16:creationId xmlns:a16="http://schemas.microsoft.com/office/drawing/2014/main" id="{8AF73D53-6BAC-9165-270A-1C471D251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139"/>
              <a:ext cx="3420" cy="1549"/>
              <a:chOff x="1296" y="1139"/>
              <a:chExt cx="3420" cy="1549"/>
            </a:xfrm>
          </p:grpSpPr>
          <p:sp>
            <p:nvSpPr>
              <p:cNvPr id="50" name="任意多边形 174085">
                <a:extLst>
                  <a:ext uri="{FF2B5EF4-FFF2-40B4-BE49-F238E27FC236}">
                    <a16:creationId xmlns:a16="http://schemas.microsoft.com/office/drawing/2014/main" id="{F1D4ADF7-ED51-3A66-6BD5-B71C203B6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0" y="2228"/>
                <a:ext cx="46" cy="12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  <a:path w="21600" h="21600" stroke="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直接连接符 174086">
                <a:extLst>
                  <a:ext uri="{FF2B5EF4-FFF2-40B4-BE49-F238E27FC236}">
                    <a16:creationId xmlns:a16="http://schemas.microsoft.com/office/drawing/2014/main" id="{03003242-51AB-C31F-7A31-E7F8294869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1996"/>
                <a:ext cx="0" cy="32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直接连接符 174087">
                <a:extLst>
                  <a:ext uri="{FF2B5EF4-FFF2-40B4-BE49-F238E27FC236}">
                    <a16:creationId xmlns:a16="http://schemas.microsoft.com/office/drawing/2014/main" id="{9E98B037-A58E-E80A-29DF-C4741A0F7E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53" y="2107"/>
                <a:ext cx="0" cy="2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直接连接符 174088">
                <a:extLst>
                  <a:ext uri="{FF2B5EF4-FFF2-40B4-BE49-F238E27FC236}">
                    <a16:creationId xmlns:a16="http://schemas.microsoft.com/office/drawing/2014/main" id="{7CB061E4-98FD-9FBD-C483-8A7D2429E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95" y="2204"/>
                <a:ext cx="236" cy="1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4" name="组合 174089">
                <a:extLst>
                  <a:ext uri="{FF2B5EF4-FFF2-40B4-BE49-F238E27FC236}">
                    <a16:creationId xmlns:a16="http://schemas.microsoft.com/office/drawing/2014/main" id="{C2367FFC-10BC-994B-B731-BD4AE3BE12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1139"/>
                <a:ext cx="3420" cy="1549"/>
                <a:chOff x="1296" y="995"/>
                <a:chExt cx="3420" cy="1549"/>
              </a:xfrm>
            </p:grpSpPr>
            <p:sp>
              <p:nvSpPr>
                <p:cNvPr id="55" name="直接连接符 174090">
                  <a:extLst>
                    <a:ext uri="{FF2B5EF4-FFF2-40B4-BE49-F238E27FC236}">
                      <a16:creationId xmlns:a16="http://schemas.microsoft.com/office/drawing/2014/main" id="{52F76AB2-3C74-A0E1-7FD2-3F85E8B247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96" y="1639"/>
                  <a:ext cx="338" cy="52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56" name="组合 174091">
                  <a:extLst>
                    <a:ext uri="{FF2B5EF4-FFF2-40B4-BE49-F238E27FC236}">
                      <a16:creationId xmlns:a16="http://schemas.microsoft.com/office/drawing/2014/main" id="{685D4E3E-583D-E629-A0A5-8734CC0881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7" y="995"/>
                  <a:ext cx="3409" cy="1549"/>
                  <a:chOff x="1307" y="803"/>
                  <a:chExt cx="3409" cy="1549"/>
                </a:xfrm>
              </p:grpSpPr>
              <p:sp>
                <p:nvSpPr>
                  <p:cNvPr id="57" name="直接连接符 174092">
                    <a:extLst>
                      <a:ext uri="{FF2B5EF4-FFF2-40B4-BE49-F238E27FC236}">
                        <a16:creationId xmlns:a16="http://schemas.microsoft.com/office/drawing/2014/main" id="{7398F52D-B67D-896D-5ED6-CF44F8BCDF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34" y="915"/>
                    <a:ext cx="158" cy="24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med" len="sm"/>
                    <a:tailEnd type="none" w="med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8" name="组合 174093">
                    <a:extLst>
                      <a:ext uri="{FF2B5EF4-FFF2-40B4-BE49-F238E27FC236}">
                        <a16:creationId xmlns:a16="http://schemas.microsoft.com/office/drawing/2014/main" id="{48024F6C-F716-3A39-09C4-5BD15BD0D31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307" y="803"/>
                    <a:ext cx="3409" cy="1549"/>
                    <a:chOff x="1307" y="803"/>
                    <a:chExt cx="3409" cy="1549"/>
                  </a:xfrm>
                </p:grpSpPr>
                <p:sp>
                  <p:nvSpPr>
                    <p:cNvPr id="59" name="直接连接符 174094">
                      <a:extLst>
                        <a:ext uri="{FF2B5EF4-FFF2-40B4-BE49-F238E27FC236}">
                          <a16:creationId xmlns:a16="http://schemas.microsoft.com/office/drawing/2014/main" id="{8556F959-5772-296B-0940-798D3EB2E4F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610" y="1645"/>
                      <a:ext cx="1682" cy="33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 type="none" w="med" len="sm"/>
                      <a:tailEnd type="none" w="med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0" name="直接连接符 174095">
                      <a:extLst>
                        <a:ext uri="{FF2B5EF4-FFF2-40B4-BE49-F238E27FC236}">
                          <a16:creationId xmlns:a16="http://schemas.microsoft.com/office/drawing/2014/main" id="{93020D5A-7ADA-34DB-48D0-0B5C2063C10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307" y="1127"/>
                      <a:ext cx="1665" cy="33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 type="none" w="med" len="sm"/>
                      <a:tailEnd type="none" w="med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1" name="矩形 174096">
                      <a:extLst>
                        <a:ext uri="{FF2B5EF4-FFF2-40B4-BE49-F238E27FC236}">
                          <a16:creationId xmlns:a16="http://schemas.microsoft.com/office/drawing/2014/main" id="{ED7C84DC-8664-1D9A-5CF4-EA40BF97E2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40" y="1791"/>
                      <a:ext cx="352" cy="32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12700" tIns="12700" rIns="12700" bIns="12700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just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CN" sz="2400" b="1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</a:t>
                      </a:r>
                      <a:endParaRPr lang="en-US" altLang="zh-CN" sz="2400" b="1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62" name="组合 174097">
                      <a:extLst>
                        <a:ext uri="{FF2B5EF4-FFF2-40B4-BE49-F238E27FC236}">
                          <a16:creationId xmlns:a16="http://schemas.microsoft.com/office/drawing/2014/main" id="{DDF96439-051C-0397-1A91-ABDD2273422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308" y="803"/>
                      <a:ext cx="3408" cy="1549"/>
                      <a:chOff x="1308" y="803"/>
                      <a:chExt cx="3408" cy="1549"/>
                    </a:xfrm>
                  </p:grpSpPr>
                  <p:sp>
                    <p:nvSpPr>
                      <p:cNvPr id="63" name="直接连接符 174098">
                        <a:extLst>
                          <a:ext uri="{FF2B5EF4-FFF2-40B4-BE49-F238E27FC236}">
                            <a16:creationId xmlns:a16="http://schemas.microsoft.com/office/drawing/2014/main" id="{930F0322-40BB-B917-9680-57C79CBE345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106" y="1680"/>
                        <a:ext cx="38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 type="none" w="med" len="sm"/>
                        <a:tailEnd type="none" w="med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" name="直接连接符 174099">
                        <a:extLst>
                          <a:ext uri="{FF2B5EF4-FFF2-40B4-BE49-F238E27FC236}">
                            <a16:creationId xmlns:a16="http://schemas.microsoft.com/office/drawing/2014/main" id="{400960DF-A662-B0D8-D0AC-CDF4A493158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44" y="1791"/>
                        <a:ext cx="945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 type="none" w="med" len="sm"/>
                        <a:tailEnd type="none" w="med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5" name="直接连接符 174100">
                        <a:extLst>
                          <a:ext uri="{FF2B5EF4-FFF2-40B4-BE49-F238E27FC236}">
                            <a16:creationId xmlns:a16="http://schemas.microsoft.com/office/drawing/2014/main" id="{1E65944B-BF7B-3705-B970-51DAEBE540C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20" y="1501"/>
                        <a:ext cx="0" cy="186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 type="none" w="med" len="sm"/>
                        <a:tailEnd type="triangle" w="sm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6" name="直接连接符 174101">
                        <a:extLst>
                          <a:ext uri="{FF2B5EF4-FFF2-40B4-BE49-F238E27FC236}">
                            <a16:creationId xmlns:a16="http://schemas.microsoft.com/office/drawing/2014/main" id="{2C8DAC22-E478-A76D-6FF8-4280C3BD837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20" y="1790"/>
                        <a:ext cx="0" cy="187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 type="none" w="med" len="sm"/>
                        <a:tailEnd type="triangle" w="sm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7" name="矩形 174102">
                        <a:extLst>
                          <a:ext uri="{FF2B5EF4-FFF2-40B4-BE49-F238E27FC236}">
                            <a16:creationId xmlns:a16="http://schemas.microsoft.com/office/drawing/2014/main" id="{10CB5427-3298-E21F-98DC-08F5421FD06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77" y="1570"/>
                        <a:ext cx="315" cy="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lIns="12700" tIns="12700" rIns="12700" bIns="12700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just"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b="1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</a:t>
                        </a:r>
                        <a:r>
                          <a:rPr lang="en-US" altLang="zh-CN" sz="2800" b="1" i="1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</a:rPr>
                          <a:t>h</a:t>
                        </a:r>
                        <a:endParaRPr lang="en-US" altLang="zh-CN" sz="2800" b="1">
                          <a:latin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68" name="组合 174103">
                        <a:extLst>
                          <a:ext uri="{FF2B5EF4-FFF2-40B4-BE49-F238E27FC236}">
                            <a16:creationId xmlns:a16="http://schemas.microsoft.com/office/drawing/2014/main" id="{839DF74A-0AAC-BDF4-878E-477AC29FA86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08" y="803"/>
                        <a:ext cx="2004" cy="1549"/>
                        <a:chOff x="1308" y="803"/>
                        <a:chExt cx="2004" cy="1549"/>
                      </a:xfrm>
                    </p:grpSpPr>
                    <p:sp>
                      <p:nvSpPr>
                        <p:cNvPr id="70" name="直接连接符 174104">
                          <a:extLst>
                            <a:ext uri="{FF2B5EF4-FFF2-40B4-BE49-F238E27FC236}">
                              <a16:creationId xmlns:a16="http://schemas.microsoft.com/office/drawing/2014/main" id="{CC180BE2-DF0E-8DC2-A4D7-9341E9235AB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970" y="1139"/>
                          <a:ext cx="338" cy="52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rgbClr val="00000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1" name="直接连接符 174105">
                          <a:extLst>
                            <a:ext uri="{FF2B5EF4-FFF2-40B4-BE49-F238E27FC236}">
                              <a16:creationId xmlns:a16="http://schemas.microsoft.com/office/drawing/2014/main" id="{18A6D180-A8F3-6F84-FFA5-686C997F494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633" y="1992"/>
                          <a:ext cx="1664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rgbClr val="00000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" name="直接连接符 174106">
                          <a:extLst>
                            <a:ext uri="{FF2B5EF4-FFF2-40B4-BE49-F238E27FC236}">
                              <a16:creationId xmlns:a16="http://schemas.microsoft.com/office/drawing/2014/main" id="{A5BEAEC7-9D2D-F190-2026-FA6CC377AD3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633" y="1397"/>
                          <a:ext cx="326" cy="503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0000FF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3" name="直接连接符 174107">
                          <a:extLst>
                            <a:ext uri="{FF2B5EF4-FFF2-40B4-BE49-F238E27FC236}">
                              <a16:creationId xmlns:a16="http://schemas.microsoft.com/office/drawing/2014/main" id="{F07CAD11-E12F-386E-468B-8501827E622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791" y="1151"/>
                          <a:ext cx="335" cy="511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0000FF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4" name="直接连接符 174108">
                          <a:extLst>
                            <a:ext uri="{FF2B5EF4-FFF2-40B4-BE49-F238E27FC236}">
                              <a16:creationId xmlns:a16="http://schemas.microsoft.com/office/drawing/2014/main" id="{23691EFB-ABC3-FB7E-7834-55173A7795B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217" y="1274"/>
                          <a:ext cx="336" cy="511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0000FF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5" name="直接连接符 174109">
                          <a:extLst>
                            <a:ext uri="{FF2B5EF4-FFF2-40B4-BE49-F238E27FC236}">
                              <a16:creationId xmlns:a16="http://schemas.microsoft.com/office/drawing/2014/main" id="{09464FBA-D37B-2EED-A815-10E5AA6DB58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308" y="1472"/>
                          <a:ext cx="318" cy="492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C0C0C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6" name="直接连接符 174110">
                          <a:extLst>
                            <a:ext uri="{FF2B5EF4-FFF2-40B4-BE49-F238E27FC236}">
                              <a16:creationId xmlns:a16="http://schemas.microsoft.com/office/drawing/2014/main" id="{372B5BD5-081E-966B-D70C-71D833BB484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04" y="1230"/>
                          <a:ext cx="344" cy="503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C0C0C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7" name="直接连接符 174111">
                          <a:extLst>
                            <a:ext uri="{FF2B5EF4-FFF2-40B4-BE49-F238E27FC236}">
                              <a16:creationId xmlns:a16="http://schemas.microsoft.com/office/drawing/2014/main" id="{CC7EAEDA-4797-CCD1-BAE2-59270A9C443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926" y="1349"/>
                          <a:ext cx="326" cy="482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C0C0C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8" name="直接连接符 174112">
                          <a:extLst>
                            <a:ext uri="{FF2B5EF4-FFF2-40B4-BE49-F238E27FC236}">
                              <a16:creationId xmlns:a16="http://schemas.microsoft.com/office/drawing/2014/main" id="{9F4127CE-3AB0-DB05-41CC-8C53A90C085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094" y="1051"/>
                          <a:ext cx="158" cy="24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9" name="直接连接符 174113">
                          <a:extLst>
                            <a:ext uri="{FF2B5EF4-FFF2-40B4-BE49-F238E27FC236}">
                              <a16:creationId xmlns:a16="http://schemas.microsoft.com/office/drawing/2014/main" id="{6019908A-8826-333E-A3C1-29225219517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39" y="1000"/>
                          <a:ext cx="551" cy="11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 type="triangle" w="sm" len="med"/>
                          <a:tailEnd type="triangle" w="sm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80" name="矩形 174114">
                          <a:extLst>
                            <a:ext uri="{FF2B5EF4-FFF2-40B4-BE49-F238E27FC236}">
                              <a16:creationId xmlns:a16="http://schemas.microsoft.com/office/drawing/2014/main" id="{193C86EC-AE3B-B0FB-68D8-4F608B3A42E6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333" y="803"/>
                          <a:ext cx="403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lIns="12700" tIns="12700" rIns="12700" bIns="12700"/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en-US" altLang="zh-CN" sz="2800" b="1" i="1">
                              <a:latin typeface="Times New Roman" panose="02020603050405020304" pitchFamily="18" charset="0"/>
                            </a:rPr>
                            <a:t>Δl</a:t>
                          </a:r>
                          <a:endParaRPr lang="en-US" altLang="zh-CN" sz="2800" b="1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81" name="矩形 174115">
                          <a:extLst>
                            <a:ext uri="{FF2B5EF4-FFF2-40B4-BE49-F238E27FC236}">
                              <a16:creationId xmlns:a16="http://schemas.microsoft.com/office/drawing/2014/main" id="{0354D84F-9AEE-4B6B-4176-222C52FD42D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277" y="1999"/>
                          <a:ext cx="315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lIns="12700" tIns="12700" rIns="12700" bIns="12700"/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altLang="zh-CN" sz="2800" b="1" i="1" baseline="-2500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</a:rPr>
                            <a:t>k</a:t>
                          </a:r>
                          <a:endParaRPr lang="en-US" altLang="zh-CN" sz="2800" b="1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82" name="矩形 174116">
                          <a:extLst>
                            <a:ext uri="{FF2B5EF4-FFF2-40B4-BE49-F238E27FC236}">
                              <a16:creationId xmlns:a16="http://schemas.microsoft.com/office/drawing/2014/main" id="{36AE029D-36F5-705C-E28A-D3E613FB6905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82" y="1991"/>
                          <a:ext cx="530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lIns="12700" tIns="12700" rIns="12700" bIns="12700"/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</a:rPr>
                            <a:t>h</a:t>
                          </a:r>
                          <a:r>
                            <a:rPr lang="en-US" altLang="zh-CN" sz="2800" b="1" i="1" baseline="-2500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</a:rPr>
                            <a:t>k</a:t>
                          </a:r>
                          <a:r>
                            <a:rPr lang="en-US" altLang="zh-CN" sz="2800" b="1" baseline="-2500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</a:rPr>
                            <a:t>+1</a:t>
                          </a:r>
                          <a:endParaRPr lang="en-US" altLang="zh-CN" sz="2800" b="1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83" name="矩形 174117">
                          <a:extLst>
                            <a:ext uri="{FF2B5EF4-FFF2-40B4-BE49-F238E27FC236}">
                              <a16:creationId xmlns:a16="http://schemas.microsoft.com/office/drawing/2014/main" id="{7036726D-B3D2-9AED-CED1-96BB4F8ECFF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490" y="912"/>
                          <a:ext cx="334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lIns="12700" tIns="12700" rIns="12700" bIns="12700"/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zh-CN" altLang="en-US" sz="2400" b="1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</a:rPr>
                            <a:t>明纹</a:t>
                          </a:r>
                          <a:endParaRPr lang="zh-CN" altLang="en-US" sz="2400" b="1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84" name="矩形 174118">
                          <a:extLst>
                            <a:ext uri="{FF2B5EF4-FFF2-40B4-BE49-F238E27FC236}">
                              <a16:creationId xmlns:a16="http://schemas.microsoft.com/office/drawing/2014/main" id="{44372BCD-311E-85CF-B4E6-A3BCE583BF3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787" y="864"/>
                          <a:ext cx="253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lIns="12700" tIns="12700" rIns="12700" bIns="12700"/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zh-CN" altLang="en-US" sz="2400" b="1">
                              <a:solidFill>
                                <a:schemeClr val="bg2"/>
                              </a:solidFill>
                              <a:latin typeface="Times New Roman" panose="02020603050405020304" pitchFamily="18" charset="0"/>
                            </a:rPr>
                            <a:t>暗纹</a:t>
                          </a:r>
                        </a:p>
                      </p:txBody>
                    </p:sp>
                    <p:sp>
                      <p:nvSpPr>
                        <p:cNvPr id="85" name="直接连接符 174119">
                          <a:extLst>
                            <a:ext uri="{FF2B5EF4-FFF2-40B4-BE49-F238E27FC236}">
                              <a16:creationId xmlns:a16="http://schemas.microsoft.com/office/drawing/2014/main" id="{F1F1D726-399E-A163-DF7E-009A8314B54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402" y="1896"/>
                          <a:ext cx="152" cy="16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86" name="文本框 174120">
                          <a:extLst>
                            <a:ext uri="{FF2B5EF4-FFF2-40B4-BE49-F238E27FC236}">
                              <a16:creationId xmlns:a16="http://schemas.microsoft.com/office/drawing/2014/main" id="{8B3F2625-6054-CBCE-08AA-B1A4B7481B24}"/>
                            </a:ext>
                          </a:extLst>
                        </p:cNvPr>
                        <p:cNvSpPr txBox="1"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2736" y="1680"/>
                          <a:ext cx="240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panose="020B0604020202020204" pitchFamily="34" charset="0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FontTx/>
                            <a:buNone/>
                          </a:pPr>
                          <a:r>
                            <a:rPr lang="en-US" altLang="zh-CN" b="1" i="1">
                              <a:solidFill>
                                <a:srgbClr val="FF0066"/>
                              </a:solidFill>
                              <a:latin typeface="Times New Roman" panose="02020603050405020304" pitchFamily="18" charset="0"/>
                            </a:rPr>
                            <a:t>n</a:t>
                          </a:r>
                        </a:p>
                      </p:txBody>
                    </p:sp>
                  </p:grpSp>
                  <p:sp>
                    <p:nvSpPr>
                      <p:cNvPr id="69" name="文本框 174121">
                        <a:extLst>
                          <a:ext uri="{FF2B5EF4-FFF2-40B4-BE49-F238E27FC236}">
                            <a16:creationId xmlns:a16="http://schemas.microsoft.com/office/drawing/2014/main" id="{55DC203F-FEEB-64B8-4504-28EB5B65A44B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708" y="1547"/>
                        <a:ext cx="1008" cy="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FontTx/>
                          <a:buNone/>
                        </a:pPr>
                        <a:r>
                          <a:rPr lang="en-US" altLang="zh-CN" sz="2800" b="1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 </a:t>
                        </a:r>
                        <a:r>
                          <a:rPr lang="en-US" altLang="zh-CN" sz="2800" b="1" i="1">
                            <a:latin typeface="Times New Roman" panose="02020603050405020304" pitchFamily="18" charset="0"/>
                          </a:rPr>
                          <a:t>Δl</a:t>
                        </a:r>
                        <a:r>
                          <a:rPr lang="en-US" altLang="zh-CN" sz="2800" b="1" i="1">
                            <a:solidFill>
                              <a:srgbClr val="FF3300"/>
                            </a:solidFill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 </a:t>
                        </a:r>
                      </a:p>
                    </p:txBody>
                  </p:sp>
                </p:grpSp>
              </p:grpSp>
            </p:grpSp>
          </p:grpSp>
        </p:grpSp>
      </p:grpSp>
      <p:graphicFrame>
        <p:nvGraphicFramePr>
          <p:cNvPr id="87" name="对象 174127">
            <a:extLst>
              <a:ext uri="{FF2B5EF4-FFF2-40B4-BE49-F238E27FC236}">
                <a16:creationId xmlns:a16="http://schemas.microsoft.com/office/drawing/2014/main" id="{672B13E4-E034-C9A6-0CF5-F46097508BEF}"/>
              </a:ext>
            </a:extLst>
          </p:cNvPr>
          <p:cNvGraphicFramePr>
            <a:graphicFrameLocks/>
          </p:cNvGraphicFramePr>
          <p:nvPr/>
        </p:nvGraphicFramePr>
        <p:xfrm>
          <a:off x="3975497" y="4224486"/>
          <a:ext cx="102870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68400" imgH="825500" progId="Equation.3">
                  <p:embed/>
                </p:oleObj>
              </mc:Choice>
              <mc:Fallback>
                <p:oleObj r:id="rId4" imgW="1168400" imgH="825500" progId="Equation.3">
                  <p:embed/>
                  <p:pic>
                    <p:nvPicPr>
                      <p:cNvPr id="87" name="对象 174127">
                        <a:extLst>
                          <a:ext uri="{FF2B5EF4-FFF2-40B4-BE49-F238E27FC236}">
                            <a16:creationId xmlns:a16="http://schemas.microsoft.com/office/drawing/2014/main" id="{672B13E4-E034-C9A6-0CF5-F46097508BE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497" y="4224486"/>
                        <a:ext cx="102870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174128">
            <a:extLst>
              <a:ext uri="{FF2B5EF4-FFF2-40B4-BE49-F238E27FC236}">
                <a16:creationId xmlns:a16="http://schemas.microsoft.com/office/drawing/2014/main" id="{765382CB-B532-925F-EAFA-5775B9ADFE83}"/>
              </a:ext>
            </a:extLst>
          </p:cNvPr>
          <p:cNvGraphicFramePr>
            <a:graphicFrameLocks/>
          </p:cNvGraphicFramePr>
          <p:nvPr/>
        </p:nvGraphicFramePr>
        <p:xfrm>
          <a:off x="3923110" y="4949974"/>
          <a:ext cx="12573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83099" imgH="317225" progId="Equation.3">
                  <p:embed/>
                </p:oleObj>
              </mc:Choice>
              <mc:Fallback>
                <p:oleObj r:id="rId6" imgW="1383099" imgH="317225" progId="Equation.3">
                  <p:embed/>
                  <p:pic>
                    <p:nvPicPr>
                      <p:cNvPr id="88" name="对象 174128">
                        <a:extLst>
                          <a:ext uri="{FF2B5EF4-FFF2-40B4-BE49-F238E27FC236}">
                            <a16:creationId xmlns:a16="http://schemas.microsoft.com/office/drawing/2014/main" id="{765382CB-B532-925F-EAFA-5775B9ADFE8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110" y="4949974"/>
                        <a:ext cx="12573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174129">
            <a:extLst>
              <a:ext uri="{FF2B5EF4-FFF2-40B4-BE49-F238E27FC236}">
                <a16:creationId xmlns:a16="http://schemas.microsoft.com/office/drawing/2014/main" id="{3A338522-7B9F-F5E0-660B-946FECB580D2}"/>
              </a:ext>
            </a:extLst>
          </p:cNvPr>
          <p:cNvGraphicFramePr>
            <a:graphicFrameLocks/>
          </p:cNvGraphicFramePr>
          <p:nvPr/>
        </p:nvGraphicFramePr>
        <p:xfrm>
          <a:off x="3851672" y="5527824"/>
          <a:ext cx="11938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58900" imgH="825500" progId="Equation.3">
                  <p:embed/>
                </p:oleObj>
              </mc:Choice>
              <mc:Fallback>
                <p:oleObj r:id="rId8" imgW="1358900" imgH="825500" progId="Equation.3">
                  <p:embed/>
                  <p:pic>
                    <p:nvPicPr>
                      <p:cNvPr id="89" name="对象 174129">
                        <a:extLst>
                          <a:ext uri="{FF2B5EF4-FFF2-40B4-BE49-F238E27FC236}">
                            <a16:creationId xmlns:a16="http://schemas.microsoft.com/office/drawing/2014/main" id="{3A338522-7B9F-F5E0-660B-946FECB580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672" y="5527824"/>
                        <a:ext cx="1193800" cy="7254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25400">
                        <a:solidFill>
                          <a:srgbClr val="CCFF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174132">
            <a:extLst>
              <a:ext uri="{FF2B5EF4-FFF2-40B4-BE49-F238E27FC236}">
                <a16:creationId xmlns:a16="http://schemas.microsoft.com/office/drawing/2014/main" id="{28627DEB-0D86-BC13-048F-B9E2AB3A69EE}"/>
              </a:ext>
            </a:extLst>
          </p:cNvPr>
          <p:cNvGraphicFramePr>
            <a:graphicFrameLocks/>
          </p:cNvGraphicFramePr>
          <p:nvPr/>
        </p:nvGraphicFramePr>
        <p:xfrm>
          <a:off x="5580460" y="6104086"/>
          <a:ext cx="136048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86811" imgH="380835" progId="Equation.3">
                  <p:embed/>
                </p:oleObj>
              </mc:Choice>
              <mc:Fallback>
                <p:oleObj r:id="rId10" imgW="1586811" imgH="380835" progId="Equation.3">
                  <p:embed/>
                  <p:pic>
                    <p:nvPicPr>
                      <p:cNvPr id="90" name="对象 174132">
                        <a:extLst>
                          <a:ext uri="{FF2B5EF4-FFF2-40B4-BE49-F238E27FC236}">
                            <a16:creationId xmlns:a16="http://schemas.microsoft.com/office/drawing/2014/main" id="{28627DEB-0D86-BC13-048F-B9E2AB3A69E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460" y="6104086"/>
                        <a:ext cx="136048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1338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FE0817-0E24-9702-2137-C67B5852D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2019300"/>
            <a:ext cx="71056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067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1CBC45-3A46-9FDE-0CD3-4F763A5DF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12" y="2157412"/>
            <a:ext cx="703897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42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D21BA4-4135-F20E-E48F-388D6A3EB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990725"/>
            <a:ext cx="7000875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771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2">
            <a:extLst>
              <a:ext uri="{FF2B5EF4-FFF2-40B4-BE49-F238E27FC236}">
                <a16:creationId xmlns:a16="http://schemas.microsoft.com/office/drawing/2014/main" id="{C48C4557-3555-8ACA-E440-A8340594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066800"/>
            <a:ext cx="87249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459" name="Object 44">
            <a:extLst>
              <a:ext uri="{FF2B5EF4-FFF2-40B4-BE49-F238E27FC236}">
                <a16:creationId xmlns:a16="http://schemas.microsoft.com/office/drawing/2014/main" id="{E6872321-6B56-2FD9-5D18-99A8D790D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3068638"/>
          <a:ext cx="18605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700" imgH="457200" progId="Equation.DSMT4">
                  <p:embed/>
                </p:oleObj>
              </mc:Choice>
              <mc:Fallback>
                <p:oleObj name="Equation" r:id="rId3" imgW="901700" imgH="457200" progId="Equation.DSMT4">
                  <p:embed/>
                  <p:pic>
                    <p:nvPicPr>
                      <p:cNvPr id="19459" name="Object 44">
                        <a:extLst>
                          <a:ext uri="{FF2B5EF4-FFF2-40B4-BE49-F238E27FC236}">
                            <a16:creationId xmlns:a16="http://schemas.microsoft.com/office/drawing/2014/main" id="{E6872321-6B56-2FD9-5D18-99A8D790D9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068638"/>
                        <a:ext cx="1860550" cy="9985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2">
            <a:extLst>
              <a:ext uri="{FF2B5EF4-FFF2-40B4-BE49-F238E27FC236}">
                <a16:creationId xmlns:a16="http://schemas.microsoft.com/office/drawing/2014/main" id="{2ABEE300-7E11-B0A8-4EF1-F4946929D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1147763"/>
            <a:ext cx="8848725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3" name="Object 44">
            <a:extLst>
              <a:ext uri="{FF2B5EF4-FFF2-40B4-BE49-F238E27FC236}">
                <a16:creationId xmlns:a16="http://schemas.microsoft.com/office/drawing/2014/main" id="{15FCD546-A152-6AC6-15EB-A491F8CE60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3068638"/>
          <a:ext cx="18605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1700" imgH="457200" progId="Equation.DSMT4">
                  <p:embed/>
                </p:oleObj>
              </mc:Choice>
              <mc:Fallback>
                <p:oleObj name="Equation" r:id="rId3" imgW="901700" imgH="457200" progId="Equation.DSMT4">
                  <p:embed/>
                  <p:pic>
                    <p:nvPicPr>
                      <p:cNvPr id="20483" name="Object 44">
                        <a:extLst>
                          <a:ext uri="{FF2B5EF4-FFF2-40B4-BE49-F238E27FC236}">
                            <a16:creationId xmlns:a16="http://schemas.microsoft.com/office/drawing/2014/main" id="{15FCD546-A152-6AC6-15EB-A491F8CE60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068638"/>
                        <a:ext cx="1860550" cy="9985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2">
            <a:extLst>
              <a:ext uri="{FF2B5EF4-FFF2-40B4-BE49-F238E27FC236}">
                <a16:creationId xmlns:a16="http://schemas.microsoft.com/office/drawing/2014/main" id="{52FA8DEE-E910-3086-C3F7-0274B4CBB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371600"/>
            <a:ext cx="8629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F8A09B7-9672-E352-03B4-A2F192ADD705}"/>
              </a:ext>
            </a:extLst>
          </p:cNvPr>
          <p:cNvGraphicFramePr>
            <a:graphicFrameLocks/>
          </p:cNvGraphicFramePr>
          <p:nvPr/>
        </p:nvGraphicFramePr>
        <p:xfrm>
          <a:off x="4506913" y="2865438"/>
          <a:ext cx="22748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2840" imgH="330120" progId="Equation.DSMT4">
                  <p:embed/>
                </p:oleObj>
              </mc:Choice>
              <mc:Fallback>
                <p:oleObj name="Equation" r:id="rId3" imgW="672840" imgH="3301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F8A09B7-9672-E352-03B4-A2F192ADD7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913" y="2865438"/>
                        <a:ext cx="22748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2">
            <a:extLst>
              <a:ext uri="{FF2B5EF4-FFF2-40B4-BE49-F238E27FC236}">
                <a16:creationId xmlns:a16="http://schemas.microsoft.com/office/drawing/2014/main" id="{C7A62E33-9D11-45C0-D060-5011665DE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333500"/>
            <a:ext cx="86582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531" name="对象 14340">
            <a:extLst>
              <a:ext uri="{FF2B5EF4-FFF2-40B4-BE49-F238E27FC236}">
                <a16:creationId xmlns:a16="http://schemas.microsoft.com/office/drawing/2014/main" id="{F7B3B792-EF32-39CA-2AC2-C63BA81CE85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4859338" y="3068638"/>
          <a:ext cx="3108325" cy="21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772427" imgH="2553056" progId="Paint.Picture">
                  <p:embed/>
                </p:oleObj>
              </mc:Choice>
              <mc:Fallback>
                <p:oleObj r:id="rId4" imgW="3772427" imgH="2553056" progId="Paint.Picture">
                  <p:embed/>
                  <p:pic>
                    <p:nvPicPr>
                      <p:cNvPr id="22531" name="对象 14340">
                        <a:extLst>
                          <a:ext uri="{FF2B5EF4-FFF2-40B4-BE49-F238E27FC236}">
                            <a16:creationId xmlns:a16="http://schemas.microsoft.com/office/drawing/2014/main" id="{F7B3B792-EF32-39CA-2AC2-C63BA81CE85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lum bright="-18000" contrast="4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068638"/>
                        <a:ext cx="3108325" cy="2103437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50195"/>
                        </a:schemeClr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2">
            <a:extLst>
              <a:ext uri="{FF2B5EF4-FFF2-40B4-BE49-F238E27FC236}">
                <a16:creationId xmlns:a16="http://schemas.microsoft.com/office/drawing/2014/main" id="{8685D08A-9FCF-F5B9-278A-BA2EB8F1D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7181850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555" name="Object 34">
            <a:extLst>
              <a:ext uri="{FF2B5EF4-FFF2-40B4-BE49-F238E27FC236}">
                <a16:creationId xmlns:a16="http://schemas.microsoft.com/office/drawing/2014/main" id="{06DE00EF-5B20-7674-0562-D99F24A9A0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7988" y="2205038"/>
          <a:ext cx="1493837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058" imgH="812447" progId="Equation.DSMT4">
                  <p:embed/>
                </p:oleObj>
              </mc:Choice>
              <mc:Fallback>
                <p:oleObj name="Equation" r:id="rId3" imgW="787058" imgH="812447" progId="Equation.DSMT4">
                  <p:embed/>
                  <p:pic>
                    <p:nvPicPr>
                      <p:cNvPr id="23555" name="Object 34">
                        <a:extLst>
                          <a:ext uri="{FF2B5EF4-FFF2-40B4-BE49-F238E27FC236}">
                            <a16:creationId xmlns:a16="http://schemas.microsoft.com/office/drawing/2014/main" id="{06DE00EF-5B20-7674-0562-D99F24A9A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88" y="2205038"/>
                        <a:ext cx="1493837" cy="13684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2">
            <a:extLst>
              <a:ext uri="{FF2B5EF4-FFF2-40B4-BE49-F238E27FC236}">
                <a16:creationId xmlns:a16="http://schemas.microsoft.com/office/drawing/2014/main" id="{ADE114E1-4C03-9743-8CF8-521B698B1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204913"/>
            <a:ext cx="8724900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文本框 3">
            <a:extLst>
              <a:ext uri="{FF2B5EF4-FFF2-40B4-BE49-F238E27FC236}">
                <a16:creationId xmlns:a16="http://schemas.microsoft.com/office/drawing/2014/main" id="{F3F73D44-F3A0-9591-5310-E4E56AF85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4437063"/>
            <a:ext cx="360363" cy="261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1100"/>
              <a:t>-7</a:t>
            </a:r>
            <a:endParaRPr lang="zh-CN" altLang="en-US" sz="1100"/>
          </a:p>
        </p:txBody>
      </p:sp>
      <p:graphicFrame>
        <p:nvGraphicFramePr>
          <p:cNvPr id="24580" name="Object 34">
            <a:extLst>
              <a:ext uri="{FF2B5EF4-FFF2-40B4-BE49-F238E27FC236}">
                <a16:creationId xmlns:a16="http://schemas.microsoft.com/office/drawing/2014/main" id="{9822D5AE-AB1D-42D7-09B3-9AF2D5F078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3330575"/>
          <a:ext cx="1493838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058" imgH="812447" progId="Equation.DSMT4">
                  <p:embed/>
                </p:oleObj>
              </mc:Choice>
              <mc:Fallback>
                <p:oleObj name="Equation" r:id="rId3" imgW="787058" imgH="812447" progId="Equation.DSMT4">
                  <p:embed/>
                  <p:pic>
                    <p:nvPicPr>
                      <p:cNvPr id="24580" name="Object 34">
                        <a:extLst>
                          <a:ext uri="{FF2B5EF4-FFF2-40B4-BE49-F238E27FC236}">
                            <a16:creationId xmlns:a16="http://schemas.microsoft.com/office/drawing/2014/main" id="{9822D5AE-AB1D-42D7-09B3-9AF2D5F078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3330575"/>
                        <a:ext cx="1493838" cy="13684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2">
            <a:extLst>
              <a:ext uri="{FF2B5EF4-FFF2-40B4-BE49-F238E27FC236}">
                <a16:creationId xmlns:a16="http://schemas.microsoft.com/office/drawing/2014/main" id="{A005A0CD-B9D8-8250-39F2-98A29F0B4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138238"/>
            <a:ext cx="866775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2">
            <a:extLst>
              <a:ext uri="{FF2B5EF4-FFF2-40B4-BE49-F238E27FC236}">
                <a16:creationId xmlns:a16="http://schemas.microsoft.com/office/drawing/2014/main" id="{E53B65FC-3F67-1827-1343-975499A81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200150"/>
            <a:ext cx="865822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2">
            <a:extLst>
              <a:ext uri="{FF2B5EF4-FFF2-40B4-BE49-F238E27FC236}">
                <a16:creationId xmlns:a16="http://schemas.microsoft.com/office/drawing/2014/main" id="{AA745937-5927-CBD6-E15A-DEEDBA1F9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71588"/>
            <a:ext cx="8686800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651" name="Object 32">
            <a:extLst>
              <a:ext uri="{FF2B5EF4-FFF2-40B4-BE49-F238E27FC236}">
                <a16:creationId xmlns:a16="http://schemas.microsoft.com/office/drawing/2014/main" id="{2A61620F-8177-4929-7312-3B1C12A2C4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3213100"/>
          <a:ext cx="2384425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431800" progId="Equation.DSMT4">
                  <p:embed/>
                </p:oleObj>
              </mc:Choice>
              <mc:Fallback>
                <p:oleObj name="Equation" r:id="rId3" imgW="914400" imgH="431800" progId="Equation.DSMT4">
                  <p:embed/>
                  <p:pic>
                    <p:nvPicPr>
                      <p:cNvPr id="27651" name="Object 32">
                        <a:extLst>
                          <a:ext uri="{FF2B5EF4-FFF2-40B4-BE49-F238E27FC236}">
                            <a16:creationId xmlns:a16="http://schemas.microsoft.com/office/drawing/2014/main" id="{2A61620F-8177-4929-7312-3B1C12A2C4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213100"/>
                        <a:ext cx="2384425" cy="11096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2">
            <a:extLst>
              <a:ext uri="{FF2B5EF4-FFF2-40B4-BE49-F238E27FC236}">
                <a16:creationId xmlns:a16="http://schemas.microsoft.com/office/drawing/2014/main" id="{ED5C72D3-7730-E675-24AB-6560386A2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1209675"/>
            <a:ext cx="8696325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BC9A068-D94D-6364-5D5F-656E2D918201}"/>
              </a:ext>
            </a:extLst>
          </p:cNvPr>
          <p:cNvGraphicFramePr>
            <a:graphicFrameLocks/>
          </p:cNvGraphicFramePr>
          <p:nvPr/>
        </p:nvGraphicFramePr>
        <p:xfrm>
          <a:off x="2319338" y="3616325"/>
          <a:ext cx="67627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00324" imgH="203024" progId="Equation.3">
                  <p:embed/>
                </p:oleObj>
              </mc:Choice>
              <mc:Fallback>
                <p:oleObj r:id="rId3" imgW="1700324" imgH="203024" progId="Equation.3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BC9A068-D94D-6364-5D5F-656E2D91820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3616325"/>
                        <a:ext cx="676275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BE37F7C-8392-5A7C-0A80-CCF54597B0E2}"/>
              </a:ext>
            </a:extLst>
          </p:cNvPr>
          <p:cNvGraphicFramePr>
            <a:graphicFrameLocks/>
          </p:cNvGraphicFramePr>
          <p:nvPr/>
        </p:nvGraphicFramePr>
        <p:xfrm>
          <a:off x="2257425" y="5084763"/>
          <a:ext cx="53625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09400" imgH="431640" progId="Equation.DSMT4">
                  <p:embed/>
                </p:oleObj>
              </mc:Choice>
              <mc:Fallback>
                <p:oleObj name="Equation" r:id="rId5" imgW="1409400" imgH="431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BE37F7C-8392-5A7C-0A80-CCF54597B0E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7425" y="5084763"/>
                        <a:ext cx="5362575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5FB708C-7D05-0C1C-B9BD-BBA915AED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288" y="4233863"/>
            <a:ext cx="8362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00"/>
                </a:solidFill>
                <a:ea typeface="方正楷体_GB2312" charset="-122"/>
              </a:rPr>
              <a:t>当平行单色光斜入射时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E5ED9B-97E0-C5FE-0036-F222749D8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924175"/>
            <a:ext cx="755967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 defTabSz="18288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 defTabSz="18288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 defTabSz="18288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 defTabSz="18288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 defTabSz="18288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defTabSz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defTabSz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defTabSz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defTabSz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方正楷体_GB2312" charset="-122"/>
              </a:rPr>
              <a:t>当平行单色光垂直于光栅平面入射时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图片 2">
            <a:extLst>
              <a:ext uri="{FF2B5EF4-FFF2-40B4-BE49-F238E27FC236}">
                <a16:creationId xmlns:a16="http://schemas.microsoft.com/office/drawing/2014/main" id="{1F3B03C3-C849-AF79-2DCB-354E2219C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238250"/>
            <a:ext cx="863917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9699" name="Object 36">
            <a:extLst>
              <a:ext uri="{FF2B5EF4-FFF2-40B4-BE49-F238E27FC236}">
                <a16:creationId xmlns:a16="http://schemas.microsoft.com/office/drawing/2014/main" id="{55F56CF0-FA93-59A3-C3A0-0E92E1944E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3213100"/>
          <a:ext cx="20589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392" imgH="393529" progId="Equation.DSMT4">
                  <p:embed/>
                </p:oleObj>
              </mc:Choice>
              <mc:Fallback>
                <p:oleObj name="Equation" r:id="rId3" imgW="939392" imgH="393529" progId="Equation.DSMT4">
                  <p:embed/>
                  <p:pic>
                    <p:nvPicPr>
                      <p:cNvPr id="29699" name="Object 36">
                        <a:extLst>
                          <a:ext uri="{FF2B5EF4-FFF2-40B4-BE49-F238E27FC236}">
                            <a16:creationId xmlns:a16="http://schemas.microsoft.com/office/drawing/2014/main" id="{55F56CF0-FA93-59A3-C3A0-0E92E1944E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213100"/>
                        <a:ext cx="2058988" cy="8540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2">
            <a:extLst>
              <a:ext uri="{FF2B5EF4-FFF2-40B4-BE49-F238E27FC236}">
                <a16:creationId xmlns:a16="http://schemas.microsoft.com/office/drawing/2014/main" id="{36AEDDE8-4046-3F8A-3695-C826A34B3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366838"/>
            <a:ext cx="8658225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723" name="Object 32">
            <a:extLst>
              <a:ext uri="{FF2B5EF4-FFF2-40B4-BE49-F238E27FC236}">
                <a16:creationId xmlns:a16="http://schemas.microsoft.com/office/drawing/2014/main" id="{66DD1B91-B0B7-54F9-5C85-D4CC3F597E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3213100"/>
          <a:ext cx="2384425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431800" progId="Equation.DSMT4">
                  <p:embed/>
                </p:oleObj>
              </mc:Choice>
              <mc:Fallback>
                <p:oleObj name="Equation" r:id="rId3" imgW="914400" imgH="431800" progId="Equation.DSMT4">
                  <p:embed/>
                  <p:pic>
                    <p:nvPicPr>
                      <p:cNvPr id="30723" name="Object 32">
                        <a:extLst>
                          <a:ext uri="{FF2B5EF4-FFF2-40B4-BE49-F238E27FC236}">
                            <a16:creationId xmlns:a16="http://schemas.microsoft.com/office/drawing/2014/main" id="{66DD1B91-B0B7-54F9-5C85-D4CC3F597E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213100"/>
                        <a:ext cx="2384425" cy="11096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">
            <a:extLst>
              <a:ext uri="{FF2B5EF4-FFF2-40B4-BE49-F238E27FC236}">
                <a16:creationId xmlns:a16="http://schemas.microsoft.com/office/drawing/2014/main" id="{948B94C7-37F3-2AE4-C953-A5C5EE2AE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195388"/>
            <a:ext cx="8610600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747" name="Object 32">
            <a:extLst>
              <a:ext uri="{FF2B5EF4-FFF2-40B4-BE49-F238E27FC236}">
                <a16:creationId xmlns:a16="http://schemas.microsoft.com/office/drawing/2014/main" id="{5C151539-C6AB-BF8C-D2A9-F8DEEBB49E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3213100"/>
          <a:ext cx="2384425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431800" progId="Equation.DSMT4">
                  <p:embed/>
                </p:oleObj>
              </mc:Choice>
              <mc:Fallback>
                <p:oleObj name="Equation" r:id="rId3" imgW="914400" imgH="431800" progId="Equation.DSMT4">
                  <p:embed/>
                  <p:pic>
                    <p:nvPicPr>
                      <p:cNvPr id="31747" name="Object 32">
                        <a:extLst>
                          <a:ext uri="{FF2B5EF4-FFF2-40B4-BE49-F238E27FC236}">
                            <a16:creationId xmlns:a16="http://schemas.microsoft.com/office/drawing/2014/main" id="{5C151539-C6AB-BF8C-D2A9-F8DEEBB49E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213100"/>
                        <a:ext cx="2384425" cy="11096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672C8AF-4ECE-E909-742D-B70B85318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545"/>
            <a:ext cx="9144000" cy="39863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5B66DF-49FA-DE89-EA18-5C8B1410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4938"/>
            <a:ext cx="9144000" cy="18948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685DBDF-75EF-D432-55CC-E526498F13AB}"/>
              </a:ext>
            </a:extLst>
          </p:cNvPr>
          <p:cNvSpPr/>
          <p:nvPr/>
        </p:nvSpPr>
        <p:spPr>
          <a:xfrm>
            <a:off x="4385568" y="4514938"/>
            <a:ext cx="2272683" cy="8560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6839973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E01C483-34FC-CF72-02C1-54BF1E109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698"/>
            <a:ext cx="9144000" cy="416539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13A8783-98A8-1353-E712-44A4E410C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48" y="2674397"/>
            <a:ext cx="7111014" cy="331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133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7C53-FD78-A360-538F-6AA4D917B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DF23D84-721E-3701-16AB-FD4B431BA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23" y="407901"/>
            <a:ext cx="9144000" cy="4421481"/>
          </a:xfrm>
          <a:prstGeom prst="rect">
            <a:avLst/>
          </a:prstGeom>
        </p:spPr>
      </p:pic>
      <p:grpSp>
        <p:nvGrpSpPr>
          <p:cNvPr id="2" name="Group 163">
            <a:extLst>
              <a:ext uri="{FF2B5EF4-FFF2-40B4-BE49-F238E27FC236}">
                <a16:creationId xmlns:a16="http://schemas.microsoft.com/office/drawing/2014/main" id="{B453A8AD-EFDD-5F87-E450-1DAC0DDB1FAF}"/>
              </a:ext>
            </a:extLst>
          </p:cNvPr>
          <p:cNvGrpSpPr>
            <a:grpSpLocks/>
          </p:cNvGrpSpPr>
          <p:nvPr/>
        </p:nvGrpSpPr>
        <p:grpSpPr bwMode="auto">
          <a:xfrm>
            <a:off x="2675832" y="2585823"/>
            <a:ext cx="6127750" cy="1912938"/>
            <a:chOff x="1727" y="2539"/>
            <a:chExt cx="3860" cy="1205"/>
          </a:xfrm>
        </p:grpSpPr>
        <p:grpSp>
          <p:nvGrpSpPr>
            <p:cNvPr id="4" name="Group 102">
              <a:extLst>
                <a:ext uri="{FF2B5EF4-FFF2-40B4-BE49-F238E27FC236}">
                  <a16:creationId xmlns:a16="http://schemas.microsoft.com/office/drawing/2014/main" id="{9505D472-3F47-704F-26BA-C732085855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2871"/>
              <a:ext cx="1057" cy="864"/>
              <a:chOff x="2400" y="1824"/>
              <a:chExt cx="1008" cy="864"/>
            </a:xfrm>
          </p:grpSpPr>
          <p:grpSp>
            <p:nvGrpSpPr>
              <p:cNvPr id="49" name="Group 103">
                <a:extLst>
                  <a:ext uri="{FF2B5EF4-FFF2-40B4-BE49-F238E27FC236}">
                    <a16:creationId xmlns:a16="http://schemas.microsoft.com/office/drawing/2014/main" id="{ED70069B-F19D-1BA7-41F4-495B4A7111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0" y="2159"/>
                <a:ext cx="814" cy="209"/>
                <a:chOff x="144" y="1951"/>
                <a:chExt cx="1008" cy="209"/>
              </a:xfrm>
            </p:grpSpPr>
            <p:sp>
              <p:nvSpPr>
                <p:cNvPr id="55" name="Line 104">
                  <a:extLst>
                    <a:ext uri="{FF2B5EF4-FFF2-40B4-BE49-F238E27FC236}">
                      <a16:creationId xmlns:a16="http://schemas.microsoft.com/office/drawing/2014/main" id="{ED31A01F-FF8F-CA3A-D9B4-368F811CFC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44" y="2056"/>
                  <a:ext cx="1008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Line 105">
                  <a:extLst>
                    <a:ext uri="{FF2B5EF4-FFF2-40B4-BE49-F238E27FC236}">
                      <a16:creationId xmlns:a16="http://schemas.microsoft.com/office/drawing/2014/main" id="{51A90727-8E7A-FCCF-0D73-9033127CA4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1" y="1951"/>
                  <a:ext cx="0" cy="209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Line 106">
                  <a:extLst>
                    <a:ext uri="{FF2B5EF4-FFF2-40B4-BE49-F238E27FC236}">
                      <a16:creationId xmlns:a16="http://schemas.microsoft.com/office/drawing/2014/main" id="{168BD6AA-27D0-9D69-B921-C19277072A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5" y="1951"/>
                  <a:ext cx="0" cy="209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Line 107">
                  <a:extLst>
                    <a:ext uri="{FF2B5EF4-FFF2-40B4-BE49-F238E27FC236}">
                      <a16:creationId xmlns:a16="http://schemas.microsoft.com/office/drawing/2014/main" id="{30607832-88A5-2834-3356-E781A1928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9" y="1951"/>
                  <a:ext cx="0" cy="209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Oval 108">
                  <a:extLst>
                    <a:ext uri="{FF2B5EF4-FFF2-40B4-BE49-F238E27FC236}">
                      <a16:creationId xmlns:a16="http://schemas.microsoft.com/office/drawing/2014/main" id="{92DABACA-031A-CFF0-D6D1-F97E72BD02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2016"/>
                  <a:ext cx="53" cy="63"/>
                </a:xfrm>
                <a:prstGeom prst="ellipse">
                  <a:avLst/>
                </a:prstGeom>
                <a:solidFill>
                  <a:srgbClr val="0000FF"/>
                </a:solidFill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Oval 109">
                  <a:extLst>
                    <a:ext uri="{FF2B5EF4-FFF2-40B4-BE49-F238E27FC236}">
                      <a16:creationId xmlns:a16="http://schemas.microsoft.com/office/drawing/2014/main" id="{49A9AB9C-201D-94F2-3D0E-627DAE8B4A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" y="2024"/>
                  <a:ext cx="54" cy="63"/>
                </a:xfrm>
                <a:prstGeom prst="ellipse">
                  <a:avLst/>
                </a:prstGeom>
                <a:solidFill>
                  <a:srgbClr val="0000FF"/>
                </a:solidFill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Oval 110">
                  <a:extLst>
                    <a:ext uri="{FF2B5EF4-FFF2-40B4-BE49-F238E27FC236}">
                      <a16:creationId xmlns:a16="http://schemas.microsoft.com/office/drawing/2014/main" id="{C73D5AEE-73CE-FC28-DE19-F66680F911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5" y="2024"/>
                  <a:ext cx="54" cy="63"/>
                </a:xfrm>
                <a:prstGeom prst="ellipse">
                  <a:avLst/>
                </a:prstGeom>
                <a:solidFill>
                  <a:srgbClr val="0000FF"/>
                </a:solidFill>
                <a:ln w="38100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Rectangle 111">
                <a:extLst>
                  <a:ext uri="{FF2B5EF4-FFF2-40B4-BE49-F238E27FC236}">
                    <a16:creationId xmlns:a16="http://schemas.microsoft.com/office/drawing/2014/main" id="{DD069666-BE27-98AA-5C3A-20DC1DF719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1" y="1840"/>
                <a:ext cx="237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/>
              <a:p>
                <a:pPr algn="just"/>
                <a:r>
                  <a:rPr lang="en-US" altLang="zh-CN" i="1">
                    <a:solidFill>
                      <a:srgbClr val="0000FF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baseline="-25000">
                    <a:solidFill>
                      <a:srgbClr val="0000FF"/>
                    </a:solidFill>
                    <a:ea typeface="宋体" panose="02010600030101010101" pitchFamily="2" charset="-122"/>
                  </a:rPr>
                  <a:t>0</a:t>
                </a:r>
                <a:endParaRPr lang="en-US" altLang="zh-CN">
                  <a:ea typeface="宋体" panose="02010600030101010101" pitchFamily="2" charset="-122"/>
                </a:endParaRPr>
              </a:p>
            </p:txBody>
          </p:sp>
          <p:grpSp>
            <p:nvGrpSpPr>
              <p:cNvPr id="51" name="Group 112">
                <a:extLst>
                  <a:ext uri="{FF2B5EF4-FFF2-40B4-BE49-F238E27FC236}">
                    <a16:creationId xmlns:a16="http://schemas.microsoft.com/office/drawing/2014/main" id="{11BA3412-E956-78D8-62E4-2E50A05842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0" y="1824"/>
                <a:ext cx="388" cy="864"/>
                <a:chOff x="3020" y="1824"/>
                <a:chExt cx="388" cy="864"/>
              </a:xfrm>
            </p:grpSpPr>
            <p:sp>
              <p:nvSpPr>
                <p:cNvPr id="52" name="Oval 113">
                  <a:extLst>
                    <a:ext uri="{FF2B5EF4-FFF2-40B4-BE49-F238E27FC236}">
                      <a16:creationId xmlns:a16="http://schemas.microsoft.com/office/drawing/2014/main" id="{DACDB72F-B4A7-EEE3-7E2E-8DC5BC5D8B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20" y="1824"/>
                  <a:ext cx="388" cy="86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Line 114">
                  <a:extLst>
                    <a:ext uri="{FF2B5EF4-FFF2-40B4-BE49-F238E27FC236}">
                      <a16:creationId xmlns:a16="http://schemas.microsoft.com/office/drawing/2014/main" id="{66BAA79B-827F-9425-0804-156B28B039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480000">
                  <a:off x="3216" y="2401"/>
                  <a:ext cx="47" cy="287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Rectangle 115">
                  <a:extLst>
                    <a:ext uri="{FF2B5EF4-FFF2-40B4-BE49-F238E27FC236}">
                      <a16:creationId xmlns:a16="http://schemas.microsoft.com/office/drawing/2014/main" id="{313B17FA-411C-4217-C8B5-8D3BCF5441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59" y="1849"/>
                  <a:ext cx="349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i="1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P</a:t>
                  </a:r>
                  <a:r>
                    <a:rPr lang="en-US" altLang="zh-CN" baseline="-25000">
                      <a:solidFill>
                        <a:srgbClr val="000000"/>
                      </a:solidFill>
                      <a:ea typeface="宋体" panose="02010600030101010101" pitchFamily="2" charset="-122"/>
                    </a:rPr>
                    <a:t>1</a:t>
                  </a:r>
                  <a:endParaRPr lang="zh-CN" altLang="en-US" baseline="-2500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5" name="Group 116">
              <a:extLst>
                <a:ext uri="{FF2B5EF4-FFF2-40B4-BE49-F238E27FC236}">
                  <a16:creationId xmlns:a16="http://schemas.microsoft.com/office/drawing/2014/main" id="{23F607FD-6001-5AB7-5EE6-AA30E0F1D1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7" y="3223"/>
              <a:ext cx="755" cy="185"/>
              <a:chOff x="3400" y="854"/>
              <a:chExt cx="824" cy="154"/>
            </a:xfrm>
          </p:grpSpPr>
          <p:sp>
            <p:nvSpPr>
              <p:cNvPr id="45" name="Line 117">
                <a:extLst>
                  <a:ext uri="{FF2B5EF4-FFF2-40B4-BE49-F238E27FC236}">
                    <a16:creationId xmlns:a16="http://schemas.microsoft.com/office/drawing/2014/main" id="{27CFDB61-C838-24F0-2DC4-9E1BFAA99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0" y="927"/>
                <a:ext cx="824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med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Line 118">
                <a:extLst>
                  <a:ext uri="{FF2B5EF4-FFF2-40B4-BE49-F238E27FC236}">
                    <a16:creationId xmlns:a16="http://schemas.microsoft.com/office/drawing/2014/main" id="{1044006E-53F3-DCFD-1263-38B1E1DCA6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2" y="854"/>
                <a:ext cx="0" cy="1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Line 119">
                <a:extLst>
                  <a:ext uri="{FF2B5EF4-FFF2-40B4-BE49-F238E27FC236}">
                    <a16:creationId xmlns:a16="http://schemas.microsoft.com/office/drawing/2014/main" id="{26FBF391-7199-E648-416E-7D6F42FAC8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854"/>
                <a:ext cx="1" cy="1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120">
                <a:extLst>
                  <a:ext uri="{FF2B5EF4-FFF2-40B4-BE49-F238E27FC236}">
                    <a16:creationId xmlns:a16="http://schemas.microsoft.com/office/drawing/2014/main" id="{34D969C9-08EC-9A66-3488-23C420BF5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860"/>
                <a:ext cx="1" cy="1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Rectangle 121">
              <a:extLst>
                <a:ext uri="{FF2B5EF4-FFF2-40B4-BE49-F238E27FC236}">
                  <a16:creationId xmlns:a16="http://schemas.microsoft.com/office/drawing/2014/main" id="{21498328-85BE-84D5-5C5B-F715A85F3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7" y="2887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lang="en-US" altLang="zh-CN" i="1">
                  <a:solidFill>
                    <a:srgbClr val="0000FF"/>
                  </a:solidFill>
                </a:rPr>
                <a:t>I</a:t>
              </a:r>
              <a:r>
                <a:rPr lang="en-US" altLang="zh-CN" baseline="-25000">
                  <a:solidFill>
                    <a:srgbClr val="0000FF"/>
                  </a:solidFill>
                </a:rPr>
                <a:t>0</a:t>
              </a:r>
              <a:r>
                <a:rPr lang="en-US" altLang="zh-CN">
                  <a:solidFill>
                    <a:srgbClr val="0000FF"/>
                  </a:solidFill>
                </a:rPr>
                <a:t>/2</a:t>
              </a:r>
            </a:p>
          </p:txBody>
        </p:sp>
        <p:grpSp>
          <p:nvGrpSpPr>
            <p:cNvPr id="7" name="Group 122">
              <a:extLst>
                <a:ext uri="{FF2B5EF4-FFF2-40B4-BE49-F238E27FC236}">
                  <a16:creationId xmlns:a16="http://schemas.microsoft.com/office/drawing/2014/main" id="{EE1BC2FB-2D6F-F73F-A2E7-473BAE405C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0" y="2627"/>
              <a:ext cx="1393" cy="1117"/>
              <a:chOff x="4032" y="83"/>
              <a:chExt cx="1329" cy="1117"/>
            </a:xfrm>
          </p:grpSpPr>
          <p:grpSp>
            <p:nvGrpSpPr>
              <p:cNvPr id="27" name="Group 123">
                <a:extLst>
                  <a:ext uri="{FF2B5EF4-FFF2-40B4-BE49-F238E27FC236}">
                    <a16:creationId xmlns:a16="http://schemas.microsoft.com/office/drawing/2014/main" id="{15B0CC0B-81B3-5251-4B1A-FCB6378C3C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56" y="336"/>
                <a:ext cx="824" cy="528"/>
                <a:chOff x="4456" y="336"/>
                <a:chExt cx="824" cy="528"/>
              </a:xfrm>
            </p:grpSpPr>
            <p:sp>
              <p:nvSpPr>
                <p:cNvPr id="38" name="Rectangle 124">
                  <a:extLst>
                    <a:ext uri="{FF2B5EF4-FFF2-40B4-BE49-F238E27FC236}">
                      <a16:creationId xmlns:a16="http://schemas.microsoft.com/office/drawing/2014/main" id="{EE40E212-8C39-AE1A-2491-0303665A4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6" y="336"/>
                  <a:ext cx="32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/>
                  <a:r>
                    <a:rPr lang="en-US" altLang="zh-CN" i="1">
                      <a:solidFill>
                        <a:srgbClr val="0000FF"/>
                      </a:solidFill>
                      <a:ea typeface="宋体" panose="02010600030101010101" pitchFamily="2" charset="-122"/>
                    </a:rPr>
                    <a:t>I</a:t>
                  </a:r>
                  <a:r>
                    <a:rPr lang="en-US" altLang="zh-CN" baseline="-25000">
                      <a:solidFill>
                        <a:srgbClr val="0000FF"/>
                      </a:solidFill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grpSp>
              <p:nvGrpSpPr>
                <p:cNvPr id="39" name="Group 125">
                  <a:extLst>
                    <a:ext uri="{FF2B5EF4-FFF2-40B4-BE49-F238E27FC236}">
                      <a16:creationId xmlns:a16="http://schemas.microsoft.com/office/drawing/2014/main" id="{9AEE1EC0-AC19-AAA4-5EDB-B5A7D9C8E1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56" y="672"/>
                  <a:ext cx="824" cy="192"/>
                  <a:chOff x="4456" y="624"/>
                  <a:chExt cx="824" cy="192"/>
                </a:xfrm>
              </p:grpSpPr>
              <p:sp>
                <p:nvSpPr>
                  <p:cNvPr id="40" name="Line 126">
                    <a:extLst>
                      <a:ext uri="{FF2B5EF4-FFF2-40B4-BE49-F238E27FC236}">
                        <a16:creationId xmlns:a16="http://schemas.microsoft.com/office/drawing/2014/main" id="{E8D3E442-5B8C-ACDF-FD14-426523B1B9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56" y="711"/>
                    <a:ext cx="824" cy="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 type="none" w="med" len="sm"/>
                    <a:tailEnd type="triangl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41" name="Group 127">
                    <a:extLst>
                      <a:ext uri="{FF2B5EF4-FFF2-40B4-BE49-F238E27FC236}">
                        <a16:creationId xmlns:a16="http://schemas.microsoft.com/office/drawing/2014/main" id="{28321BFE-46A1-74FB-C1DA-C15467A07E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543" y="624"/>
                    <a:ext cx="545" cy="192"/>
                    <a:chOff x="3199" y="3696"/>
                    <a:chExt cx="545" cy="192"/>
                  </a:xfrm>
                </p:grpSpPr>
                <p:sp>
                  <p:nvSpPr>
                    <p:cNvPr id="42" name="Line 128">
                      <a:extLst>
                        <a:ext uri="{FF2B5EF4-FFF2-40B4-BE49-F238E27FC236}">
                          <a16:creationId xmlns:a16="http://schemas.microsoft.com/office/drawing/2014/main" id="{926F293E-E326-FEF2-8A19-FEC88A8E067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199" y="3696"/>
                      <a:ext cx="65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" name="Line 129">
                      <a:extLst>
                        <a:ext uri="{FF2B5EF4-FFF2-40B4-BE49-F238E27FC236}">
                          <a16:creationId xmlns:a16="http://schemas.microsoft.com/office/drawing/2014/main" id="{6B4482CC-EFFE-0E0B-B22B-F99B3EC1C3B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39" y="3696"/>
                      <a:ext cx="65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4" name="Line 130">
                      <a:extLst>
                        <a:ext uri="{FF2B5EF4-FFF2-40B4-BE49-F238E27FC236}">
                          <a16:creationId xmlns:a16="http://schemas.microsoft.com/office/drawing/2014/main" id="{9B8E753D-E5E3-9469-1D34-14F72B09F39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79" y="3696"/>
                      <a:ext cx="65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28" name="Group 131">
                <a:extLst>
                  <a:ext uri="{FF2B5EF4-FFF2-40B4-BE49-F238E27FC236}">
                    <a16:creationId xmlns:a16="http://schemas.microsoft.com/office/drawing/2014/main" id="{E109C875-B03B-971D-7E01-48262FC615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83"/>
                <a:ext cx="1329" cy="1117"/>
                <a:chOff x="4032" y="35"/>
                <a:chExt cx="1329" cy="1117"/>
              </a:xfrm>
            </p:grpSpPr>
            <p:grpSp>
              <p:nvGrpSpPr>
                <p:cNvPr id="29" name="Group 132">
                  <a:extLst>
                    <a:ext uri="{FF2B5EF4-FFF2-40B4-BE49-F238E27FC236}">
                      <a16:creationId xmlns:a16="http://schemas.microsoft.com/office/drawing/2014/main" id="{1F867940-0C49-C39A-B842-C46F860DA8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32" y="35"/>
                  <a:ext cx="1329" cy="1117"/>
                  <a:chOff x="4032" y="35"/>
                  <a:chExt cx="1329" cy="1117"/>
                </a:xfrm>
              </p:grpSpPr>
              <p:sp>
                <p:nvSpPr>
                  <p:cNvPr id="34" name="Oval 133">
                    <a:extLst>
                      <a:ext uri="{FF2B5EF4-FFF2-40B4-BE49-F238E27FC236}">
                        <a16:creationId xmlns:a16="http://schemas.microsoft.com/office/drawing/2014/main" id="{F3018B4C-67C2-DC65-3634-4FFD2A1DFE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288"/>
                    <a:ext cx="432" cy="864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" name="Line 134">
                    <a:extLst>
                      <a:ext uri="{FF2B5EF4-FFF2-40B4-BE49-F238E27FC236}">
                        <a16:creationId xmlns:a16="http://schemas.microsoft.com/office/drawing/2014/main" id="{54B36667-BA27-5E1A-9F99-53219E9E1E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272" y="912"/>
                    <a:ext cx="96" cy="240"/>
                  </a:xfrm>
                  <a:prstGeom prst="line">
                    <a:avLst/>
                  </a:prstGeom>
                  <a:noFill/>
                  <a:ln w="25400">
                    <a:solidFill>
                      <a:srgbClr val="FF0000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Rectangle 135">
                    <a:extLst>
                      <a:ext uri="{FF2B5EF4-FFF2-40B4-BE49-F238E27FC236}">
                        <a16:creationId xmlns:a16="http://schemas.microsoft.com/office/drawing/2014/main" id="{8E214D83-1BEE-F7B1-FBFB-C75D0C7BD62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32" y="35"/>
                    <a:ext cx="329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1" dirty="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P</a:t>
                    </a:r>
                    <a:r>
                      <a:rPr lang="en-US" altLang="zh-CN" baseline="-25000" dirty="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3</a:t>
                    </a:r>
                    <a:endParaRPr lang="zh-CN" altLang="en-US" baseline="-25000" dirty="0">
                      <a:solidFill>
                        <a:srgbClr val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7" name="Line 136">
                    <a:extLst>
                      <a:ext uri="{FF2B5EF4-FFF2-40B4-BE49-F238E27FC236}">
                        <a16:creationId xmlns:a16="http://schemas.microsoft.com/office/drawing/2014/main" id="{34E61F4B-DA16-4653-2C73-5474CCC33E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72" y="336"/>
                    <a:ext cx="0" cy="768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" name="Group 137">
                  <a:extLst>
                    <a:ext uri="{FF2B5EF4-FFF2-40B4-BE49-F238E27FC236}">
                      <a16:creationId xmlns:a16="http://schemas.microsoft.com/office/drawing/2014/main" id="{DD02E4CA-E968-6F11-5A76-08C3A3A764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63" y="96"/>
                  <a:ext cx="529" cy="672"/>
                  <a:chOff x="4263" y="96"/>
                  <a:chExt cx="529" cy="672"/>
                </a:xfrm>
              </p:grpSpPr>
              <p:sp>
                <p:nvSpPr>
                  <p:cNvPr id="31" name="Line 138">
                    <a:extLst>
                      <a:ext uri="{FF2B5EF4-FFF2-40B4-BE49-F238E27FC236}">
                        <a16:creationId xmlns:a16="http://schemas.microsoft.com/office/drawing/2014/main" id="{6E6E2D99-866E-FC30-19F5-72623DC7D3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72" y="432"/>
                    <a:ext cx="96" cy="336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" name="Arc 139">
                    <a:extLst>
                      <a:ext uri="{FF2B5EF4-FFF2-40B4-BE49-F238E27FC236}">
                        <a16:creationId xmlns:a16="http://schemas.microsoft.com/office/drawing/2014/main" id="{EAAB99A0-BD37-EA76-9725-DEEADDE67C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63" y="482"/>
                    <a:ext cx="59" cy="9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501"/>
                      <a:gd name="T1" fmla="*/ 0 h 21600"/>
                      <a:gd name="T2" fmla="*/ 21501 w 21501"/>
                      <a:gd name="T3" fmla="*/ 19529 h 21600"/>
                      <a:gd name="T4" fmla="*/ 0 w 21501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501" h="21600" fill="none" extrusionOk="0">
                        <a:moveTo>
                          <a:pt x="-1" y="0"/>
                        </a:moveTo>
                        <a:cubicBezTo>
                          <a:pt x="11127" y="0"/>
                          <a:pt x="20433" y="8453"/>
                          <a:pt x="21500" y="19529"/>
                        </a:cubicBezTo>
                      </a:path>
                      <a:path w="21501" h="21600" stroke="0" extrusionOk="0">
                        <a:moveTo>
                          <a:pt x="-1" y="0"/>
                        </a:moveTo>
                        <a:cubicBezTo>
                          <a:pt x="11127" y="0"/>
                          <a:pt x="20433" y="8453"/>
                          <a:pt x="21500" y="1952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1750">
                    <a:solidFill>
                      <a:srgbClr val="FF00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srgbClr val="FF00FF"/>
                      </a:solidFill>
                    </a:endParaRPr>
                  </a:p>
                </p:txBody>
              </p:sp>
              <p:sp>
                <p:nvSpPr>
                  <p:cNvPr id="33" name="Rectangle 140">
                    <a:extLst>
                      <a:ext uri="{FF2B5EF4-FFF2-40B4-BE49-F238E27FC236}">
                        <a16:creationId xmlns:a16="http://schemas.microsoft.com/office/drawing/2014/main" id="{C851E7E4-90C7-AB32-04AC-DD5A2C72D1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72" y="96"/>
                    <a:ext cx="52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400" baseline="30000" dirty="0">
                        <a:solidFill>
                          <a:srgbClr val="FF0000"/>
                        </a:solidFill>
                        <a:sym typeface="Symbol" panose="05050102010706020507" pitchFamily="18" charset="2"/>
                      </a:rPr>
                      <a:t>θ</a:t>
                    </a:r>
                  </a:p>
                </p:txBody>
              </p:sp>
            </p:grpSp>
          </p:grpSp>
        </p:grpSp>
        <p:grpSp>
          <p:nvGrpSpPr>
            <p:cNvPr id="8" name="Group 141">
              <a:extLst>
                <a:ext uri="{FF2B5EF4-FFF2-40B4-BE49-F238E27FC236}">
                  <a16:creationId xmlns:a16="http://schemas.microsoft.com/office/drawing/2014/main" id="{8259D54D-7D74-A4DC-9E08-7709A97F73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8" y="2539"/>
              <a:ext cx="2449" cy="1205"/>
              <a:chOff x="4007" y="-5"/>
              <a:chExt cx="2337" cy="1205"/>
            </a:xfrm>
          </p:grpSpPr>
          <p:grpSp>
            <p:nvGrpSpPr>
              <p:cNvPr id="9" name="Group 142">
                <a:extLst>
                  <a:ext uri="{FF2B5EF4-FFF2-40B4-BE49-F238E27FC236}">
                    <a16:creationId xmlns:a16="http://schemas.microsoft.com/office/drawing/2014/main" id="{FE26F168-2E33-8486-7A5E-B71DD1E749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20" y="336"/>
                <a:ext cx="824" cy="528"/>
                <a:chOff x="4744" y="1776"/>
                <a:chExt cx="824" cy="528"/>
              </a:xfrm>
            </p:grpSpPr>
            <p:sp>
              <p:nvSpPr>
                <p:cNvPr id="20" name="Rectangle 143">
                  <a:extLst>
                    <a:ext uri="{FF2B5EF4-FFF2-40B4-BE49-F238E27FC236}">
                      <a16:creationId xmlns:a16="http://schemas.microsoft.com/office/drawing/2014/main" id="{E1F515ED-3C1C-64B5-619D-6558DB2C61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6" y="1776"/>
                  <a:ext cx="32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/>
                  <a:r>
                    <a:rPr lang="en-US" altLang="zh-CN" i="1">
                      <a:solidFill>
                        <a:srgbClr val="0000FF"/>
                      </a:solidFill>
                      <a:ea typeface="宋体" panose="02010600030101010101" pitchFamily="2" charset="-122"/>
                    </a:rPr>
                    <a:t>I</a:t>
                  </a:r>
                  <a:r>
                    <a:rPr lang="en-US" altLang="zh-CN" baseline="-25000">
                      <a:solidFill>
                        <a:srgbClr val="0000FF"/>
                      </a:solidFill>
                      <a:ea typeface="宋体" panose="02010600030101010101" pitchFamily="2" charset="-122"/>
                    </a:rPr>
                    <a:t>3</a:t>
                  </a:r>
                </a:p>
              </p:txBody>
            </p:sp>
            <p:grpSp>
              <p:nvGrpSpPr>
                <p:cNvPr id="21" name="Group 144">
                  <a:extLst>
                    <a:ext uri="{FF2B5EF4-FFF2-40B4-BE49-F238E27FC236}">
                      <a16:creationId xmlns:a16="http://schemas.microsoft.com/office/drawing/2014/main" id="{00076294-3CB4-D54E-2A4D-545796AE350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4" y="2112"/>
                  <a:ext cx="824" cy="192"/>
                  <a:chOff x="4744" y="2112"/>
                  <a:chExt cx="824" cy="192"/>
                </a:xfrm>
              </p:grpSpPr>
              <p:sp>
                <p:nvSpPr>
                  <p:cNvPr id="22" name="Line 145">
                    <a:extLst>
                      <a:ext uri="{FF2B5EF4-FFF2-40B4-BE49-F238E27FC236}">
                        <a16:creationId xmlns:a16="http://schemas.microsoft.com/office/drawing/2014/main" id="{46267390-DC51-F9CB-8937-D9660D7856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44" y="2199"/>
                    <a:ext cx="824" cy="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 type="none" w="med" len="sm"/>
                    <a:tailEnd type="triangl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3" name="Group 146">
                    <a:extLst>
                      <a:ext uri="{FF2B5EF4-FFF2-40B4-BE49-F238E27FC236}">
                        <a16:creationId xmlns:a16="http://schemas.microsoft.com/office/drawing/2014/main" id="{223E9477-1B8C-F61F-FED2-E9197C5094C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831" y="2112"/>
                    <a:ext cx="514" cy="192"/>
                    <a:chOff x="4831" y="2112"/>
                    <a:chExt cx="514" cy="192"/>
                  </a:xfrm>
                </p:grpSpPr>
                <p:sp>
                  <p:nvSpPr>
                    <p:cNvPr id="24" name="Line 147">
                      <a:extLst>
                        <a:ext uri="{FF2B5EF4-FFF2-40B4-BE49-F238E27FC236}">
                          <a16:creationId xmlns:a16="http://schemas.microsoft.com/office/drawing/2014/main" id="{D82F1C0F-56E4-D9B7-B814-2CA7A50F3F2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4831" y="2112"/>
                      <a:ext cx="113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" name="Line 148">
                      <a:extLst>
                        <a:ext uri="{FF2B5EF4-FFF2-40B4-BE49-F238E27FC236}">
                          <a16:creationId xmlns:a16="http://schemas.microsoft.com/office/drawing/2014/main" id="{3E6AA955-FB03-EB68-C7A2-022DFB12690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5040" y="2112"/>
                      <a:ext cx="113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" name="Line 149">
                      <a:extLst>
                        <a:ext uri="{FF2B5EF4-FFF2-40B4-BE49-F238E27FC236}">
                          <a16:creationId xmlns:a16="http://schemas.microsoft.com/office/drawing/2014/main" id="{439B2134-E3ED-0615-5742-6E3A29AA367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5232" y="2112"/>
                      <a:ext cx="113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10" name="Group 150">
                <a:extLst>
                  <a:ext uri="{FF2B5EF4-FFF2-40B4-BE49-F238E27FC236}">
                    <a16:creationId xmlns:a16="http://schemas.microsoft.com/office/drawing/2014/main" id="{CE46153E-EDDB-99E7-67B9-21B8815CD1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07" y="-5"/>
                <a:ext cx="1935" cy="1205"/>
                <a:chOff x="4007" y="-53"/>
                <a:chExt cx="1935" cy="1205"/>
              </a:xfrm>
            </p:grpSpPr>
            <p:grpSp>
              <p:nvGrpSpPr>
                <p:cNvPr id="11" name="Group 151">
                  <a:extLst>
                    <a:ext uri="{FF2B5EF4-FFF2-40B4-BE49-F238E27FC236}">
                      <a16:creationId xmlns:a16="http://schemas.microsoft.com/office/drawing/2014/main" id="{D84ECBE2-2622-63B0-34A2-B526D77F55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07" y="-53"/>
                  <a:ext cx="1513" cy="1205"/>
                  <a:chOff x="4007" y="-53"/>
                  <a:chExt cx="1513" cy="1205"/>
                </a:xfrm>
              </p:grpSpPr>
              <p:sp>
                <p:nvSpPr>
                  <p:cNvPr id="16" name="Oval 152">
                    <a:extLst>
                      <a:ext uri="{FF2B5EF4-FFF2-40B4-BE49-F238E27FC236}">
                        <a16:creationId xmlns:a16="http://schemas.microsoft.com/office/drawing/2014/main" id="{A05D3B79-142F-FFFD-55FA-3EA7D07590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88" y="288"/>
                    <a:ext cx="432" cy="864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" name="Line 153">
                    <a:extLst>
                      <a:ext uri="{FF2B5EF4-FFF2-40B4-BE49-F238E27FC236}">
                        <a16:creationId xmlns:a16="http://schemas.microsoft.com/office/drawing/2014/main" id="{3B2A8758-86CC-EAE3-C6B7-196E36E6C70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28" y="960"/>
                    <a:ext cx="144" cy="192"/>
                  </a:xfrm>
                  <a:prstGeom prst="line">
                    <a:avLst/>
                  </a:prstGeom>
                  <a:noFill/>
                  <a:ln w="31750">
                    <a:solidFill>
                      <a:srgbClr val="FF0000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" name="Rectangle 154">
                    <a:extLst>
                      <a:ext uri="{FF2B5EF4-FFF2-40B4-BE49-F238E27FC236}">
                        <a16:creationId xmlns:a16="http://schemas.microsoft.com/office/drawing/2014/main" id="{52E80C02-B01E-BF69-7F47-CA5D93739E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07" y="-53"/>
                    <a:ext cx="329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1" dirty="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P</a:t>
                    </a:r>
                    <a:r>
                      <a:rPr lang="en-US" altLang="zh-CN" baseline="-25000" dirty="0">
                        <a:solidFill>
                          <a:srgbClr val="000000"/>
                        </a:solidFill>
                        <a:ea typeface="宋体" panose="02010600030101010101" pitchFamily="2" charset="-122"/>
                      </a:rPr>
                      <a:t>2</a:t>
                    </a:r>
                    <a:endParaRPr lang="zh-CN" altLang="en-US" baseline="-25000" dirty="0">
                      <a:solidFill>
                        <a:srgbClr val="000000"/>
                      </a:solidFill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" name="Line 155">
                    <a:extLst>
                      <a:ext uri="{FF2B5EF4-FFF2-40B4-BE49-F238E27FC236}">
                        <a16:creationId xmlns:a16="http://schemas.microsoft.com/office/drawing/2014/main" id="{9364E276-6211-F4D5-D9E9-020CF67AC3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328" y="336"/>
                    <a:ext cx="0" cy="768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" name="Group 156">
                  <a:extLst>
                    <a:ext uri="{FF2B5EF4-FFF2-40B4-BE49-F238E27FC236}">
                      <a16:creationId xmlns:a16="http://schemas.microsoft.com/office/drawing/2014/main" id="{C4A3038B-E818-593A-AE86-C46F3B271D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28" y="240"/>
                  <a:ext cx="614" cy="528"/>
                  <a:chOff x="5328" y="240"/>
                  <a:chExt cx="614" cy="528"/>
                </a:xfrm>
              </p:grpSpPr>
              <p:sp>
                <p:nvSpPr>
                  <p:cNvPr id="13" name="Line 157">
                    <a:extLst>
                      <a:ext uri="{FF2B5EF4-FFF2-40B4-BE49-F238E27FC236}">
                        <a16:creationId xmlns:a16="http://schemas.microsoft.com/office/drawing/2014/main" id="{F64CF3A5-7FBD-E9D7-3369-F338FA759B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328" y="576"/>
                    <a:ext cx="144" cy="19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" name="Arc 158">
                    <a:extLst>
                      <a:ext uri="{FF2B5EF4-FFF2-40B4-BE49-F238E27FC236}">
                        <a16:creationId xmlns:a16="http://schemas.microsoft.com/office/drawing/2014/main" id="{4F537537-662A-D81B-DE17-2D1615BE07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808564">
                    <a:off x="5333" y="528"/>
                    <a:ext cx="91" cy="144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0859"/>
                      <a:gd name="T1" fmla="*/ 0 h 21600"/>
                      <a:gd name="T2" fmla="*/ 20859 w 20859"/>
                      <a:gd name="T3" fmla="*/ 15990 h 21600"/>
                      <a:gd name="T4" fmla="*/ 0 w 20859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859" h="21600" fill="none" extrusionOk="0">
                        <a:moveTo>
                          <a:pt x="-1" y="0"/>
                        </a:moveTo>
                        <a:cubicBezTo>
                          <a:pt x="9768" y="0"/>
                          <a:pt x="18321" y="6556"/>
                          <a:pt x="20858" y="15990"/>
                        </a:cubicBezTo>
                      </a:path>
                      <a:path w="20859" h="21600" stroke="0" extrusionOk="0">
                        <a:moveTo>
                          <a:pt x="-1" y="0"/>
                        </a:moveTo>
                        <a:cubicBezTo>
                          <a:pt x="9768" y="0"/>
                          <a:pt x="18321" y="6556"/>
                          <a:pt x="20858" y="1599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1750">
                    <a:solidFill>
                      <a:srgbClr val="FF00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srgbClr val="FF00FF"/>
                      </a:solidFill>
                    </a:endParaRPr>
                  </a:p>
                </p:txBody>
              </p:sp>
              <p:sp>
                <p:nvSpPr>
                  <p:cNvPr id="15" name="Rectangle 159">
                    <a:extLst>
                      <a:ext uri="{FF2B5EF4-FFF2-40B4-BE49-F238E27FC236}">
                        <a16:creationId xmlns:a16="http://schemas.microsoft.com/office/drawing/2014/main" id="{45B9840C-004C-2639-ED1E-C2FF15280F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472" y="240"/>
                    <a:ext cx="47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400" dirty="0">
                        <a:solidFill>
                          <a:srgbClr val="FF0000"/>
                        </a:solidFill>
                        <a:sym typeface="Symbol" panose="05050102010706020507" pitchFamily="18" charset="2"/>
                      </a:rPr>
                      <a:t>90</a:t>
                    </a:r>
                    <a:r>
                      <a:rPr lang="en-US" altLang="zh-CN" sz="2400" baseline="30000" dirty="0">
                        <a:solidFill>
                          <a:srgbClr val="FF0000"/>
                        </a:solidFill>
                        <a:sym typeface="Symbol" panose="05050102010706020507" pitchFamily="18" charset="2"/>
                      </a:rPr>
                      <a:t>0</a:t>
                    </a:r>
                    <a:r>
                      <a:rPr lang="en-US" altLang="zh-CN" sz="2400" dirty="0">
                        <a:solidFill>
                          <a:srgbClr val="FF0000"/>
                        </a:solidFill>
                        <a:sym typeface="Symbol" panose="05050102010706020507" pitchFamily="18" charset="2"/>
                      </a:rPr>
                      <a:t>-θ</a:t>
                    </a:r>
                    <a:endParaRPr lang="en-US" altLang="zh-CN" sz="2400" baseline="30000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</p:grpSp>
        </p:grpSp>
      </p:grpSp>
      <p:graphicFrame>
        <p:nvGraphicFramePr>
          <p:cNvPr id="62" name="Object 161">
            <a:extLst>
              <a:ext uri="{FF2B5EF4-FFF2-40B4-BE49-F238E27FC236}">
                <a16:creationId xmlns:a16="http://schemas.microsoft.com/office/drawing/2014/main" id="{63722DBC-6846-7D78-8AEA-94336E01A152}"/>
              </a:ext>
            </a:extLst>
          </p:cNvPr>
          <p:cNvGraphicFramePr>
            <a:graphicFrameLocks/>
          </p:cNvGraphicFramePr>
          <p:nvPr/>
        </p:nvGraphicFramePr>
        <p:xfrm>
          <a:off x="53975" y="5122216"/>
          <a:ext cx="84709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81280" imgH="330120" progId="Equation.DSMT4">
                  <p:embed/>
                </p:oleObj>
              </mc:Choice>
              <mc:Fallback>
                <p:oleObj name="Equation" r:id="rId3" imgW="3581280" imgH="330120" progId="Equation.DSMT4">
                  <p:embed/>
                  <p:pic>
                    <p:nvPicPr>
                      <p:cNvPr id="62" name="Object 161">
                        <a:extLst>
                          <a:ext uri="{FF2B5EF4-FFF2-40B4-BE49-F238E27FC236}">
                            <a16:creationId xmlns:a16="http://schemas.microsoft.com/office/drawing/2014/main" id="{63722DBC-6846-7D78-8AEA-94336E01A152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" y="5122216"/>
                        <a:ext cx="84709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811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E02DB-888A-CF41-C2C2-9B5BE87C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328C0B7-F0B1-F766-20A6-B6F4F3C09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1395412"/>
            <a:ext cx="9134475" cy="4067175"/>
          </a:xfrm>
          <a:prstGeom prst="rect">
            <a:avLst/>
          </a:prstGeom>
        </p:spPr>
      </p:pic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DA30CDDC-A060-4384-C87B-A79B93D8ED31}"/>
              </a:ext>
            </a:extLst>
          </p:cNvPr>
          <p:cNvGraphicFramePr>
            <a:graphicFrameLocks/>
          </p:cNvGraphicFramePr>
          <p:nvPr/>
        </p:nvGraphicFramePr>
        <p:xfrm>
          <a:off x="1951608" y="3325427"/>
          <a:ext cx="3124200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12520" imgH="368280" progId="Equation.3">
                  <p:embed/>
                </p:oleObj>
              </mc:Choice>
              <mc:Fallback>
                <p:oleObj name="Equation" r:id="rId3" imgW="812520" imgH="368280" progId="Equation.3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DA30CDDC-A060-4384-C87B-A79B93D8ED31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608" y="3325427"/>
                        <a:ext cx="3124200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7E912C35-EEE1-F3EF-3A4B-D8692AC25D7D}"/>
              </a:ext>
            </a:extLst>
          </p:cNvPr>
          <p:cNvGraphicFramePr>
            <a:graphicFrameLocks/>
          </p:cNvGraphicFramePr>
          <p:nvPr/>
        </p:nvGraphicFramePr>
        <p:xfrm>
          <a:off x="2486734" y="4733679"/>
          <a:ext cx="44577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6360" imgH="228600" progId="Equation.DSMT4">
                  <p:embed/>
                </p:oleObj>
              </mc:Choice>
              <mc:Fallback>
                <p:oleObj name="Equation" r:id="rId5" imgW="1206360" imgH="228600" progId="Equation.DSMT4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7E912C35-EEE1-F3EF-3A4B-D8692AC25D7D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734" y="4733679"/>
                        <a:ext cx="44577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255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21091-59AA-2AE2-7DB0-703746B9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AD46368-B4A0-3A57-B27B-D637FFE3E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837" y="1381125"/>
            <a:ext cx="6410325" cy="4095750"/>
          </a:xfrm>
          <a:prstGeom prst="rect">
            <a:avLst/>
          </a:prstGeom>
        </p:spPr>
      </p:pic>
      <p:grpSp>
        <p:nvGrpSpPr>
          <p:cNvPr id="56" name="Group 158">
            <a:extLst>
              <a:ext uri="{FF2B5EF4-FFF2-40B4-BE49-F238E27FC236}">
                <a16:creationId xmlns:a16="http://schemas.microsoft.com/office/drawing/2014/main" id="{4E027BBA-2D87-50FE-DBC6-B9E36BF28A0E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297363"/>
            <a:ext cx="2743200" cy="2057400"/>
            <a:chOff x="2064" y="2832"/>
            <a:chExt cx="1728" cy="1296"/>
          </a:xfrm>
        </p:grpSpPr>
        <p:grpSp>
          <p:nvGrpSpPr>
            <p:cNvPr id="57" name="Group 159">
              <a:extLst>
                <a:ext uri="{FF2B5EF4-FFF2-40B4-BE49-F238E27FC236}">
                  <a16:creationId xmlns:a16="http://schemas.microsoft.com/office/drawing/2014/main" id="{26676804-7DBB-F103-A1E9-95617188A0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928"/>
              <a:ext cx="384" cy="480"/>
              <a:chOff x="2688" y="2928"/>
              <a:chExt cx="384" cy="480"/>
            </a:xfrm>
          </p:grpSpPr>
          <p:sp>
            <p:nvSpPr>
              <p:cNvPr id="72" name="Text Box 160">
                <a:extLst>
                  <a:ext uri="{FF2B5EF4-FFF2-40B4-BE49-F238E27FC236}">
                    <a16:creationId xmlns:a16="http://schemas.microsoft.com/office/drawing/2014/main" id="{B4A3B92A-2A36-AF21-0036-C08E337525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928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73" name="Arc 161">
                <a:extLst>
                  <a:ext uri="{FF2B5EF4-FFF2-40B4-BE49-F238E27FC236}">
                    <a16:creationId xmlns:a16="http://schemas.microsoft.com/office/drawing/2014/main" id="{33EB89E5-0BAB-13E3-D360-96B4E9771194}"/>
                  </a:ext>
                </a:extLst>
              </p:cNvPr>
              <p:cNvSpPr>
                <a:spLocks/>
              </p:cNvSpPr>
              <p:nvPr/>
            </p:nvSpPr>
            <p:spPr bwMode="auto">
              <a:xfrm rot="-3490759">
                <a:off x="2899" y="3284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  <p:grpSp>
          <p:nvGrpSpPr>
            <p:cNvPr id="58" name="Group 162">
              <a:extLst>
                <a:ext uri="{FF2B5EF4-FFF2-40B4-BE49-F238E27FC236}">
                  <a16:creationId xmlns:a16="http://schemas.microsoft.com/office/drawing/2014/main" id="{3794AD3D-4432-360E-736A-83EEA25484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832"/>
              <a:ext cx="1728" cy="1296"/>
              <a:chOff x="2160" y="2832"/>
              <a:chExt cx="1728" cy="1296"/>
            </a:xfrm>
          </p:grpSpPr>
          <p:sp>
            <p:nvSpPr>
              <p:cNvPr id="59" name="Line 163">
                <a:extLst>
                  <a:ext uri="{FF2B5EF4-FFF2-40B4-BE49-F238E27FC236}">
                    <a16:creationId xmlns:a16="http://schemas.microsoft.com/office/drawing/2014/main" id="{84C872C6-D2AF-E748-F62C-902C8DD2DF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0" y="3552"/>
                <a:ext cx="1728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164">
                <a:extLst>
                  <a:ext uri="{FF2B5EF4-FFF2-40B4-BE49-F238E27FC236}">
                    <a16:creationId xmlns:a16="http://schemas.microsoft.com/office/drawing/2014/main" id="{E24E2CA3-643B-5D7E-AEC2-BFA750F9C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4" y="2832"/>
                <a:ext cx="0" cy="1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Rectangle 165">
                <a:extLst>
                  <a:ext uri="{FF2B5EF4-FFF2-40B4-BE49-F238E27FC236}">
                    <a16:creationId xmlns:a16="http://schemas.microsoft.com/office/drawing/2014/main" id="{776F5975-2159-234B-3A44-6AFF0D54F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" y="3168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rgbClr val="000000"/>
                    </a:solidFill>
                  </a:rPr>
                  <a:t>n</a:t>
                </a:r>
                <a:r>
                  <a:rPr lang="en-US" altLang="zh-CN" baseline="-25000">
                    <a:solidFill>
                      <a:srgbClr val="000000"/>
                    </a:solidFill>
                  </a:rPr>
                  <a:t>1</a:t>
                </a:r>
                <a:endParaRPr lang="zh-CN" altLang="en-US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62" name="Rectangle 166">
                <a:extLst>
                  <a:ext uri="{FF2B5EF4-FFF2-40B4-BE49-F238E27FC236}">
                    <a16:creationId xmlns:a16="http://schemas.microsoft.com/office/drawing/2014/main" id="{18629303-CCD5-98B1-2280-AC46A31EA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" y="3561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rgbClr val="000000"/>
                    </a:solidFill>
                  </a:rPr>
                  <a:t>n</a:t>
                </a:r>
                <a:r>
                  <a:rPr lang="en-US" altLang="zh-CN" baseline="-25000">
                    <a:solidFill>
                      <a:srgbClr val="000000"/>
                    </a:solidFill>
                  </a:rPr>
                  <a:t>2</a:t>
                </a:r>
                <a:endParaRPr lang="zh-CN" altLang="en-US" baseline="-250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63" name="Group 167">
                <a:extLst>
                  <a:ext uri="{FF2B5EF4-FFF2-40B4-BE49-F238E27FC236}">
                    <a16:creationId xmlns:a16="http://schemas.microsoft.com/office/drawing/2014/main" id="{CA980F65-7EA8-E870-5990-8760369084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6" y="2928"/>
                <a:ext cx="768" cy="624"/>
                <a:chOff x="2256" y="2928"/>
                <a:chExt cx="768" cy="624"/>
              </a:xfrm>
            </p:grpSpPr>
            <p:grpSp>
              <p:nvGrpSpPr>
                <p:cNvPr id="64" name="Group 168">
                  <a:extLst>
                    <a:ext uri="{FF2B5EF4-FFF2-40B4-BE49-F238E27FC236}">
                      <a16:creationId xmlns:a16="http://schemas.microsoft.com/office/drawing/2014/main" id="{3A45959D-705F-6816-33C2-95F16DCF4BD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56" y="2928"/>
                  <a:ext cx="768" cy="624"/>
                  <a:chOff x="2256" y="2928"/>
                  <a:chExt cx="768" cy="624"/>
                </a:xfrm>
              </p:grpSpPr>
              <p:sp>
                <p:nvSpPr>
                  <p:cNvPr id="68" name="Line 169">
                    <a:extLst>
                      <a:ext uri="{FF2B5EF4-FFF2-40B4-BE49-F238E27FC236}">
                        <a16:creationId xmlns:a16="http://schemas.microsoft.com/office/drawing/2014/main" id="{8405E0E3-B10B-08F3-9411-DD1C676812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56" y="2928"/>
                    <a:ext cx="768" cy="623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" name="Rectangle 170">
                    <a:extLst>
                      <a:ext uri="{FF2B5EF4-FFF2-40B4-BE49-F238E27FC236}">
                        <a16:creationId xmlns:a16="http://schemas.microsoft.com/office/drawing/2014/main" id="{A9E71743-639C-C7D0-23AF-7FFA783B31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2976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anose="05050102010706020507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  <p:sp>
                <p:nvSpPr>
                  <p:cNvPr id="70" name="Rectangle 171">
                    <a:extLst>
                      <a:ext uri="{FF2B5EF4-FFF2-40B4-BE49-F238E27FC236}">
                        <a16:creationId xmlns:a16="http://schemas.microsoft.com/office/drawing/2014/main" id="{02CA9BD4-3177-58C3-EBB3-833A409165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44" y="3120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anose="05050102010706020507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  <p:sp>
                <p:nvSpPr>
                  <p:cNvPr id="71" name="Rectangle 172">
                    <a:extLst>
                      <a:ext uri="{FF2B5EF4-FFF2-40B4-BE49-F238E27FC236}">
                        <a16:creationId xmlns:a16="http://schemas.microsoft.com/office/drawing/2014/main" id="{55FDEB43-3D53-56A1-4A89-CA9C882822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36" y="3264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anose="05050102010706020507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</p:grpSp>
            <p:sp>
              <p:nvSpPr>
                <p:cNvPr id="65" name="Line 173">
                  <a:extLst>
                    <a:ext uri="{FF2B5EF4-FFF2-40B4-BE49-F238E27FC236}">
                      <a16:creationId xmlns:a16="http://schemas.microsoft.com/office/drawing/2014/main" id="{369269FE-2261-2BBB-D9C8-7ABCC7B3F0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496" y="3072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Line 174">
                  <a:extLst>
                    <a:ext uri="{FF2B5EF4-FFF2-40B4-BE49-F238E27FC236}">
                      <a16:creationId xmlns:a16="http://schemas.microsoft.com/office/drawing/2014/main" id="{C6E321B8-AFC7-A0C4-39DB-1A4C3FB1D6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688" y="3216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" name="Line 175">
                  <a:extLst>
                    <a:ext uri="{FF2B5EF4-FFF2-40B4-BE49-F238E27FC236}">
                      <a16:creationId xmlns:a16="http://schemas.microsoft.com/office/drawing/2014/main" id="{076AFE10-EEB7-C11A-0D9A-C2E063BF6F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04" y="2928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74" name="Group 255">
            <a:extLst>
              <a:ext uri="{FF2B5EF4-FFF2-40B4-BE49-F238E27FC236}">
                <a16:creationId xmlns:a16="http://schemas.microsoft.com/office/drawing/2014/main" id="{9E98E500-AB27-A036-5BBC-57515F49E5DA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4525963"/>
            <a:ext cx="1143000" cy="914400"/>
            <a:chOff x="4560" y="2851"/>
            <a:chExt cx="720" cy="576"/>
          </a:xfrm>
        </p:grpSpPr>
        <p:grpSp>
          <p:nvGrpSpPr>
            <p:cNvPr id="75" name="Group 254">
              <a:extLst>
                <a:ext uri="{FF2B5EF4-FFF2-40B4-BE49-F238E27FC236}">
                  <a16:creationId xmlns:a16="http://schemas.microsoft.com/office/drawing/2014/main" id="{995E40B5-0F56-D347-14E0-621EB2350E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2851"/>
              <a:ext cx="384" cy="460"/>
              <a:chOff x="4560" y="2851"/>
              <a:chExt cx="384" cy="460"/>
            </a:xfrm>
          </p:grpSpPr>
          <p:sp>
            <p:nvSpPr>
              <p:cNvPr id="80" name="Text Box 230">
                <a:extLst>
                  <a:ext uri="{FF2B5EF4-FFF2-40B4-BE49-F238E27FC236}">
                    <a16:creationId xmlns:a16="http://schemas.microsoft.com/office/drawing/2014/main" id="{E68200FC-464E-8D40-BA84-AD4701B106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851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32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81" name="Arc 231">
                <a:extLst>
                  <a:ext uri="{FF2B5EF4-FFF2-40B4-BE49-F238E27FC236}">
                    <a16:creationId xmlns:a16="http://schemas.microsoft.com/office/drawing/2014/main" id="{CED38D15-0330-DB8D-9E9E-E8FBB5733913}"/>
                  </a:ext>
                </a:extLst>
              </p:cNvPr>
              <p:cNvSpPr>
                <a:spLocks/>
              </p:cNvSpPr>
              <p:nvPr/>
            </p:nvSpPr>
            <p:spPr bwMode="auto">
              <a:xfrm rot="-3067019">
                <a:off x="4675" y="3187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  <p:grpSp>
          <p:nvGrpSpPr>
            <p:cNvPr id="76" name="Group 253">
              <a:extLst>
                <a:ext uri="{FF2B5EF4-FFF2-40B4-BE49-F238E27FC236}">
                  <a16:creationId xmlns:a16="http://schemas.microsoft.com/office/drawing/2014/main" id="{D85CC84E-5AC6-9898-1BAF-CA7A3841B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2899"/>
              <a:ext cx="672" cy="528"/>
              <a:chOff x="4608" y="2899"/>
              <a:chExt cx="672" cy="528"/>
            </a:xfrm>
          </p:grpSpPr>
          <p:sp>
            <p:nvSpPr>
              <p:cNvPr id="77" name="Line 233">
                <a:extLst>
                  <a:ext uri="{FF2B5EF4-FFF2-40B4-BE49-F238E27FC236}">
                    <a16:creationId xmlns:a16="http://schemas.microsoft.com/office/drawing/2014/main" id="{CD92B0AC-3443-DC65-5854-B8BB2633C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2899"/>
                <a:ext cx="672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Rectangle 234">
                <a:extLst>
                  <a:ext uri="{FF2B5EF4-FFF2-40B4-BE49-F238E27FC236}">
                    <a16:creationId xmlns:a16="http://schemas.microsoft.com/office/drawing/2014/main" id="{44D64BD5-577F-294E-1E30-CE9666CE57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12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anose="05050102010706020507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anose="05050102010706020507" pitchFamily="18" charset="2"/>
                </a:endParaRPr>
              </a:p>
            </p:txBody>
          </p:sp>
          <p:sp>
            <p:nvSpPr>
              <p:cNvPr id="79" name="Rectangle 235">
                <a:extLst>
                  <a:ext uri="{FF2B5EF4-FFF2-40B4-BE49-F238E27FC236}">
                    <a16:creationId xmlns:a16="http://schemas.microsoft.com/office/drawing/2014/main" id="{3569AA52-30DD-6969-2215-5E3337C22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9" y="2976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anose="05050102010706020507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anose="05050102010706020507" pitchFamily="18" charset="2"/>
                </a:endParaRPr>
              </a:p>
            </p:txBody>
          </p:sp>
        </p:grpSp>
      </p:grpSp>
      <p:grpSp>
        <p:nvGrpSpPr>
          <p:cNvPr id="82" name="Group 237">
            <a:extLst>
              <a:ext uri="{FF2B5EF4-FFF2-40B4-BE49-F238E27FC236}">
                <a16:creationId xmlns:a16="http://schemas.microsoft.com/office/drawing/2014/main" id="{6AD18AA7-0AB7-99AB-4663-CF7D5B2E24E3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5440363"/>
            <a:ext cx="609600" cy="1036637"/>
            <a:chOff x="2928" y="3552"/>
            <a:chExt cx="384" cy="653"/>
          </a:xfrm>
        </p:grpSpPr>
        <p:grpSp>
          <p:nvGrpSpPr>
            <p:cNvPr id="83" name="Group 238">
              <a:extLst>
                <a:ext uri="{FF2B5EF4-FFF2-40B4-BE49-F238E27FC236}">
                  <a16:creationId xmlns:a16="http://schemas.microsoft.com/office/drawing/2014/main" id="{FEDEF63A-26B0-D062-AC54-A9F8244235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3552"/>
              <a:ext cx="384" cy="576"/>
              <a:chOff x="3168" y="3600"/>
              <a:chExt cx="384" cy="576"/>
            </a:xfrm>
          </p:grpSpPr>
          <p:sp>
            <p:nvSpPr>
              <p:cNvPr id="87" name="Line 239">
                <a:extLst>
                  <a:ext uri="{FF2B5EF4-FFF2-40B4-BE49-F238E27FC236}">
                    <a16:creationId xmlns:a16="http://schemas.microsoft.com/office/drawing/2014/main" id="{350CC797-B397-5BC1-201A-3C3B74939D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6" y="3792"/>
                <a:ext cx="192" cy="144"/>
              </a:xfrm>
              <a:prstGeom prst="line">
                <a:avLst/>
              </a:prstGeom>
              <a:noFill/>
              <a:ln w="38100">
                <a:solidFill>
                  <a:srgbClr val="33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240">
                <a:extLst>
                  <a:ext uri="{FF2B5EF4-FFF2-40B4-BE49-F238E27FC236}">
                    <a16:creationId xmlns:a16="http://schemas.microsoft.com/office/drawing/2014/main" id="{A8F7429A-4E28-AD25-E4C7-86DE3C905D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600"/>
                <a:ext cx="384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241">
                <a:extLst>
                  <a:ext uri="{FF2B5EF4-FFF2-40B4-BE49-F238E27FC236}">
                    <a16:creationId xmlns:a16="http://schemas.microsoft.com/office/drawing/2014/main" id="{31AC8D62-FACB-40F1-5F27-FCE8E6FEB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8" y="3648"/>
                <a:ext cx="192" cy="144"/>
              </a:xfrm>
              <a:prstGeom prst="line">
                <a:avLst/>
              </a:prstGeom>
              <a:noFill/>
              <a:ln w="38100">
                <a:solidFill>
                  <a:srgbClr val="33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Rectangle 242">
                <a:extLst>
                  <a:ext uri="{FF2B5EF4-FFF2-40B4-BE49-F238E27FC236}">
                    <a16:creationId xmlns:a16="http://schemas.microsoft.com/office/drawing/2014/main" id="{24EB40A9-E8B1-BFBC-5B1C-49CBE7D77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384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anose="05050102010706020507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84" name="Group 243">
              <a:extLst>
                <a:ext uri="{FF2B5EF4-FFF2-40B4-BE49-F238E27FC236}">
                  <a16:creationId xmlns:a16="http://schemas.microsoft.com/office/drawing/2014/main" id="{9E0FE37B-EB15-6305-2C6E-6E48B6A488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3744"/>
              <a:ext cx="336" cy="461"/>
              <a:chOff x="4704" y="2323"/>
              <a:chExt cx="336" cy="461"/>
            </a:xfrm>
          </p:grpSpPr>
          <p:sp>
            <p:nvSpPr>
              <p:cNvPr id="85" name="Text Box 244">
                <a:extLst>
                  <a:ext uri="{FF2B5EF4-FFF2-40B4-BE49-F238E27FC236}">
                    <a16:creationId xmlns:a16="http://schemas.microsoft.com/office/drawing/2014/main" id="{3DE91F0E-92F1-24C8-9226-2A9A42DB14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2419"/>
                <a:ext cx="33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86" name="Arc 245">
                <a:extLst>
                  <a:ext uri="{FF2B5EF4-FFF2-40B4-BE49-F238E27FC236}">
                    <a16:creationId xmlns:a16="http://schemas.microsoft.com/office/drawing/2014/main" id="{2987FA03-3D00-8D3E-93A1-F583808D2635}"/>
                  </a:ext>
                </a:extLst>
              </p:cNvPr>
              <p:cNvSpPr>
                <a:spLocks/>
              </p:cNvSpPr>
              <p:nvPr/>
            </p:nvSpPr>
            <p:spPr bwMode="auto">
              <a:xfrm rot="-14366567">
                <a:off x="4723" y="2304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10800000"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</p:grpSp>
      <p:grpSp>
        <p:nvGrpSpPr>
          <p:cNvPr id="91" name="Group 249">
            <a:extLst>
              <a:ext uri="{FF2B5EF4-FFF2-40B4-BE49-F238E27FC236}">
                <a16:creationId xmlns:a16="http://schemas.microsoft.com/office/drawing/2014/main" id="{C1DDF024-D2AA-C943-8C4E-A4445D8AAD1F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5287963"/>
            <a:ext cx="228600" cy="381000"/>
            <a:chOff x="1248" y="3360"/>
            <a:chExt cx="144" cy="240"/>
          </a:xfrm>
        </p:grpSpPr>
        <p:sp>
          <p:nvSpPr>
            <p:cNvPr id="92" name="Line 250">
              <a:extLst>
                <a:ext uri="{FF2B5EF4-FFF2-40B4-BE49-F238E27FC236}">
                  <a16:creationId xmlns:a16="http://schemas.microsoft.com/office/drawing/2014/main" id="{B95E6069-3D7C-D32D-F050-311EAB2F6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360"/>
              <a:ext cx="96" cy="144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251">
              <a:extLst>
                <a:ext uri="{FF2B5EF4-FFF2-40B4-BE49-F238E27FC236}">
                  <a16:creationId xmlns:a16="http://schemas.microsoft.com/office/drawing/2014/main" id="{CA1B994B-09DD-78F1-27F0-5FD45F690B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3504"/>
              <a:ext cx="144" cy="96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431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F9828-45F7-4CA5-236C-393634FFE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04BDA43-DEF3-B005-FC55-B2242DE5F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47775"/>
            <a:ext cx="7658100" cy="4362450"/>
          </a:xfrm>
          <a:prstGeom prst="rect">
            <a:avLst/>
          </a:prstGeom>
        </p:spPr>
      </p:pic>
      <p:grpSp>
        <p:nvGrpSpPr>
          <p:cNvPr id="2" name="Group 158">
            <a:extLst>
              <a:ext uri="{FF2B5EF4-FFF2-40B4-BE49-F238E27FC236}">
                <a16:creationId xmlns:a16="http://schemas.microsoft.com/office/drawing/2014/main" id="{B9487C18-5154-9B85-942C-74AA07200E2F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4297363"/>
            <a:ext cx="2743200" cy="2057400"/>
            <a:chOff x="2064" y="2832"/>
            <a:chExt cx="1728" cy="1296"/>
          </a:xfrm>
        </p:grpSpPr>
        <p:grpSp>
          <p:nvGrpSpPr>
            <p:cNvPr id="4" name="Group 159">
              <a:extLst>
                <a:ext uri="{FF2B5EF4-FFF2-40B4-BE49-F238E27FC236}">
                  <a16:creationId xmlns:a16="http://schemas.microsoft.com/office/drawing/2014/main" id="{D4E37DE9-F78D-18AA-B62D-8DA26B5BAF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928"/>
              <a:ext cx="384" cy="480"/>
              <a:chOff x="2688" y="2928"/>
              <a:chExt cx="384" cy="480"/>
            </a:xfrm>
          </p:grpSpPr>
          <p:sp>
            <p:nvSpPr>
              <p:cNvPr id="19" name="Text Box 160">
                <a:extLst>
                  <a:ext uri="{FF2B5EF4-FFF2-40B4-BE49-F238E27FC236}">
                    <a16:creationId xmlns:a16="http://schemas.microsoft.com/office/drawing/2014/main" id="{145C3B4C-406B-B5B3-23FF-3440DAA54F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928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0" name="Arc 161">
                <a:extLst>
                  <a:ext uri="{FF2B5EF4-FFF2-40B4-BE49-F238E27FC236}">
                    <a16:creationId xmlns:a16="http://schemas.microsoft.com/office/drawing/2014/main" id="{E59A8F90-B9AC-18B2-CEF9-678E47A7015C}"/>
                  </a:ext>
                </a:extLst>
              </p:cNvPr>
              <p:cNvSpPr>
                <a:spLocks/>
              </p:cNvSpPr>
              <p:nvPr/>
            </p:nvSpPr>
            <p:spPr bwMode="auto">
              <a:xfrm rot="-3490759">
                <a:off x="2899" y="3284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  <p:grpSp>
          <p:nvGrpSpPr>
            <p:cNvPr id="5" name="Group 162">
              <a:extLst>
                <a:ext uri="{FF2B5EF4-FFF2-40B4-BE49-F238E27FC236}">
                  <a16:creationId xmlns:a16="http://schemas.microsoft.com/office/drawing/2014/main" id="{1F5579BC-26CE-4CD7-D557-92DCDB4471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832"/>
              <a:ext cx="1728" cy="1296"/>
              <a:chOff x="2160" y="2832"/>
              <a:chExt cx="1728" cy="1296"/>
            </a:xfrm>
          </p:grpSpPr>
          <p:sp>
            <p:nvSpPr>
              <p:cNvPr id="6" name="Line 163">
                <a:extLst>
                  <a:ext uri="{FF2B5EF4-FFF2-40B4-BE49-F238E27FC236}">
                    <a16:creationId xmlns:a16="http://schemas.microsoft.com/office/drawing/2014/main" id="{9B0BE9DD-CC5A-B2F9-277F-9B8A8D637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0" y="3552"/>
                <a:ext cx="1728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Line 164">
                <a:extLst>
                  <a:ext uri="{FF2B5EF4-FFF2-40B4-BE49-F238E27FC236}">
                    <a16:creationId xmlns:a16="http://schemas.microsoft.com/office/drawing/2014/main" id="{8DC8EFC1-7A2C-52AE-3D6D-8EC20A0765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4" y="2832"/>
                <a:ext cx="0" cy="1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Rectangle 165">
                <a:extLst>
                  <a:ext uri="{FF2B5EF4-FFF2-40B4-BE49-F238E27FC236}">
                    <a16:creationId xmlns:a16="http://schemas.microsoft.com/office/drawing/2014/main" id="{DDAB16BE-DCCD-5E8D-12DF-CDBE83E45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" y="3168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rgbClr val="000000"/>
                    </a:solidFill>
                  </a:rPr>
                  <a:t>n</a:t>
                </a:r>
                <a:r>
                  <a:rPr lang="en-US" altLang="zh-CN" baseline="-25000">
                    <a:solidFill>
                      <a:srgbClr val="000000"/>
                    </a:solidFill>
                  </a:rPr>
                  <a:t>1</a:t>
                </a:r>
                <a:endParaRPr lang="zh-CN" altLang="en-US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166">
                <a:extLst>
                  <a:ext uri="{FF2B5EF4-FFF2-40B4-BE49-F238E27FC236}">
                    <a16:creationId xmlns:a16="http://schemas.microsoft.com/office/drawing/2014/main" id="{48CA679E-E402-EF76-6442-CF3637390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" y="3561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rgbClr val="000000"/>
                    </a:solidFill>
                  </a:rPr>
                  <a:t>n</a:t>
                </a:r>
                <a:r>
                  <a:rPr lang="en-US" altLang="zh-CN" baseline="-25000">
                    <a:solidFill>
                      <a:srgbClr val="000000"/>
                    </a:solidFill>
                  </a:rPr>
                  <a:t>2</a:t>
                </a:r>
                <a:endParaRPr lang="zh-CN" altLang="en-US" baseline="-250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0" name="Group 167">
                <a:extLst>
                  <a:ext uri="{FF2B5EF4-FFF2-40B4-BE49-F238E27FC236}">
                    <a16:creationId xmlns:a16="http://schemas.microsoft.com/office/drawing/2014/main" id="{B9204313-5608-85F2-3CC5-8DE31A98F2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6" y="2928"/>
                <a:ext cx="768" cy="624"/>
                <a:chOff x="2256" y="2928"/>
                <a:chExt cx="768" cy="624"/>
              </a:xfrm>
            </p:grpSpPr>
            <p:grpSp>
              <p:nvGrpSpPr>
                <p:cNvPr id="11" name="Group 168">
                  <a:extLst>
                    <a:ext uri="{FF2B5EF4-FFF2-40B4-BE49-F238E27FC236}">
                      <a16:creationId xmlns:a16="http://schemas.microsoft.com/office/drawing/2014/main" id="{909A4876-AF03-D697-6F31-7DB46EB871C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56" y="2928"/>
                  <a:ext cx="768" cy="624"/>
                  <a:chOff x="2256" y="2928"/>
                  <a:chExt cx="768" cy="624"/>
                </a:xfrm>
              </p:grpSpPr>
              <p:sp>
                <p:nvSpPr>
                  <p:cNvPr id="15" name="Line 169">
                    <a:extLst>
                      <a:ext uri="{FF2B5EF4-FFF2-40B4-BE49-F238E27FC236}">
                        <a16:creationId xmlns:a16="http://schemas.microsoft.com/office/drawing/2014/main" id="{6210ADEE-F67F-A7DF-2590-56A74C7AD3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256" y="2928"/>
                    <a:ext cx="768" cy="623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" name="Rectangle 170">
                    <a:extLst>
                      <a:ext uri="{FF2B5EF4-FFF2-40B4-BE49-F238E27FC236}">
                        <a16:creationId xmlns:a16="http://schemas.microsoft.com/office/drawing/2014/main" id="{6C00368F-0A31-2485-D754-1F5AF6E26A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00" y="2976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anose="05050102010706020507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  <p:sp>
                <p:nvSpPr>
                  <p:cNvPr id="17" name="Rectangle 171">
                    <a:extLst>
                      <a:ext uri="{FF2B5EF4-FFF2-40B4-BE49-F238E27FC236}">
                        <a16:creationId xmlns:a16="http://schemas.microsoft.com/office/drawing/2014/main" id="{9FC32F8D-7C3B-D849-221F-52A731F77A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44" y="3120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anose="05050102010706020507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  <p:sp>
                <p:nvSpPr>
                  <p:cNvPr id="18" name="Rectangle 172">
                    <a:extLst>
                      <a:ext uri="{FF2B5EF4-FFF2-40B4-BE49-F238E27FC236}">
                        <a16:creationId xmlns:a16="http://schemas.microsoft.com/office/drawing/2014/main" id="{2D177677-0730-1CD0-2FA9-B56013CD76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736" y="3264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anose="05050102010706020507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</p:grpSp>
            <p:sp>
              <p:nvSpPr>
                <p:cNvPr id="12" name="Line 173">
                  <a:extLst>
                    <a:ext uri="{FF2B5EF4-FFF2-40B4-BE49-F238E27FC236}">
                      <a16:creationId xmlns:a16="http://schemas.microsoft.com/office/drawing/2014/main" id="{E1E0955A-6AF5-117A-1045-3A7F9260C7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496" y="3072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174">
                  <a:extLst>
                    <a:ext uri="{FF2B5EF4-FFF2-40B4-BE49-F238E27FC236}">
                      <a16:creationId xmlns:a16="http://schemas.microsoft.com/office/drawing/2014/main" id="{FD126A17-A543-216F-5C5B-91F63104A8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688" y="3216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Line 175">
                  <a:extLst>
                    <a:ext uri="{FF2B5EF4-FFF2-40B4-BE49-F238E27FC236}">
                      <a16:creationId xmlns:a16="http://schemas.microsoft.com/office/drawing/2014/main" id="{58607AFB-0F9C-C9E1-C135-51333DD87C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04" y="2928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1" name="Group 255">
            <a:extLst>
              <a:ext uri="{FF2B5EF4-FFF2-40B4-BE49-F238E27FC236}">
                <a16:creationId xmlns:a16="http://schemas.microsoft.com/office/drawing/2014/main" id="{9C7EE928-4AE6-10A9-E03F-7936FB62C635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4525963"/>
            <a:ext cx="1143000" cy="914400"/>
            <a:chOff x="4560" y="2851"/>
            <a:chExt cx="720" cy="576"/>
          </a:xfrm>
        </p:grpSpPr>
        <p:grpSp>
          <p:nvGrpSpPr>
            <p:cNvPr id="22" name="Group 254">
              <a:extLst>
                <a:ext uri="{FF2B5EF4-FFF2-40B4-BE49-F238E27FC236}">
                  <a16:creationId xmlns:a16="http://schemas.microsoft.com/office/drawing/2014/main" id="{DBEF75CD-F8BC-774F-E98E-E5D3099E79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2851"/>
              <a:ext cx="384" cy="460"/>
              <a:chOff x="4560" y="2851"/>
              <a:chExt cx="384" cy="460"/>
            </a:xfrm>
          </p:grpSpPr>
          <p:sp>
            <p:nvSpPr>
              <p:cNvPr id="27" name="Text Box 230">
                <a:extLst>
                  <a:ext uri="{FF2B5EF4-FFF2-40B4-BE49-F238E27FC236}">
                    <a16:creationId xmlns:a16="http://schemas.microsoft.com/office/drawing/2014/main" id="{62D41415-8B26-D175-E9F5-EED208C4E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2851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i</a:t>
                </a:r>
                <a:r>
                  <a:rPr lang="en-US" altLang="zh-CN" sz="3200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28" name="Arc 231">
                <a:extLst>
                  <a:ext uri="{FF2B5EF4-FFF2-40B4-BE49-F238E27FC236}">
                    <a16:creationId xmlns:a16="http://schemas.microsoft.com/office/drawing/2014/main" id="{2BA92798-ACD3-8A33-64D3-33F5F7EB491C}"/>
                  </a:ext>
                </a:extLst>
              </p:cNvPr>
              <p:cNvSpPr>
                <a:spLocks/>
              </p:cNvSpPr>
              <p:nvPr/>
            </p:nvSpPr>
            <p:spPr bwMode="auto">
              <a:xfrm rot="-3067019">
                <a:off x="4675" y="3187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  <p:grpSp>
          <p:nvGrpSpPr>
            <p:cNvPr id="23" name="Group 253">
              <a:extLst>
                <a:ext uri="{FF2B5EF4-FFF2-40B4-BE49-F238E27FC236}">
                  <a16:creationId xmlns:a16="http://schemas.microsoft.com/office/drawing/2014/main" id="{6A9F58EF-6A1E-AED7-4104-71B4CDC473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2899"/>
              <a:ext cx="672" cy="528"/>
              <a:chOff x="4608" y="2899"/>
              <a:chExt cx="672" cy="528"/>
            </a:xfrm>
          </p:grpSpPr>
          <p:sp>
            <p:nvSpPr>
              <p:cNvPr id="24" name="Line 233">
                <a:extLst>
                  <a:ext uri="{FF2B5EF4-FFF2-40B4-BE49-F238E27FC236}">
                    <a16:creationId xmlns:a16="http://schemas.microsoft.com/office/drawing/2014/main" id="{8A745183-81A4-DBD4-C1EC-41AA2E51DC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2899"/>
                <a:ext cx="672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Rectangle 234">
                <a:extLst>
                  <a:ext uri="{FF2B5EF4-FFF2-40B4-BE49-F238E27FC236}">
                    <a16:creationId xmlns:a16="http://schemas.microsoft.com/office/drawing/2014/main" id="{1FC52B84-BF58-FC3C-5F02-45739B17F3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312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anose="05050102010706020507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anose="05050102010706020507" pitchFamily="18" charset="2"/>
                </a:endParaRPr>
              </a:p>
            </p:txBody>
          </p:sp>
          <p:sp>
            <p:nvSpPr>
              <p:cNvPr id="26" name="Rectangle 235">
                <a:extLst>
                  <a:ext uri="{FF2B5EF4-FFF2-40B4-BE49-F238E27FC236}">
                    <a16:creationId xmlns:a16="http://schemas.microsoft.com/office/drawing/2014/main" id="{B2914913-C23C-F730-4574-1E67FD736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9" y="2976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anose="05050102010706020507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anose="05050102010706020507" pitchFamily="18" charset="2"/>
                </a:endParaRPr>
              </a:p>
            </p:txBody>
          </p:sp>
        </p:grpSp>
      </p:grpSp>
      <p:grpSp>
        <p:nvGrpSpPr>
          <p:cNvPr id="29" name="Group 237">
            <a:extLst>
              <a:ext uri="{FF2B5EF4-FFF2-40B4-BE49-F238E27FC236}">
                <a16:creationId xmlns:a16="http://schemas.microsoft.com/office/drawing/2014/main" id="{DD9B11B4-F001-1E94-D800-3733BA6E18DB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5440363"/>
            <a:ext cx="609600" cy="1036637"/>
            <a:chOff x="2928" y="3552"/>
            <a:chExt cx="384" cy="653"/>
          </a:xfrm>
        </p:grpSpPr>
        <p:grpSp>
          <p:nvGrpSpPr>
            <p:cNvPr id="30" name="Group 238">
              <a:extLst>
                <a:ext uri="{FF2B5EF4-FFF2-40B4-BE49-F238E27FC236}">
                  <a16:creationId xmlns:a16="http://schemas.microsoft.com/office/drawing/2014/main" id="{FB9CB822-A122-5CE5-04E7-293C708FAD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3552"/>
              <a:ext cx="384" cy="576"/>
              <a:chOff x="3168" y="3600"/>
              <a:chExt cx="384" cy="576"/>
            </a:xfrm>
          </p:grpSpPr>
          <p:sp>
            <p:nvSpPr>
              <p:cNvPr id="34" name="Line 239">
                <a:extLst>
                  <a:ext uri="{FF2B5EF4-FFF2-40B4-BE49-F238E27FC236}">
                    <a16:creationId xmlns:a16="http://schemas.microsoft.com/office/drawing/2014/main" id="{FDDAA3B1-D8E0-85F1-39E8-2709E2C13B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6" y="3792"/>
                <a:ext cx="192" cy="144"/>
              </a:xfrm>
              <a:prstGeom prst="line">
                <a:avLst/>
              </a:prstGeom>
              <a:noFill/>
              <a:ln w="38100">
                <a:solidFill>
                  <a:srgbClr val="33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240">
                <a:extLst>
                  <a:ext uri="{FF2B5EF4-FFF2-40B4-BE49-F238E27FC236}">
                    <a16:creationId xmlns:a16="http://schemas.microsoft.com/office/drawing/2014/main" id="{95C6014A-17D9-67D4-B89F-85E55DBA3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3600"/>
                <a:ext cx="384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241">
                <a:extLst>
                  <a:ext uri="{FF2B5EF4-FFF2-40B4-BE49-F238E27FC236}">
                    <a16:creationId xmlns:a16="http://schemas.microsoft.com/office/drawing/2014/main" id="{CDF7E273-06D0-C80B-9991-6687F3498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8" y="3648"/>
                <a:ext cx="192" cy="144"/>
              </a:xfrm>
              <a:prstGeom prst="line">
                <a:avLst/>
              </a:prstGeom>
              <a:noFill/>
              <a:ln w="38100">
                <a:solidFill>
                  <a:srgbClr val="33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Rectangle 242">
                <a:extLst>
                  <a:ext uri="{FF2B5EF4-FFF2-40B4-BE49-F238E27FC236}">
                    <a16:creationId xmlns:a16="http://schemas.microsoft.com/office/drawing/2014/main" id="{931AE4CE-DDE9-935A-0886-5BF51CA710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384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anose="05050102010706020507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31" name="Group 243">
              <a:extLst>
                <a:ext uri="{FF2B5EF4-FFF2-40B4-BE49-F238E27FC236}">
                  <a16:creationId xmlns:a16="http://schemas.microsoft.com/office/drawing/2014/main" id="{97198E28-F63A-6E1D-C8F6-F1F70572C8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3744"/>
              <a:ext cx="336" cy="461"/>
              <a:chOff x="4704" y="2323"/>
              <a:chExt cx="336" cy="461"/>
            </a:xfrm>
          </p:grpSpPr>
          <p:sp>
            <p:nvSpPr>
              <p:cNvPr id="32" name="Text Box 244">
                <a:extLst>
                  <a:ext uri="{FF2B5EF4-FFF2-40B4-BE49-F238E27FC236}">
                    <a16:creationId xmlns:a16="http://schemas.microsoft.com/office/drawing/2014/main" id="{203D0E05-A82E-CDDD-E6AE-23603466F2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2419"/>
                <a:ext cx="33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rnd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baseline="-25000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3" name="Arc 245">
                <a:extLst>
                  <a:ext uri="{FF2B5EF4-FFF2-40B4-BE49-F238E27FC236}">
                    <a16:creationId xmlns:a16="http://schemas.microsoft.com/office/drawing/2014/main" id="{64A179FD-7E47-1A38-3294-ABC27EB1990F}"/>
                  </a:ext>
                </a:extLst>
              </p:cNvPr>
              <p:cNvSpPr>
                <a:spLocks/>
              </p:cNvSpPr>
              <p:nvPr/>
            </p:nvSpPr>
            <p:spPr bwMode="auto">
              <a:xfrm rot="-14366567">
                <a:off x="4723" y="2304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10800000"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</p:grpSp>
      <p:grpSp>
        <p:nvGrpSpPr>
          <p:cNvPr id="38" name="Group 249">
            <a:extLst>
              <a:ext uri="{FF2B5EF4-FFF2-40B4-BE49-F238E27FC236}">
                <a16:creationId xmlns:a16="http://schemas.microsoft.com/office/drawing/2014/main" id="{DA88B7C8-5423-E61B-F4A8-52CB542B28DA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5287963"/>
            <a:ext cx="228600" cy="381000"/>
            <a:chOff x="1248" y="3360"/>
            <a:chExt cx="144" cy="240"/>
          </a:xfrm>
        </p:grpSpPr>
        <p:sp>
          <p:nvSpPr>
            <p:cNvPr id="39" name="Line 250">
              <a:extLst>
                <a:ext uri="{FF2B5EF4-FFF2-40B4-BE49-F238E27FC236}">
                  <a16:creationId xmlns:a16="http://schemas.microsoft.com/office/drawing/2014/main" id="{F4CF94A4-9CEC-9F7D-AC4B-61072C27A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3360"/>
              <a:ext cx="96" cy="144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251">
              <a:extLst>
                <a:ext uri="{FF2B5EF4-FFF2-40B4-BE49-F238E27FC236}">
                  <a16:creationId xmlns:a16="http://schemas.microsoft.com/office/drawing/2014/main" id="{1282967C-D0AA-8494-A29D-D4897EB878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3504"/>
              <a:ext cx="144" cy="96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6030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1F0E9-4162-8093-30AC-066D94D2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71D3068-9A83-BB92-4FFD-A1BB020C2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96" y="951066"/>
            <a:ext cx="6448425" cy="381952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02F81DF-D911-6EBD-5B69-6E57EF198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292" y="2089627"/>
            <a:ext cx="54483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263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90212-0283-2CBD-F399-6225B6416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BC4987-16D7-E3B8-A71C-7589256C5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68" y="636371"/>
            <a:ext cx="7667625" cy="498157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9299350-1F1E-B32D-8339-CC5321BEB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594" y="2392532"/>
            <a:ext cx="2133600" cy="41148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942C769-A755-EAA4-41F8-006584948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793" y="2269354"/>
            <a:ext cx="19716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13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B0CAB-3E0F-06EB-B573-F639FC7CB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E4D8B40-F6DF-42D3-659F-5DA57BE48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609600"/>
            <a:ext cx="7905750" cy="5638800"/>
          </a:xfrm>
          <a:prstGeom prst="rect">
            <a:avLst/>
          </a:prstGeom>
        </p:spPr>
      </p:pic>
      <p:graphicFrame>
        <p:nvGraphicFramePr>
          <p:cNvPr id="2" name="Object 96">
            <a:extLst>
              <a:ext uri="{FF2B5EF4-FFF2-40B4-BE49-F238E27FC236}">
                <a16:creationId xmlns:a16="http://schemas.microsoft.com/office/drawing/2014/main" id="{1B7373BB-31FF-B263-CBF7-630523B971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8975" y="1960563"/>
          <a:ext cx="2001838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241200" progId="Equation.DSMT4">
                  <p:embed/>
                </p:oleObj>
              </mc:Choice>
              <mc:Fallback>
                <p:oleObj name="Equation" r:id="rId3" imgW="1130040" imgH="241200" progId="Equation.DSMT4">
                  <p:embed/>
                  <p:pic>
                    <p:nvPicPr>
                      <p:cNvPr id="2" name="Object 96">
                        <a:extLst>
                          <a:ext uri="{FF2B5EF4-FFF2-40B4-BE49-F238E27FC236}">
                            <a16:creationId xmlns:a16="http://schemas.microsoft.com/office/drawing/2014/main" id="{1B7373BB-31FF-B263-CBF7-630523B97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1960563"/>
                        <a:ext cx="2001838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7">
            <a:extLst>
              <a:ext uri="{FF2B5EF4-FFF2-40B4-BE49-F238E27FC236}">
                <a16:creationId xmlns:a16="http://schemas.microsoft.com/office/drawing/2014/main" id="{2A8F25AC-32BD-7039-68C9-A06618110B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1362" y="2424826"/>
          <a:ext cx="2250977" cy="472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880" imgH="228600" progId="Equation.DSMT4">
                  <p:embed/>
                </p:oleObj>
              </mc:Choice>
              <mc:Fallback>
                <p:oleObj name="Equation" r:id="rId5" imgW="1091880" imgH="228600" progId="Equation.DSMT4">
                  <p:embed/>
                  <p:pic>
                    <p:nvPicPr>
                      <p:cNvPr id="4" name="Object 97">
                        <a:extLst>
                          <a:ext uri="{FF2B5EF4-FFF2-40B4-BE49-F238E27FC236}">
                            <a16:creationId xmlns:a16="http://schemas.microsoft.com/office/drawing/2014/main" id="{2A8F25AC-32BD-7039-68C9-A06618110B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362" y="2424826"/>
                        <a:ext cx="2250977" cy="472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D2E70A1-0ED5-85E5-D227-B187198A92D7}"/>
                  </a:ext>
                </a:extLst>
              </p:cNvPr>
              <p:cNvSpPr txBox="1"/>
              <p:nvPr/>
            </p:nvSpPr>
            <p:spPr>
              <a:xfrm>
                <a:off x="3480850" y="4712880"/>
                <a:ext cx="4572000" cy="673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altLang="en-US" i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𝑘𝑧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d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altLang="en-US" i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𝑘𝑧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D2E70A1-0ED5-85E5-D227-B187198A9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850" y="4712880"/>
                <a:ext cx="4572000" cy="6735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Object 96">
            <a:extLst>
              <a:ext uri="{FF2B5EF4-FFF2-40B4-BE49-F238E27FC236}">
                <a16:creationId xmlns:a16="http://schemas.microsoft.com/office/drawing/2014/main" id="{30A3B4B1-A6FD-DBE4-402F-6AC3BB3D24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60875" y="3027363"/>
          <a:ext cx="22256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120" imgH="253800" progId="Equation.DSMT4">
                  <p:embed/>
                </p:oleObj>
              </mc:Choice>
              <mc:Fallback>
                <p:oleObj name="Equation" r:id="rId8" imgW="1257120" imgH="253800" progId="Equation.DSMT4">
                  <p:embed/>
                  <p:pic>
                    <p:nvPicPr>
                      <p:cNvPr id="19" name="Object 96">
                        <a:extLst>
                          <a:ext uri="{FF2B5EF4-FFF2-40B4-BE49-F238E27FC236}">
                            <a16:creationId xmlns:a16="http://schemas.microsoft.com/office/drawing/2014/main" id="{30A3B4B1-A6FD-DBE4-402F-6AC3BB3D24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3027363"/>
                        <a:ext cx="222567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8E76D7D2-ED9B-A6B1-A762-24E9B64BD6FC}"/>
              </a:ext>
            </a:extLst>
          </p:cNvPr>
          <p:cNvSpPr txBox="1"/>
          <p:nvPr/>
        </p:nvSpPr>
        <p:spPr>
          <a:xfrm>
            <a:off x="4641362" y="4116388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负晶体，</a:t>
            </a:r>
            <a:r>
              <a:rPr lang="en-US" altLang="zh-CN" dirty="0"/>
              <a:t>x</a:t>
            </a:r>
            <a:r>
              <a:rPr lang="zh-CN" altLang="en-US" dirty="0"/>
              <a:t>轴位快轴</a:t>
            </a:r>
          </a:p>
        </p:txBody>
      </p:sp>
    </p:spTree>
    <p:extLst>
      <p:ext uri="{BB962C8B-B14F-4D97-AF65-F5344CB8AC3E}">
        <p14:creationId xmlns:p14="http://schemas.microsoft.com/office/powerpoint/2010/main" val="8596745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233F-5BAF-72DA-4A04-8971F710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13ECDE2-0E58-4DC8-E2E9-A31A03F44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687780"/>
            <a:ext cx="7505700" cy="5772150"/>
          </a:xfrm>
          <a:prstGeom prst="rect">
            <a:avLst/>
          </a:prstGeom>
        </p:spPr>
      </p:pic>
      <p:graphicFrame>
        <p:nvGraphicFramePr>
          <p:cNvPr id="2" name="Object 96">
            <a:extLst>
              <a:ext uri="{FF2B5EF4-FFF2-40B4-BE49-F238E27FC236}">
                <a16:creationId xmlns:a16="http://schemas.microsoft.com/office/drawing/2014/main" id="{0BAA439A-8938-DECF-B480-975117C8C5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6263" y="1949450"/>
          <a:ext cx="222726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120" imgH="253800" progId="Equation.DSMT4">
                  <p:embed/>
                </p:oleObj>
              </mc:Choice>
              <mc:Fallback>
                <p:oleObj name="Equation" r:id="rId3" imgW="1257120" imgH="253800" progId="Equation.DSMT4">
                  <p:embed/>
                  <p:pic>
                    <p:nvPicPr>
                      <p:cNvPr id="2" name="Object 96">
                        <a:extLst>
                          <a:ext uri="{FF2B5EF4-FFF2-40B4-BE49-F238E27FC236}">
                            <a16:creationId xmlns:a16="http://schemas.microsoft.com/office/drawing/2014/main" id="{0BAA439A-8938-DECF-B480-975117C8C5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6263" y="1949450"/>
                        <a:ext cx="222726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7">
            <a:extLst>
              <a:ext uri="{FF2B5EF4-FFF2-40B4-BE49-F238E27FC236}">
                <a16:creationId xmlns:a16="http://schemas.microsoft.com/office/drawing/2014/main" id="{F76E87E8-2E7E-5947-6253-E53D807518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8800" y="2492375"/>
          <a:ext cx="24606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93760" imgH="241200" progId="Equation.DSMT4">
                  <p:embed/>
                </p:oleObj>
              </mc:Choice>
              <mc:Fallback>
                <p:oleObj name="Equation" r:id="rId5" imgW="1193760" imgH="241200" progId="Equation.DSMT4">
                  <p:embed/>
                  <p:pic>
                    <p:nvPicPr>
                      <p:cNvPr id="4" name="Object 97">
                        <a:extLst>
                          <a:ext uri="{FF2B5EF4-FFF2-40B4-BE49-F238E27FC236}">
                            <a16:creationId xmlns:a16="http://schemas.microsoft.com/office/drawing/2014/main" id="{F76E87E8-2E7E-5947-6253-E53D807518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2492375"/>
                        <a:ext cx="24606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0BCB2F1-02BD-EC96-D183-D75A05635C65}"/>
                  </a:ext>
                </a:extLst>
              </p:cNvPr>
              <p:cNvSpPr txBox="1"/>
              <p:nvPr/>
            </p:nvSpPr>
            <p:spPr>
              <a:xfrm>
                <a:off x="3582139" y="4183520"/>
                <a:ext cx="4572000" cy="673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altLang="en-US" i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𝑘𝑧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d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altLang="en-US" i="0"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𝑘𝑧</m:t>
                                </m:r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0BCB2F1-02BD-EC96-D183-D75A05635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139" y="4183520"/>
                <a:ext cx="4572000" cy="67351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96">
            <a:extLst>
              <a:ext uri="{FF2B5EF4-FFF2-40B4-BE49-F238E27FC236}">
                <a16:creationId xmlns:a16="http://schemas.microsoft.com/office/drawing/2014/main" id="{E6B3EEBF-F4BA-E825-C3C4-B30B8E7370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2863" y="3038475"/>
          <a:ext cx="90011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241200" progId="Equation.DSMT4">
                  <p:embed/>
                </p:oleObj>
              </mc:Choice>
              <mc:Fallback>
                <p:oleObj name="Equation" r:id="rId8" imgW="507960" imgH="241200" progId="Equation.DSMT4">
                  <p:embed/>
                  <p:pic>
                    <p:nvPicPr>
                      <p:cNvPr id="6" name="Object 96">
                        <a:extLst>
                          <a:ext uri="{FF2B5EF4-FFF2-40B4-BE49-F238E27FC236}">
                            <a16:creationId xmlns:a16="http://schemas.microsoft.com/office/drawing/2014/main" id="{E6B3EEBF-F4BA-E825-C3C4-B30B8E7370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863" y="3038475"/>
                        <a:ext cx="900112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DD381BA-9C42-4A32-2B87-2A732A57CB72}"/>
              </a:ext>
            </a:extLst>
          </p:cNvPr>
          <p:cNvSpPr txBox="1"/>
          <p:nvPr/>
        </p:nvSpPr>
        <p:spPr>
          <a:xfrm>
            <a:off x="4703155" y="3660383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正晶体，</a:t>
            </a:r>
            <a:r>
              <a:rPr lang="en-US" altLang="zh-CN" dirty="0"/>
              <a:t>x</a:t>
            </a:r>
            <a:r>
              <a:rPr lang="zh-CN" altLang="en-US" dirty="0"/>
              <a:t>轴位慢轴</a:t>
            </a:r>
          </a:p>
        </p:txBody>
      </p:sp>
    </p:spTree>
    <p:extLst>
      <p:ext uri="{BB962C8B-B14F-4D97-AF65-F5344CB8AC3E}">
        <p14:creationId xmlns:p14="http://schemas.microsoft.com/office/powerpoint/2010/main" val="27468543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0DED-0194-DD9F-5725-DB4727D64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51A0D86-41C6-7FD1-DB8D-75B126A27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376237"/>
            <a:ext cx="7458075" cy="61055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D75DDA8-1EDA-60A1-7E3B-3BD49532DB76}"/>
              </a:ext>
            </a:extLst>
          </p:cNvPr>
          <p:cNvSpPr txBox="1"/>
          <p:nvPr/>
        </p:nvSpPr>
        <p:spPr>
          <a:xfrm>
            <a:off x="3078103" y="2565182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光不能通过检偏器，则波面应为全波片，引起的相位差</a:t>
            </a:r>
            <a:endParaRPr lang="en-US" altLang="zh-CN" dirty="0"/>
          </a:p>
          <a:p>
            <a:r>
              <a:rPr lang="zh-CN" altLang="en-US" dirty="0"/>
              <a:t>是</a:t>
            </a:r>
            <a:r>
              <a:rPr lang="en-US" altLang="zh-CN" dirty="0"/>
              <a:t>2π</a:t>
            </a:r>
            <a:r>
              <a:rPr lang="zh-CN" altLang="en-US" dirty="0"/>
              <a:t>的整数倍，最小厚度满足</a:t>
            </a:r>
          </a:p>
        </p:txBody>
      </p:sp>
      <p:graphicFrame>
        <p:nvGraphicFramePr>
          <p:cNvPr id="4" name="Object 98">
            <a:extLst>
              <a:ext uri="{FF2B5EF4-FFF2-40B4-BE49-F238E27FC236}">
                <a16:creationId xmlns:a16="http://schemas.microsoft.com/office/drawing/2014/main" id="{7F5DFDC0-B03A-97C2-B55C-FD8E3DED01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2538" y="3506788"/>
          <a:ext cx="29892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25400" imgH="393480" progId="Equation.DSMT4">
                  <p:embed/>
                </p:oleObj>
              </mc:Choice>
              <mc:Fallback>
                <p:oleObj name="Equation" r:id="rId3" imgW="1625400" imgH="393480" progId="Equation.DSMT4">
                  <p:embed/>
                  <p:pic>
                    <p:nvPicPr>
                      <p:cNvPr id="4" name="Object 98">
                        <a:extLst>
                          <a:ext uri="{FF2B5EF4-FFF2-40B4-BE49-F238E27FC236}">
                            <a16:creationId xmlns:a16="http://schemas.microsoft.com/office/drawing/2014/main" id="{7F5DFDC0-B03A-97C2-B55C-FD8E3DED01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3506788"/>
                        <a:ext cx="29892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98">
            <a:extLst>
              <a:ext uri="{FF2B5EF4-FFF2-40B4-BE49-F238E27FC236}">
                <a16:creationId xmlns:a16="http://schemas.microsoft.com/office/drawing/2014/main" id="{02D36597-74AD-7EA6-9553-E1DA594CA2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2325" y="4525963"/>
          <a:ext cx="1308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11000" imgH="393480" progId="Equation.DSMT4">
                  <p:embed/>
                </p:oleObj>
              </mc:Choice>
              <mc:Fallback>
                <p:oleObj name="Equation" r:id="rId5" imgW="711000" imgH="393480" progId="Equation.DSMT4">
                  <p:embed/>
                  <p:pic>
                    <p:nvPicPr>
                      <p:cNvPr id="5" name="Object 98">
                        <a:extLst>
                          <a:ext uri="{FF2B5EF4-FFF2-40B4-BE49-F238E27FC236}">
                            <a16:creationId xmlns:a16="http://schemas.microsoft.com/office/drawing/2014/main" id="{02D36597-74AD-7EA6-9553-E1DA594CA2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5" y="4525963"/>
                        <a:ext cx="1308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35720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982723C-5AAF-9CC6-039A-B64CA5606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742950"/>
            <a:ext cx="7600950" cy="53721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B8CD0E2-8023-3DFF-2610-7DAF68CFD68A}"/>
              </a:ext>
            </a:extLst>
          </p:cNvPr>
          <p:cNvSpPr txBox="1"/>
          <p:nvPr/>
        </p:nvSpPr>
        <p:spPr>
          <a:xfrm>
            <a:off x="3078103" y="2565182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光不能通过检偏器，则波面应为半波片，引起的相位差</a:t>
            </a:r>
            <a:endParaRPr lang="en-US" altLang="zh-CN" dirty="0"/>
          </a:p>
          <a:p>
            <a:r>
              <a:rPr lang="zh-CN" altLang="en-US" dirty="0"/>
              <a:t>是</a:t>
            </a:r>
            <a:r>
              <a:rPr lang="en-US" altLang="zh-CN" dirty="0"/>
              <a:t>π</a:t>
            </a:r>
            <a:r>
              <a:rPr lang="zh-CN" altLang="en-US" dirty="0"/>
              <a:t>的奇数倍，最小厚度满足</a:t>
            </a:r>
          </a:p>
        </p:txBody>
      </p:sp>
      <p:graphicFrame>
        <p:nvGraphicFramePr>
          <p:cNvPr id="3" name="Object 98">
            <a:extLst>
              <a:ext uri="{FF2B5EF4-FFF2-40B4-BE49-F238E27FC236}">
                <a16:creationId xmlns:a16="http://schemas.microsoft.com/office/drawing/2014/main" id="{AD30F6DE-18CA-ED7A-35A4-39513CF82E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2388" y="3506788"/>
          <a:ext cx="284956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9080" imgH="393480" progId="Equation.DSMT4">
                  <p:embed/>
                </p:oleObj>
              </mc:Choice>
              <mc:Fallback>
                <p:oleObj name="Equation" r:id="rId3" imgW="1549080" imgH="393480" progId="Equation.DSMT4">
                  <p:embed/>
                  <p:pic>
                    <p:nvPicPr>
                      <p:cNvPr id="3" name="Object 98">
                        <a:extLst>
                          <a:ext uri="{FF2B5EF4-FFF2-40B4-BE49-F238E27FC236}">
                            <a16:creationId xmlns:a16="http://schemas.microsoft.com/office/drawing/2014/main" id="{AD30F6DE-18CA-ED7A-35A4-39513CF82E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3506788"/>
                        <a:ext cx="284956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8">
            <a:extLst>
              <a:ext uri="{FF2B5EF4-FFF2-40B4-BE49-F238E27FC236}">
                <a16:creationId xmlns:a16="http://schemas.microsoft.com/office/drawing/2014/main" id="{7A1C7A61-579C-6B71-3322-90208AD6B3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2325" y="4525963"/>
          <a:ext cx="1308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11000" imgH="393480" progId="Equation.DSMT4">
                  <p:embed/>
                </p:oleObj>
              </mc:Choice>
              <mc:Fallback>
                <p:oleObj name="Equation" r:id="rId5" imgW="711000" imgH="393480" progId="Equation.DSMT4">
                  <p:embed/>
                  <p:pic>
                    <p:nvPicPr>
                      <p:cNvPr id="4" name="Object 98">
                        <a:extLst>
                          <a:ext uri="{FF2B5EF4-FFF2-40B4-BE49-F238E27FC236}">
                            <a16:creationId xmlns:a16="http://schemas.microsoft.com/office/drawing/2014/main" id="{7A1C7A61-579C-6B71-3322-90208AD6B3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2325" y="4525963"/>
                        <a:ext cx="1308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32775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312.5007874015746,&quot;width&quot;:4895}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893</Words>
  <Application>Microsoft Office PowerPoint</Application>
  <PresentationFormat>全屏显示(4:3)</PresentationFormat>
  <Paragraphs>273</Paragraphs>
  <Slides>61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61</vt:i4>
      </vt:variant>
    </vt:vector>
  </HeadingPairs>
  <TitlesOfParts>
    <vt:vector size="80" baseType="lpstr">
      <vt:lpstr>等线</vt:lpstr>
      <vt:lpstr>方正楷体_GB2312</vt:lpstr>
      <vt:lpstr>方正姚体</vt:lpstr>
      <vt:lpstr>楷体_GB2312</vt:lpstr>
      <vt:lpstr>宋体</vt:lpstr>
      <vt:lpstr>微软雅黑</vt:lpstr>
      <vt:lpstr>Arial</vt:lpstr>
      <vt:lpstr>Calibri</vt:lpstr>
      <vt:lpstr>Calibri Light</vt:lpstr>
      <vt:lpstr>Cambria Math</vt:lpstr>
      <vt:lpstr>Symbol</vt:lpstr>
      <vt:lpstr>Times New Roman</vt:lpstr>
      <vt:lpstr>Office 主题</vt:lpstr>
      <vt:lpstr>Equation</vt:lpstr>
      <vt:lpstr>公式</vt:lpstr>
      <vt:lpstr>Microsoft Equation 3.0</vt:lpstr>
      <vt:lpstr>MathType 6.0 Equation</vt:lpstr>
      <vt:lpstr>Bitmap Image</vt:lpstr>
      <vt:lpstr>MathType 5.0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luck0256</dc:creator>
  <cp:lastModifiedBy>Shan Zhang</cp:lastModifiedBy>
  <cp:revision>17</cp:revision>
  <dcterms:created xsi:type="dcterms:W3CDTF">2016-06-13T12:48:13Z</dcterms:created>
  <dcterms:modified xsi:type="dcterms:W3CDTF">2024-12-25T07:13:10Z</dcterms:modified>
</cp:coreProperties>
</file>